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61" r:id="rId5"/>
    <p:sldId id="258" r:id="rId6"/>
    <p:sldId id="262" r:id="rId7"/>
    <p:sldId id="263" r:id="rId8"/>
    <p:sldId id="264" r:id="rId9"/>
    <p:sldId id="260" r:id="rId10"/>
    <p:sldId id="266" r:id="rId11"/>
    <p:sldId id="268" r:id="rId12"/>
    <p:sldId id="269" r:id="rId13"/>
    <p:sldId id="271" r:id="rId14"/>
    <p:sldId id="272" r:id="rId15"/>
    <p:sldId id="270" r:id="rId16"/>
    <p:sldId id="267"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087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000" autoAdjust="0"/>
    <p:restoredTop sz="94660"/>
  </p:normalViewPr>
  <p:slideViewPr>
    <p:cSldViewPr snapToGrid="0">
      <p:cViewPr>
        <p:scale>
          <a:sx n="92" d="100"/>
          <a:sy n="92" d="100"/>
        </p:scale>
        <p:origin x="120" y="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8CE977-8E17-5B71-6136-5DE62AB7E17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ACF1844-E60B-4ABB-EE09-EFBFBEA5B44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62069E9-38A0-0EF6-398F-2F7484AC8E3B}"/>
              </a:ext>
            </a:extLst>
          </p:cNvPr>
          <p:cNvSpPr>
            <a:spLocks noGrp="1"/>
          </p:cNvSpPr>
          <p:nvPr>
            <p:ph type="dt" sz="half" idx="10"/>
          </p:nvPr>
        </p:nvSpPr>
        <p:spPr/>
        <p:txBody>
          <a:bodyPr/>
          <a:lstStyle/>
          <a:p>
            <a:fld id="{03C94CED-04A6-43C7-BFE8-7F1440EE166E}" type="datetimeFigureOut">
              <a:rPr lang="en-US" smtClean="0"/>
              <a:t>10/16/2025</a:t>
            </a:fld>
            <a:endParaRPr lang="en-US"/>
          </a:p>
        </p:txBody>
      </p:sp>
      <p:sp>
        <p:nvSpPr>
          <p:cNvPr id="5" name="Footer Placeholder 4">
            <a:extLst>
              <a:ext uri="{FF2B5EF4-FFF2-40B4-BE49-F238E27FC236}">
                <a16:creationId xmlns:a16="http://schemas.microsoft.com/office/drawing/2014/main" id="{437D3025-961D-A33C-FCE5-7A3453B93DA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13D612F-960B-AFD5-5CFB-B408EBD9CFC2}"/>
              </a:ext>
            </a:extLst>
          </p:cNvPr>
          <p:cNvSpPr>
            <a:spLocks noGrp="1"/>
          </p:cNvSpPr>
          <p:nvPr>
            <p:ph type="sldNum" sz="quarter" idx="12"/>
          </p:nvPr>
        </p:nvSpPr>
        <p:spPr/>
        <p:txBody>
          <a:bodyPr/>
          <a:lstStyle/>
          <a:p>
            <a:fld id="{79AD24BF-598F-439E-A6EE-E025BF9547AB}" type="slidenum">
              <a:rPr lang="en-US" smtClean="0"/>
              <a:t>‹#›</a:t>
            </a:fld>
            <a:endParaRPr lang="en-US"/>
          </a:p>
        </p:txBody>
      </p:sp>
    </p:spTree>
    <p:extLst>
      <p:ext uri="{BB962C8B-B14F-4D97-AF65-F5344CB8AC3E}">
        <p14:creationId xmlns:p14="http://schemas.microsoft.com/office/powerpoint/2010/main" val="10655200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81DB68-7AEC-C87B-3786-E40BDD5EC43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DBD6E82-CE02-A747-AC19-A245F7291FC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FE821F-3857-23AB-E70A-E6D7F3C21797}"/>
              </a:ext>
            </a:extLst>
          </p:cNvPr>
          <p:cNvSpPr>
            <a:spLocks noGrp="1"/>
          </p:cNvSpPr>
          <p:nvPr>
            <p:ph type="dt" sz="half" idx="10"/>
          </p:nvPr>
        </p:nvSpPr>
        <p:spPr/>
        <p:txBody>
          <a:bodyPr/>
          <a:lstStyle/>
          <a:p>
            <a:fld id="{03C94CED-04A6-43C7-BFE8-7F1440EE166E}" type="datetimeFigureOut">
              <a:rPr lang="en-US" smtClean="0"/>
              <a:t>10/16/2025</a:t>
            </a:fld>
            <a:endParaRPr lang="en-US"/>
          </a:p>
        </p:txBody>
      </p:sp>
      <p:sp>
        <p:nvSpPr>
          <p:cNvPr id="5" name="Footer Placeholder 4">
            <a:extLst>
              <a:ext uri="{FF2B5EF4-FFF2-40B4-BE49-F238E27FC236}">
                <a16:creationId xmlns:a16="http://schemas.microsoft.com/office/drawing/2014/main" id="{EED711EA-5D7C-086C-EC22-0F8F834E974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3AF56B-8729-C914-27E9-DB8D7275AD5C}"/>
              </a:ext>
            </a:extLst>
          </p:cNvPr>
          <p:cNvSpPr>
            <a:spLocks noGrp="1"/>
          </p:cNvSpPr>
          <p:nvPr>
            <p:ph type="sldNum" sz="quarter" idx="12"/>
          </p:nvPr>
        </p:nvSpPr>
        <p:spPr/>
        <p:txBody>
          <a:bodyPr/>
          <a:lstStyle/>
          <a:p>
            <a:fld id="{79AD24BF-598F-439E-A6EE-E025BF9547AB}" type="slidenum">
              <a:rPr lang="en-US" smtClean="0"/>
              <a:t>‹#›</a:t>
            </a:fld>
            <a:endParaRPr lang="en-US"/>
          </a:p>
        </p:txBody>
      </p:sp>
    </p:spTree>
    <p:extLst>
      <p:ext uri="{BB962C8B-B14F-4D97-AF65-F5344CB8AC3E}">
        <p14:creationId xmlns:p14="http://schemas.microsoft.com/office/powerpoint/2010/main" val="23560049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BD46F0-516B-DB92-C5CB-257F3F53862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D532358-E00D-4D26-22C5-265EE4F9F28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6253976-5802-1BB0-56F9-1EA8E42515DA}"/>
              </a:ext>
            </a:extLst>
          </p:cNvPr>
          <p:cNvSpPr>
            <a:spLocks noGrp="1"/>
          </p:cNvSpPr>
          <p:nvPr>
            <p:ph type="dt" sz="half" idx="10"/>
          </p:nvPr>
        </p:nvSpPr>
        <p:spPr/>
        <p:txBody>
          <a:bodyPr/>
          <a:lstStyle/>
          <a:p>
            <a:fld id="{03C94CED-04A6-43C7-BFE8-7F1440EE166E}" type="datetimeFigureOut">
              <a:rPr lang="en-US" smtClean="0"/>
              <a:t>10/16/2025</a:t>
            </a:fld>
            <a:endParaRPr lang="en-US"/>
          </a:p>
        </p:txBody>
      </p:sp>
      <p:sp>
        <p:nvSpPr>
          <p:cNvPr id="5" name="Footer Placeholder 4">
            <a:extLst>
              <a:ext uri="{FF2B5EF4-FFF2-40B4-BE49-F238E27FC236}">
                <a16:creationId xmlns:a16="http://schemas.microsoft.com/office/drawing/2014/main" id="{3B9DF754-E1E3-14E8-DC61-C17CD90FFF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2A66A9-D3EC-E63C-342A-C371A04171B8}"/>
              </a:ext>
            </a:extLst>
          </p:cNvPr>
          <p:cNvSpPr>
            <a:spLocks noGrp="1"/>
          </p:cNvSpPr>
          <p:nvPr>
            <p:ph type="sldNum" sz="quarter" idx="12"/>
          </p:nvPr>
        </p:nvSpPr>
        <p:spPr/>
        <p:txBody>
          <a:bodyPr/>
          <a:lstStyle/>
          <a:p>
            <a:fld id="{79AD24BF-598F-439E-A6EE-E025BF9547AB}" type="slidenum">
              <a:rPr lang="en-US" smtClean="0"/>
              <a:t>‹#›</a:t>
            </a:fld>
            <a:endParaRPr lang="en-US"/>
          </a:p>
        </p:txBody>
      </p:sp>
    </p:spTree>
    <p:extLst>
      <p:ext uri="{BB962C8B-B14F-4D97-AF65-F5344CB8AC3E}">
        <p14:creationId xmlns:p14="http://schemas.microsoft.com/office/powerpoint/2010/main" val="37057253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6F726A-CDFD-9908-5241-92D07CB36FE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B0C09AE-4176-7823-527E-5E6056A74AB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29CEF29-6CB5-D86F-2188-72CB719F46C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4202BB9-AF8F-D523-3C90-6A4B1E128684}"/>
              </a:ext>
            </a:extLst>
          </p:cNvPr>
          <p:cNvSpPr>
            <a:spLocks noGrp="1"/>
          </p:cNvSpPr>
          <p:nvPr>
            <p:ph type="dt" sz="half" idx="10"/>
          </p:nvPr>
        </p:nvSpPr>
        <p:spPr/>
        <p:txBody>
          <a:bodyPr/>
          <a:lstStyle/>
          <a:p>
            <a:fld id="{03C94CED-04A6-43C7-BFE8-7F1440EE166E}" type="datetimeFigureOut">
              <a:rPr lang="en-US" smtClean="0"/>
              <a:t>10/16/2025</a:t>
            </a:fld>
            <a:endParaRPr lang="en-US"/>
          </a:p>
        </p:txBody>
      </p:sp>
      <p:sp>
        <p:nvSpPr>
          <p:cNvPr id="6" name="Footer Placeholder 5">
            <a:extLst>
              <a:ext uri="{FF2B5EF4-FFF2-40B4-BE49-F238E27FC236}">
                <a16:creationId xmlns:a16="http://schemas.microsoft.com/office/drawing/2014/main" id="{EA576D19-FEFF-8C50-C552-2865EC9F6BC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4C1773-0810-9327-E0F1-2FB8365ECCCD}"/>
              </a:ext>
            </a:extLst>
          </p:cNvPr>
          <p:cNvSpPr>
            <a:spLocks noGrp="1"/>
          </p:cNvSpPr>
          <p:nvPr>
            <p:ph type="sldNum" sz="quarter" idx="12"/>
          </p:nvPr>
        </p:nvSpPr>
        <p:spPr/>
        <p:txBody>
          <a:bodyPr/>
          <a:lstStyle/>
          <a:p>
            <a:fld id="{79AD24BF-598F-439E-A6EE-E025BF9547AB}" type="slidenum">
              <a:rPr lang="en-US" smtClean="0"/>
              <a:t>‹#›</a:t>
            </a:fld>
            <a:endParaRPr lang="en-US"/>
          </a:p>
        </p:txBody>
      </p:sp>
    </p:spTree>
    <p:extLst>
      <p:ext uri="{BB962C8B-B14F-4D97-AF65-F5344CB8AC3E}">
        <p14:creationId xmlns:p14="http://schemas.microsoft.com/office/powerpoint/2010/main" val="40501000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CCE5E2-6D21-7271-0CBC-B97709A4394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44FED90-AD75-778A-B695-F7D49538E76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B31660C-69B0-268B-28DF-57DC234DC86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E784B4C-01BD-6BD1-0AA1-21DF981528B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AC52A0D-D5E5-CBA2-68A8-FD910271CBA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7FF3EA1-0A11-A4AF-189B-7645707DD04D}"/>
              </a:ext>
            </a:extLst>
          </p:cNvPr>
          <p:cNvSpPr>
            <a:spLocks noGrp="1"/>
          </p:cNvSpPr>
          <p:nvPr>
            <p:ph type="dt" sz="half" idx="10"/>
          </p:nvPr>
        </p:nvSpPr>
        <p:spPr/>
        <p:txBody>
          <a:bodyPr/>
          <a:lstStyle/>
          <a:p>
            <a:fld id="{03C94CED-04A6-43C7-BFE8-7F1440EE166E}" type="datetimeFigureOut">
              <a:rPr lang="en-US" smtClean="0"/>
              <a:t>10/16/2025</a:t>
            </a:fld>
            <a:endParaRPr lang="en-US"/>
          </a:p>
        </p:txBody>
      </p:sp>
      <p:sp>
        <p:nvSpPr>
          <p:cNvPr id="8" name="Footer Placeholder 7">
            <a:extLst>
              <a:ext uri="{FF2B5EF4-FFF2-40B4-BE49-F238E27FC236}">
                <a16:creationId xmlns:a16="http://schemas.microsoft.com/office/drawing/2014/main" id="{D10FD141-03A1-6AD9-0DA7-8C18A06A39B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CEEC61F-DDAA-55F9-FF7B-5AB4EBC16EB5}"/>
              </a:ext>
            </a:extLst>
          </p:cNvPr>
          <p:cNvSpPr>
            <a:spLocks noGrp="1"/>
          </p:cNvSpPr>
          <p:nvPr>
            <p:ph type="sldNum" sz="quarter" idx="12"/>
          </p:nvPr>
        </p:nvSpPr>
        <p:spPr/>
        <p:txBody>
          <a:bodyPr/>
          <a:lstStyle/>
          <a:p>
            <a:fld id="{79AD24BF-598F-439E-A6EE-E025BF9547AB}" type="slidenum">
              <a:rPr lang="en-US" smtClean="0"/>
              <a:t>‹#›</a:t>
            </a:fld>
            <a:endParaRPr lang="en-US"/>
          </a:p>
        </p:txBody>
      </p:sp>
    </p:spTree>
    <p:extLst>
      <p:ext uri="{BB962C8B-B14F-4D97-AF65-F5344CB8AC3E}">
        <p14:creationId xmlns:p14="http://schemas.microsoft.com/office/powerpoint/2010/main" val="38476566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D5F9CA-FA8A-E7EF-C526-20F6A3DBC54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C750759-F6B1-279C-18A5-9CCF8DFAFA64}"/>
              </a:ext>
            </a:extLst>
          </p:cNvPr>
          <p:cNvSpPr>
            <a:spLocks noGrp="1"/>
          </p:cNvSpPr>
          <p:nvPr>
            <p:ph type="dt" sz="half" idx="10"/>
          </p:nvPr>
        </p:nvSpPr>
        <p:spPr/>
        <p:txBody>
          <a:bodyPr/>
          <a:lstStyle/>
          <a:p>
            <a:fld id="{03C94CED-04A6-43C7-BFE8-7F1440EE166E}" type="datetimeFigureOut">
              <a:rPr lang="en-US" smtClean="0"/>
              <a:t>10/16/2025</a:t>
            </a:fld>
            <a:endParaRPr lang="en-US"/>
          </a:p>
        </p:txBody>
      </p:sp>
      <p:sp>
        <p:nvSpPr>
          <p:cNvPr id="4" name="Footer Placeholder 3">
            <a:extLst>
              <a:ext uri="{FF2B5EF4-FFF2-40B4-BE49-F238E27FC236}">
                <a16:creationId xmlns:a16="http://schemas.microsoft.com/office/drawing/2014/main" id="{0A049B32-8AB0-2386-082A-95546D4A761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5DCBA9A-62FB-E5CF-40F3-FD339C85CCEE}"/>
              </a:ext>
            </a:extLst>
          </p:cNvPr>
          <p:cNvSpPr>
            <a:spLocks noGrp="1"/>
          </p:cNvSpPr>
          <p:nvPr>
            <p:ph type="sldNum" sz="quarter" idx="12"/>
          </p:nvPr>
        </p:nvSpPr>
        <p:spPr/>
        <p:txBody>
          <a:bodyPr/>
          <a:lstStyle/>
          <a:p>
            <a:fld id="{79AD24BF-598F-439E-A6EE-E025BF9547AB}" type="slidenum">
              <a:rPr lang="en-US" smtClean="0"/>
              <a:t>‹#›</a:t>
            </a:fld>
            <a:endParaRPr lang="en-US"/>
          </a:p>
        </p:txBody>
      </p:sp>
    </p:spTree>
    <p:extLst>
      <p:ext uri="{BB962C8B-B14F-4D97-AF65-F5344CB8AC3E}">
        <p14:creationId xmlns:p14="http://schemas.microsoft.com/office/powerpoint/2010/main" val="28492782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FDA9E98-42EC-0A11-E9B8-1222AA5FCEE5}"/>
              </a:ext>
            </a:extLst>
          </p:cNvPr>
          <p:cNvSpPr>
            <a:spLocks noGrp="1"/>
          </p:cNvSpPr>
          <p:nvPr>
            <p:ph type="dt" sz="half" idx="10"/>
          </p:nvPr>
        </p:nvSpPr>
        <p:spPr/>
        <p:txBody>
          <a:bodyPr/>
          <a:lstStyle/>
          <a:p>
            <a:fld id="{03C94CED-04A6-43C7-BFE8-7F1440EE166E}" type="datetimeFigureOut">
              <a:rPr lang="en-US" smtClean="0"/>
              <a:t>10/16/2025</a:t>
            </a:fld>
            <a:endParaRPr lang="en-US"/>
          </a:p>
        </p:txBody>
      </p:sp>
      <p:sp>
        <p:nvSpPr>
          <p:cNvPr id="3" name="Footer Placeholder 2">
            <a:extLst>
              <a:ext uri="{FF2B5EF4-FFF2-40B4-BE49-F238E27FC236}">
                <a16:creationId xmlns:a16="http://schemas.microsoft.com/office/drawing/2014/main" id="{07F2CE7F-B361-5BB0-5E0F-010A3BB777E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D54EC53-75C1-1062-A11D-C0844C672D3D}"/>
              </a:ext>
            </a:extLst>
          </p:cNvPr>
          <p:cNvSpPr>
            <a:spLocks noGrp="1"/>
          </p:cNvSpPr>
          <p:nvPr>
            <p:ph type="sldNum" sz="quarter" idx="12"/>
          </p:nvPr>
        </p:nvSpPr>
        <p:spPr/>
        <p:txBody>
          <a:bodyPr/>
          <a:lstStyle/>
          <a:p>
            <a:fld id="{79AD24BF-598F-439E-A6EE-E025BF9547AB}" type="slidenum">
              <a:rPr lang="en-US" smtClean="0"/>
              <a:t>‹#›</a:t>
            </a:fld>
            <a:endParaRPr lang="en-US"/>
          </a:p>
        </p:txBody>
      </p:sp>
    </p:spTree>
    <p:extLst>
      <p:ext uri="{BB962C8B-B14F-4D97-AF65-F5344CB8AC3E}">
        <p14:creationId xmlns:p14="http://schemas.microsoft.com/office/powerpoint/2010/main" val="19400862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6EF1D6-441A-FDEF-18B0-816A398589F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B59D9A6-670C-0016-1006-6206CEA43B8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CA11B61-A74D-059E-CCF0-5353296A41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E7EDB51-0461-7D52-6852-2AE6A224BC04}"/>
              </a:ext>
            </a:extLst>
          </p:cNvPr>
          <p:cNvSpPr>
            <a:spLocks noGrp="1"/>
          </p:cNvSpPr>
          <p:nvPr>
            <p:ph type="dt" sz="half" idx="10"/>
          </p:nvPr>
        </p:nvSpPr>
        <p:spPr/>
        <p:txBody>
          <a:bodyPr/>
          <a:lstStyle/>
          <a:p>
            <a:fld id="{03C94CED-04A6-43C7-BFE8-7F1440EE166E}" type="datetimeFigureOut">
              <a:rPr lang="en-US" smtClean="0"/>
              <a:t>10/16/2025</a:t>
            </a:fld>
            <a:endParaRPr lang="en-US"/>
          </a:p>
        </p:txBody>
      </p:sp>
      <p:sp>
        <p:nvSpPr>
          <p:cNvPr id="6" name="Footer Placeholder 5">
            <a:extLst>
              <a:ext uri="{FF2B5EF4-FFF2-40B4-BE49-F238E27FC236}">
                <a16:creationId xmlns:a16="http://schemas.microsoft.com/office/drawing/2014/main" id="{B43AC2DA-930D-F3F9-9FD3-5364C28E048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9C996D6-A477-89B6-9DF5-F0DA1863B8A2}"/>
              </a:ext>
            </a:extLst>
          </p:cNvPr>
          <p:cNvSpPr>
            <a:spLocks noGrp="1"/>
          </p:cNvSpPr>
          <p:nvPr>
            <p:ph type="sldNum" sz="quarter" idx="12"/>
          </p:nvPr>
        </p:nvSpPr>
        <p:spPr/>
        <p:txBody>
          <a:bodyPr/>
          <a:lstStyle/>
          <a:p>
            <a:fld id="{79AD24BF-598F-439E-A6EE-E025BF9547AB}" type="slidenum">
              <a:rPr lang="en-US" smtClean="0"/>
              <a:t>‹#›</a:t>
            </a:fld>
            <a:endParaRPr lang="en-US"/>
          </a:p>
        </p:txBody>
      </p:sp>
    </p:spTree>
    <p:extLst>
      <p:ext uri="{BB962C8B-B14F-4D97-AF65-F5344CB8AC3E}">
        <p14:creationId xmlns:p14="http://schemas.microsoft.com/office/powerpoint/2010/main" val="8450297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C3E0CC-A300-3E0A-AB9C-AF834AD8115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444BA4F-D4C6-18F5-75F4-D59FEA35945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A0AF250-7531-174F-3CAB-6FCE5FF025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1E764FA-FA4E-1885-A849-F97EBC376F5C}"/>
              </a:ext>
            </a:extLst>
          </p:cNvPr>
          <p:cNvSpPr>
            <a:spLocks noGrp="1"/>
          </p:cNvSpPr>
          <p:nvPr>
            <p:ph type="dt" sz="half" idx="10"/>
          </p:nvPr>
        </p:nvSpPr>
        <p:spPr/>
        <p:txBody>
          <a:bodyPr/>
          <a:lstStyle/>
          <a:p>
            <a:fld id="{03C94CED-04A6-43C7-BFE8-7F1440EE166E}" type="datetimeFigureOut">
              <a:rPr lang="en-US" smtClean="0"/>
              <a:t>10/16/2025</a:t>
            </a:fld>
            <a:endParaRPr lang="en-US"/>
          </a:p>
        </p:txBody>
      </p:sp>
      <p:sp>
        <p:nvSpPr>
          <p:cNvPr id="6" name="Footer Placeholder 5">
            <a:extLst>
              <a:ext uri="{FF2B5EF4-FFF2-40B4-BE49-F238E27FC236}">
                <a16:creationId xmlns:a16="http://schemas.microsoft.com/office/drawing/2014/main" id="{3895FE0E-ED72-92E1-0A90-6850B00E5DE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55FED66-77DD-690E-15CF-74AFE8EEE2BC}"/>
              </a:ext>
            </a:extLst>
          </p:cNvPr>
          <p:cNvSpPr>
            <a:spLocks noGrp="1"/>
          </p:cNvSpPr>
          <p:nvPr>
            <p:ph type="sldNum" sz="quarter" idx="12"/>
          </p:nvPr>
        </p:nvSpPr>
        <p:spPr/>
        <p:txBody>
          <a:bodyPr/>
          <a:lstStyle/>
          <a:p>
            <a:fld id="{79AD24BF-598F-439E-A6EE-E025BF9547AB}" type="slidenum">
              <a:rPr lang="en-US" smtClean="0"/>
              <a:t>‹#›</a:t>
            </a:fld>
            <a:endParaRPr lang="en-US"/>
          </a:p>
        </p:txBody>
      </p:sp>
    </p:spTree>
    <p:extLst>
      <p:ext uri="{BB962C8B-B14F-4D97-AF65-F5344CB8AC3E}">
        <p14:creationId xmlns:p14="http://schemas.microsoft.com/office/powerpoint/2010/main" val="31446037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4EBC19-C279-03A1-DF3C-D27DDD2CD8D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BA5C207-2741-534C-37FA-E947CB40074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75DA3BA-48DC-FD63-7A00-CE506245CB8F}"/>
              </a:ext>
            </a:extLst>
          </p:cNvPr>
          <p:cNvSpPr>
            <a:spLocks noGrp="1"/>
          </p:cNvSpPr>
          <p:nvPr>
            <p:ph type="dt" sz="half" idx="10"/>
          </p:nvPr>
        </p:nvSpPr>
        <p:spPr/>
        <p:txBody>
          <a:bodyPr/>
          <a:lstStyle/>
          <a:p>
            <a:fld id="{03C94CED-04A6-43C7-BFE8-7F1440EE166E}" type="datetimeFigureOut">
              <a:rPr lang="en-US" smtClean="0"/>
              <a:t>10/16/2025</a:t>
            </a:fld>
            <a:endParaRPr lang="en-US"/>
          </a:p>
        </p:txBody>
      </p:sp>
      <p:sp>
        <p:nvSpPr>
          <p:cNvPr id="5" name="Footer Placeholder 4">
            <a:extLst>
              <a:ext uri="{FF2B5EF4-FFF2-40B4-BE49-F238E27FC236}">
                <a16:creationId xmlns:a16="http://schemas.microsoft.com/office/drawing/2014/main" id="{03DBC32C-4587-9F39-29A0-50C1B0085E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ABACB9-7714-5CBC-53AC-B08C3E00B8B2}"/>
              </a:ext>
            </a:extLst>
          </p:cNvPr>
          <p:cNvSpPr>
            <a:spLocks noGrp="1"/>
          </p:cNvSpPr>
          <p:nvPr>
            <p:ph type="sldNum" sz="quarter" idx="12"/>
          </p:nvPr>
        </p:nvSpPr>
        <p:spPr/>
        <p:txBody>
          <a:bodyPr/>
          <a:lstStyle/>
          <a:p>
            <a:fld id="{79AD24BF-598F-439E-A6EE-E025BF9547AB}" type="slidenum">
              <a:rPr lang="en-US" smtClean="0"/>
              <a:t>‹#›</a:t>
            </a:fld>
            <a:endParaRPr lang="en-US"/>
          </a:p>
        </p:txBody>
      </p:sp>
    </p:spTree>
    <p:extLst>
      <p:ext uri="{BB962C8B-B14F-4D97-AF65-F5344CB8AC3E}">
        <p14:creationId xmlns:p14="http://schemas.microsoft.com/office/powerpoint/2010/main" val="2371917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DC8DEEC-DD68-AB65-52BA-59377F079D3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C3FC58E-F16F-687A-1349-4641BB58A31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63670D9-E5FB-5B7B-905D-4CEF223F5859}"/>
              </a:ext>
            </a:extLst>
          </p:cNvPr>
          <p:cNvSpPr>
            <a:spLocks noGrp="1"/>
          </p:cNvSpPr>
          <p:nvPr>
            <p:ph type="dt" sz="half" idx="10"/>
          </p:nvPr>
        </p:nvSpPr>
        <p:spPr/>
        <p:txBody>
          <a:bodyPr/>
          <a:lstStyle/>
          <a:p>
            <a:fld id="{03C94CED-04A6-43C7-BFE8-7F1440EE166E}" type="datetimeFigureOut">
              <a:rPr lang="en-US" smtClean="0"/>
              <a:t>10/16/2025</a:t>
            </a:fld>
            <a:endParaRPr lang="en-US"/>
          </a:p>
        </p:txBody>
      </p:sp>
      <p:sp>
        <p:nvSpPr>
          <p:cNvPr id="5" name="Footer Placeholder 4">
            <a:extLst>
              <a:ext uri="{FF2B5EF4-FFF2-40B4-BE49-F238E27FC236}">
                <a16:creationId xmlns:a16="http://schemas.microsoft.com/office/drawing/2014/main" id="{9D3754E2-127A-4650-8957-F5F0C4C6CE8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E0F250-F836-8068-31AD-D5B18FA7EAF2}"/>
              </a:ext>
            </a:extLst>
          </p:cNvPr>
          <p:cNvSpPr>
            <a:spLocks noGrp="1"/>
          </p:cNvSpPr>
          <p:nvPr>
            <p:ph type="sldNum" sz="quarter" idx="12"/>
          </p:nvPr>
        </p:nvSpPr>
        <p:spPr/>
        <p:txBody>
          <a:bodyPr/>
          <a:lstStyle/>
          <a:p>
            <a:fld id="{79AD24BF-598F-439E-A6EE-E025BF9547AB}" type="slidenum">
              <a:rPr lang="en-US" smtClean="0"/>
              <a:t>‹#›</a:t>
            </a:fld>
            <a:endParaRPr lang="en-US"/>
          </a:p>
        </p:txBody>
      </p:sp>
    </p:spTree>
    <p:extLst>
      <p:ext uri="{BB962C8B-B14F-4D97-AF65-F5344CB8AC3E}">
        <p14:creationId xmlns:p14="http://schemas.microsoft.com/office/powerpoint/2010/main" val="31213913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0DEA4B9-E01B-BBE4-C9AB-411C114A6BA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54B8A0B-01EF-4D61-7166-38C8C39506C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DD15E5C-E778-8AC1-1DB4-22EA79ED298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3C94CED-04A6-43C7-BFE8-7F1440EE166E}" type="datetimeFigureOut">
              <a:rPr lang="en-US" smtClean="0"/>
              <a:t>10/16/2025</a:t>
            </a:fld>
            <a:endParaRPr lang="en-US"/>
          </a:p>
        </p:txBody>
      </p:sp>
      <p:sp>
        <p:nvSpPr>
          <p:cNvPr id="5" name="Footer Placeholder 4">
            <a:extLst>
              <a:ext uri="{FF2B5EF4-FFF2-40B4-BE49-F238E27FC236}">
                <a16:creationId xmlns:a16="http://schemas.microsoft.com/office/drawing/2014/main" id="{C409B739-1B42-B6F8-AAAA-2EB876D559F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849E5B9-D3CA-9F6E-CA5D-CC48D9A1B97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9AD24BF-598F-439E-A6EE-E025BF9547AB}" type="slidenum">
              <a:rPr lang="en-US" smtClean="0"/>
              <a:t>‹#›</a:t>
            </a:fld>
            <a:endParaRPr lang="en-US"/>
          </a:p>
        </p:txBody>
      </p:sp>
    </p:spTree>
    <p:extLst>
      <p:ext uri="{BB962C8B-B14F-4D97-AF65-F5344CB8AC3E}">
        <p14:creationId xmlns:p14="http://schemas.microsoft.com/office/powerpoint/2010/main" val="29251165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github.com/SHI-Labs/Smooth-Diffusion/blob/main/train_smooth_diffusion.py"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hyperlink" Target="https://github.com/SHI-Labs/Smooth-Diffusion/blob/main/train_smooth_diffusion.py" TargetMode="External"/><Relationship Id="rId7" Type="http://schemas.openxmlformats.org/officeDocument/2006/relationships/image" Target="../media/image18.png"/><Relationship Id="rId12" Type="http://schemas.openxmlformats.org/officeDocument/2006/relationships/image" Target="../media/image23.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17.png"/><Relationship Id="rId11" Type="http://schemas.openxmlformats.org/officeDocument/2006/relationships/image" Target="../media/image22.png"/><Relationship Id="rId5" Type="http://schemas.openxmlformats.org/officeDocument/2006/relationships/image" Target="../media/image16.png"/><Relationship Id="rId10" Type="http://schemas.openxmlformats.org/officeDocument/2006/relationships/image" Target="../media/image21.png"/><Relationship Id="rId4" Type="http://schemas.openxmlformats.org/officeDocument/2006/relationships/image" Target="../media/image15.png"/><Relationship Id="rId9"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hyperlink" Target="https://www.overleaf.com/project/68f23b034d0460dc72aa8840"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F8F6FB5-3440-C8C2-2D7F-3D6D1F5FB8F7}"/>
              </a:ext>
            </a:extLst>
          </p:cNvPr>
          <p:cNvPicPr>
            <a:picLocks noChangeAspect="1"/>
          </p:cNvPicPr>
          <p:nvPr/>
        </p:nvPicPr>
        <p:blipFill>
          <a:blip r:embed="rId2"/>
          <a:stretch>
            <a:fillRect/>
          </a:stretch>
        </p:blipFill>
        <p:spPr>
          <a:xfrm>
            <a:off x="906949" y="2271156"/>
            <a:ext cx="10378101" cy="2050684"/>
          </a:xfrm>
          <a:prstGeom prst="rect">
            <a:avLst/>
          </a:prstGeom>
        </p:spPr>
      </p:pic>
      <p:sp>
        <p:nvSpPr>
          <p:cNvPr id="5" name="Title 1">
            <a:extLst>
              <a:ext uri="{FF2B5EF4-FFF2-40B4-BE49-F238E27FC236}">
                <a16:creationId xmlns:a16="http://schemas.microsoft.com/office/drawing/2014/main" id="{C8FBB8E6-B4E2-D0A7-6C76-4FAE620B4D9E}"/>
              </a:ext>
            </a:extLst>
          </p:cNvPr>
          <p:cNvSpPr txBox="1">
            <a:spLocks/>
          </p:cNvSpPr>
          <p:nvPr/>
        </p:nvSpPr>
        <p:spPr>
          <a:xfrm>
            <a:off x="769450" y="2970279"/>
            <a:ext cx="10515600" cy="1097280"/>
          </a:xfrm>
          <a:prstGeom prst="rect">
            <a:avLst/>
          </a:prstGeom>
          <a:noFill/>
          <a:effectLst/>
        </p:spPr>
        <p:txBody>
          <a:bodyPr vert="horz" lIns="91440" tIns="45720" rIns="91440" bIns="45720" rtlCol="0" anchor="b">
            <a:normAutofit fontScale="97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000" dirty="0">
                <a:solidFill>
                  <a:srgbClr val="660874"/>
                </a:solidFill>
                <a:latin typeface="等线" panose="020F0502020204030204"/>
                <a:ea typeface="等线" panose="02010600030101010101" pitchFamily="2" charset="-122"/>
              </a:rPr>
              <a:t>Research Progress Update: Weeks 1 &amp; 2</a:t>
            </a:r>
            <a:r>
              <a:rPr lang="en-US" altLang="zh-CN" sz="4000" dirty="0">
                <a:solidFill>
                  <a:srgbClr val="660874"/>
                </a:solidFill>
                <a:latin typeface="等线" panose="020F0502020204030204"/>
                <a:ea typeface="等线" panose="02010600030101010101" pitchFamily="2" charset="-122"/>
              </a:rPr>
              <a:t> </a:t>
            </a:r>
            <a:br>
              <a:rPr lang="zh-CN" altLang="en-US" sz="4000" b="1" dirty="0">
                <a:solidFill>
                  <a:srgbClr val="660874"/>
                </a:solidFill>
                <a:latin typeface="等线" panose="020F0502020204030204"/>
                <a:ea typeface="等线" panose="02010600030101010101" pitchFamily="2" charset="-122"/>
              </a:rPr>
            </a:br>
            <a:endParaRPr lang="zh-CN" altLang="en-US" sz="4000" b="1" dirty="0">
              <a:solidFill>
                <a:srgbClr val="660874"/>
              </a:solidFill>
              <a:latin typeface="等线" panose="020F0502020204030204"/>
              <a:ea typeface="等线" panose="02010600030101010101" pitchFamily="2" charset="-122"/>
            </a:endParaRPr>
          </a:p>
        </p:txBody>
      </p:sp>
      <p:sp>
        <p:nvSpPr>
          <p:cNvPr id="7" name="TextBox 6">
            <a:extLst>
              <a:ext uri="{FF2B5EF4-FFF2-40B4-BE49-F238E27FC236}">
                <a16:creationId xmlns:a16="http://schemas.microsoft.com/office/drawing/2014/main" id="{EDF190DB-34E7-0D93-61DE-AF94C83DACAC}"/>
              </a:ext>
            </a:extLst>
          </p:cNvPr>
          <p:cNvSpPr txBox="1"/>
          <p:nvPr/>
        </p:nvSpPr>
        <p:spPr>
          <a:xfrm>
            <a:off x="9386440" y="6396445"/>
            <a:ext cx="3050800" cy="369332"/>
          </a:xfrm>
          <a:prstGeom prst="rect">
            <a:avLst/>
          </a:prstGeom>
          <a:noFill/>
        </p:spPr>
        <p:txBody>
          <a:bodyPr wrap="square" rtlCol="0">
            <a:spAutoFit/>
          </a:bodyPr>
          <a:lstStyle/>
          <a:p>
            <a:r>
              <a:rPr lang="en-US" altLang="zh-CN" b="1" dirty="0">
                <a:solidFill>
                  <a:srgbClr val="660874"/>
                </a:solidFill>
                <a:latin typeface="+mj-lt"/>
                <a:ea typeface="+mj-ea"/>
                <a:cs typeface="+mj-cs"/>
              </a:rPr>
              <a:t> Presenter: </a:t>
            </a:r>
            <a:r>
              <a:rPr lang="en-US" altLang="zh-CN" b="1" dirty="0" err="1">
                <a:solidFill>
                  <a:srgbClr val="660874"/>
                </a:solidFill>
                <a:latin typeface="+mj-lt"/>
                <a:ea typeface="+mj-ea"/>
                <a:cs typeface="+mj-cs"/>
              </a:rPr>
              <a:t>Nanshun</a:t>
            </a:r>
            <a:r>
              <a:rPr lang="en-US" altLang="zh-CN" b="1" dirty="0">
                <a:solidFill>
                  <a:srgbClr val="660874"/>
                </a:solidFill>
                <a:latin typeface="+mj-lt"/>
                <a:ea typeface="+mj-ea"/>
                <a:cs typeface="+mj-cs"/>
              </a:rPr>
              <a:t> Wang</a:t>
            </a:r>
            <a:endParaRPr lang="zh-CN" altLang="en-US" b="1" dirty="0">
              <a:solidFill>
                <a:srgbClr val="660874"/>
              </a:solidFill>
              <a:latin typeface="+mj-lt"/>
              <a:ea typeface="+mj-ea"/>
              <a:cs typeface="+mj-cs"/>
            </a:endParaRPr>
          </a:p>
        </p:txBody>
      </p:sp>
    </p:spTree>
    <p:extLst>
      <p:ext uri="{BB962C8B-B14F-4D97-AF65-F5344CB8AC3E}">
        <p14:creationId xmlns:p14="http://schemas.microsoft.com/office/powerpoint/2010/main" val="4461230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rrow: Chevron 3">
            <a:extLst>
              <a:ext uri="{FF2B5EF4-FFF2-40B4-BE49-F238E27FC236}">
                <a16:creationId xmlns:a16="http://schemas.microsoft.com/office/drawing/2014/main" id="{D42CDB47-750F-6ABD-9969-603583D43822}"/>
              </a:ext>
            </a:extLst>
          </p:cNvPr>
          <p:cNvSpPr/>
          <p:nvPr/>
        </p:nvSpPr>
        <p:spPr>
          <a:xfrm>
            <a:off x="892601" y="488935"/>
            <a:ext cx="3240699" cy="694742"/>
          </a:xfrm>
          <a:prstGeom prst="chevron">
            <a:avLst/>
          </a:prstGeom>
          <a:solidFill>
            <a:schemeClr val="bg1">
              <a:lumMod val="85000"/>
              <a:alpha val="67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 name="Arrow: Chevron 4">
            <a:extLst>
              <a:ext uri="{FF2B5EF4-FFF2-40B4-BE49-F238E27FC236}">
                <a16:creationId xmlns:a16="http://schemas.microsoft.com/office/drawing/2014/main" id="{14C81368-99DD-E0EE-19A6-8EB534F7A8F4}"/>
              </a:ext>
            </a:extLst>
          </p:cNvPr>
          <p:cNvSpPr/>
          <p:nvPr/>
        </p:nvSpPr>
        <p:spPr>
          <a:xfrm>
            <a:off x="393087" y="488936"/>
            <a:ext cx="817404" cy="694742"/>
          </a:xfrm>
          <a:prstGeom prst="chevron">
            <a:avLst/>
          </a:prstGeom>
          <a:gradFill>
            <a:gsLst>
              <a:gs pos="0">
                <a:srgbClr val="660874"/>
              </a:gs>
              <a:gs pos="50000">
                <a:srgbClr val="7030A0"/>
              </a:gs>
              <a:gs pos="100000">
                <a:srgbClr val="660874"/>
              </a:gs>
            </a:gsLst>
            <a:lin ang="5400000" scaled="0"/>
          </a:gra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 name="Title 1">
            <a:extLst>
              <a:ext uri="{FF2B5EF4-FFF2-40B4-BE49-F238E27FC236}">
                <a16:creationId xmlns:a16="http://schemas.microsoft.com/office/drawing/2014/main" id="{4595DB50-F4AD-9AF9-5C93-E21976E9FA9F}"/>
              </a:ext>
            </a:extLst>
          </p:cNvPr>
          <p:cNvSpPr>
            <a:spLocks noGrp="1"/>
          </p:cNvSpPr>
          <p:nvPr>
            <p:ph type="title"/>
          </p:nvPr>
        </p:nvSpPr>
        <p:spPr>
          <a:xfrm>
            <a:off x="1248477" y="190942"/>
            <a:ext cx="10515600" cy="1325563"/>
          </a:xfrm>
          <a:effectLst/>
        </p:spPr>
        <p:txBody>
          <a:bodyPr>
            <a:normAutofit/>
          </a:bodyPr>
          <a:lstStyle/>
          <a:p>
            <a:r>
              <a:rPr lang="en-US" altLang="zh-CN" sz="2800" dirty="0">
                <a:solidFill>
                  <a:srgbClr val="660874"/>
                </a:solidFill>
              </a:rPr>
              <a:t>Overview</a:t>
            </a:r>
            <a:endParaRPr lang="zh-CN" altLang="en-US" sz="2800" dirty="0">
              <a:solidFill>
                <a:srgbClr val="660874"/>
              </a:solidFill>
            </a:endParaRPr>
          </a:p>
        </p:txBody>
      </p:sp>
      <p:sp>
        <p:nvSpPr>
          <p:cNvPr id="9" name="TextBox 8">
            <a:extLst>
              <a:ext uri="{FF2B5EF4-FFF2-40B4-BE49-F238E27FC236}">
                <a16:creationId xmlns:a16="http://schemas.microsoft.com/office/drawing/2014/main" id="{E4CD0967-EE5F-3ED6-8C9F-E62282073295}"/>
              </a:ext>
            </a:extLst>
          </p:cNvPr>
          <p:cNvSpPr txBox="1"/>
          <p:nvPr/>
        </p:nvSpPr>
        <p:spPr>
          <a:xfrm>
            <a:off x="1017437" y="1715585"/>
            <a:ext cx="8964763" cy="4862228"/>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en-US" b="1" i="1" dirty="0">
                <a:solidFill>
                  <a:srgbClr val="660874"/>
                </a:solidFill>
              </a:rPr>
              <a:t>Smooth Diffusion </a:t>
            </a:r>
            <a:r>
              <a:rPr lang="en-US" b="1" dirty="0">
                <a:solidFill>
                  <a:srgbClr val="660874"/>
                </a:solidFill>
              </a:rPr>
              <a:t>(Guo et. al 2023) </a:t>
            </a:r>
            <a:endParaRPr lang="en-US" dirty="0">
              <a:solidFill>
                <a:srgbClr val="660874"/>
              </a:solidFill>
            </a:endParaRPr>
          </a:p>
          <a:p>
            <a:pPr marL="285750" indent="-285750">
              <a:lnSpc>
                <a:spcPct val="200000"/>
              </a:lnSpc>
              <a:buFont typeface="Wingdings" panose="05000000000000000000" pitchFamily="2" charset="2"/>
              <a:buChar char="Ø"/>
            </a:pPr>
            <a:r>
              <a:rPr lang="en-US" b="1" dirty="0">
                <a:solidFill>
                  <a:srgbClr val="660874"/>
                </a:solidFill>
              </a:rPr>
              <a:t>Code:  </a:t>
            </a:r>
            <a:r>
              <a:rPr lang="en-US" sz="1600" dirty="0">
                <a:hlinkClick r:id="rId2"/>
              </a:rPr>
              <a:t>Smooth-Diffusion/train_smooth_diffusion.py at main · SHI-Labs/Smooth-Diffusion · GitHub</a:t>
            </a:r>
            <a:endParaRPr lang="en-US" sz="1600" b="1" dirty="0">
              <a:solidFill>
                <a:srgbClr val="660874"/>
              </a:solidFill>
            </a:endParaRPr>
          </a:p>
          <a:p>
            <a:pPr marL="285750" indent="-285750">
              <a:lnSpc>
                <a:spcPct val="200000"/>
              </a:lnSpc>
              <a:buFont typeface="Wingdings" panose="05000000000000000000" pitchFamily="2" charset="2"/>
              <a:buChar char="Ø"/>
            </a:pPr>
            <a:r>
              <a:rPr lang="en-US" b="1" dirty="0">
                <a:solidFill>
                  <a:srgbClr val="660874"/>
                </a:solidFill>
              </a:rPr>
              <a:t>Paper: formulation of introduction and </a:t>
            </a:r>
            <a:r>
              <a:rPr lang="en-US" altLang="zh-CN" b="1" dirty="0">
                <a:solidFill>
                  <a:srgbClr val="660874"/>
                </a:solidFill>
              </a:rPr>
              <a:t>related works</a:t>
            </a:r>
            <a:r>
              <a:rPr lang="en-US" b="1" dirty="0">
                <a:solidFill>
                  <a:srgbClr val="660874"/>
                </a:solidFill>
              </a:rPr>
              <a:t> </a:t>
            </a:r>
          </a:p>
          <a:p>
            <a:pPr marL="285750" indent="-285750">
              <a:lnSpc>
                <a:spcPct val="200000"/>
              </a:lnSpc>
              <a:buFont typeface="Wingdings" panose="05000000000000000000" pitchFamily="2" charset="2"/>
              <a:buChar char="Ø"/>
            </a:pPr>
            <a:r>
              <a:rPr lang="en-US" b="1" dirty="0">
                <a:solidFill>
                  <a:srgbClr val="660874"/>
                </a:solidFill>
              </a:rPr>
              <a:t>Next steps for my current research</a:t>
            </a:r>
          </a:p>
          <a:p>
            <a:pPr marL="285750" indent="-285750">
              <a:lnSpc>
                <a:spcPct val="200000"/>
              </a:lnSpc>
              <a:buFont typeface="Wingdings" panose="05000000000000000000" pitchFamily="2" charset="2"/>
              <a:buChar char="Ø"/>
            </a:pPr>
            <a:endParaRPr lang="en-US" b="1" dirty="0">
              <a:solidFill>
                <a:srgbClr val="660874"/>
              </a:solidFill>
            </a:endParaRPr>
          </a:p>
          <a:p>
            <a:pPr marL="285750" indent="-285750">
              <a:lnSpc>
                <a:spcPct val="200000"/>
              </a:lnSpc>
              <a:buFont typeface="Wingdings" panose="05000000000000000000" pitchFamily="2" charset="2"/>
              <a:buChar char="Ø"/>
            </a:pPr>
            <a:endParaRPr lang="en-US" b="1" dirty="0">
              <a:solidFill>
                <a:srgbClr val="660874"/>
              </a:solidFill>
            </a:endParaRPr>
          </a:p>
          <a:p>
            <a:pPr marL="285750" indent="-285750">
              <a:lnSpc>
                <a:spcPct val="200000"/>
              </a:lnSpc>
              <a:buFont typeface="Wingdings" panose="05000000000000000000" pitchFamily="2" charset="2"/>
              <a:buChar char="Ø"/>
            </a:pPr>
            <a:endParaRPr lang="en-US" b="1" dirty="0">
              <a:solidFill>
                <a:srgbClr val="660874"/>
              </a:solidFill>
            </a:endParaRPr>
          </a:p>
          <a:p>
            <a:pPr marL="285750" indent="-285750">
              <a:lnSpc>
                <a:spcPct val="200000"/>
              </a:lnSpc>
              <a:buFont typeface="Wingdings" panose="05000000000000000000" pitchFamily="2" charset="2"/>
              <a:buChar char="Ø"/>
            </a:pPr>
            <a:endParaRPr lang="en-US" b="1" dirty="0">
              <a:solidFill>
                <a:srgbClr val="660874"/>
              </a:solidFill>
            </a:endParaRPr>
          </a:p>
          <a:p>
            <a:pPr marL="285750" indent="-285750">
              <a:lnSpc>
                <a:spcPct val="200000"/>
              </a:lnSpc>
              <a:buFont typeface="Wingdings" panose="05000000000000000000" pitchFamily="2" charset="2"/>
              <a:buChar char="Ø"/>
            </a:pPr>
            <a:endParaRPr lang="en-US" b="1" dirty="0">
              <a:solidFill>
                <a:srgbClr val="660874"/>
              </a:solidFill>
            </a:endParaRPr>
          </a:p>
        </p:txBody>
      </p:sp>
    </p:spTree>
    <p:extLst>
      <p:ext uri="{BB962C8B-B14F-4D97-AF65-F5344CB8AC3E}">
        <p14:creationId xmlns:p14="http://schemas.microsoft.com/office/powerpoint/2010/main" val="13359915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6DA2AA-8D90-C9C0-4BE9-CC1B20B51030}"/>
            </a:ext>
          </a:extLst>
        </p:cNvPr>
        <p:cNvGrpSpPr/>
        <p:nvPr/>
      </p:nvGrpSpPr>
      <p:grpSpPr>
        <a:xfrm>
          <a:off x="0" y="0"/>
          <a:ext cx="0" cy="0"/>
          <a:chOff x="0" y="0"/>
          <a:chExt cx="0" cy="0"/>
        </a:xfrm>
      </p:grpSpPr>
      <p:sp>
        <p:nvSpPr>
          <p:cNvPr id="4" name="Arrow: Chevron 3">
            <a:extLst>
              <a:ext uri="{FF2B5EF4-FFF2-40B4-BE49-F238E27FC236}">
                <a16:creationId xmlns:a16="http://schemas.microsoft.com/office/drawing/2014/main" id="{A037735D-C7B1-0BA8-8808-373BBDFA97ED}"/>
              </a:ext>
            </a:extLst>
          </p:cNvPr>
          <p:cNvSpPr/>
          <p:nvPr/>
        </p:nvSpPr>
        <p:spPr>
          <a:xfrm>
            <a:off x="892601" y="488935"/>
            <a:ext cx="5896126" cy="694742"/>
          </a:xfrm>
          <a:prstGeom prst="chevron">
            <a:avLst/>
          </a:prstGeom>
          <a:solidFill>
            <a:schemeClr val="bg1">
              <a:lumMod val="85000"/>
              <a:alpha val="67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 name="Arrow: Chevron 4">
            <a:extLst>
              <a:ext uri="{FF2B5EF4-FFF2-40B4-BE49-F238E27FC236}">
                <a16:creationId xmlns:a16="http://schemas.microsoft.com/office/drawing/2014/main" id="{E3D6C994-2322-D07E-B08C-91178600BB88}"/>
              </a:ext>
            </a:extLst>
          </p:cNvPr>
          <p:cNvSpPr/>
          <p:nvPr/>
        </p:nvSpPr>
        <p:spPr>
          <a:xfrm>
            <a:off x="393087" y="488936"/>
            <a:ext cx="817404" cy="694742"/>
          </a:xfrm>
          <a:prstGeom prst="chevron">
            <a:avLst/>
          </a:prstGeom>
          <a:gradFill>
            <a:gsLst>
              <a:gs pos="0">
                <a:srgbClr val="660874"/>
              </a:gs>
              <a:gs pos="50000">
                <a:srgbClr val="7030A0"/>
              </a:gs>
              <a:gs pos="100000">
                <a:srgbClr val="660874"/>
              </a:gs>
            </a:gsLst>
            <a:lin ang="5400000" scaled="0"/>
          </a:gra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 name="Title 1">
            <a:extLst>
              <a:ext uri="{FF2B5EF4-FFF2-40B4-BE49-F238E27FC236}">
                <a16:creationId xmlns:a16="http://schemas.microsoft.com/office/drawing/2014/main" id="{D32FE28C-6CF1-7563-3D3B-5126AE903CD5}"/>
              </a:ext>
            </a:extLst>
          </p:cNvPr>
          <p:cNvSpPr>
            <a:spLocks noGrp="1"/>
          </p:cNvSpPr>
          <p:nvPr>
            <p:ph type="title"/>
          </p:nvPr>
        </p:nvSpPr>
        <p:spPr>
          <a:xfrm>
            <a:off x="1248477" y="190942"/>
            <a:ext cx="10515600" cy="1325563"/>
          </a:xfrm>
          <a:effectLst/>
        </p:spPr>
        <p:txBody>
          <a:bodyPr>
            <a:normAutofit/>
          </a:bodyPr>
          <a:lstStyle/>
          <a:p>
            <a:r>
              <a:rPr lang="en-US" altLang="zh-CN" sz="2800" dirty="0">
                <a:solidFill>
                  <a:srgbClr val="660874"/>
                </a:solidFill>
              </a:rPr>
              <a:t>Smooth Diffusion (Guo et. al 2023)</a:t>
            </a:r>
            <a:endParaRPr lang="zh-CN" altLang="en-US" sz="2800" dirty="0">
              <a:solidFill>
                <a:srgbClr val="660874"/>
              </a:solidFill>
            </a:endParaRPr>
          </a:p>
        </p:txBody>
      </p:sp>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6FFD2C17-B803-2734-C3A8-86F97FADCC8B}"/>
                  </a:ext>
                </a:extLst>
              </p:cNvPr>
              <p:cNvSpPr txBox="1"/>
              <p:nvPr/>
            </p:nvSpPr>
            <p:spPr>
              <a:xfrm>
                <a:off x="1114419" y="1577040"/>
                <a:ext cx="10287872" cy="7597144"/>
              </a:xfrm>
              <a:prstGeom prst="rect">
                <a:avLst/>
              </a:prstGeom>
              <a:noFill/>
            </p:spPr>
            <p:txBody>
              <a:bodyPr wrap="square" rtlCol="0">
                <a:spAutoFit/>
              </a:bodyPr>
              <a:lstStyle/>
              <a:p>
                <a:pPr marL="285750" indent="-285750">
                  <a:lnSpc>
                    <a:spcPct val="200000"/>
                  </a:lnSpc>
                  <a:buFont typeface="Wingdings" panose="05000000000000000000" pitchFamily="2" charset="2"/>
                  <a:buChar char="Ø"/>
                </a:pPr>
                <a:r>
                  <a:rPr lang="en-US" b="1" dirty="0">
                    <a:solidFill>
                      <a:srgbClr val="660874"/>
                    </a:solidFill>
                  </a:rPr>
                  <a:t>Recap of diffusion models:</a:t>
                </a:r>
              </a:p>
              <a:p>
                <a:r>
                  <a:rPr lang="en-US" dirty="0">
                    <a:solidFill>
                      <a:srgbClr val="660874"/>
                    </a:solidFill>
                  </a:rPr>
                  <a:t>- Diffusion process: start with a real image </a:t>
                </a:r>
                <a14:m>
                  <m:oMath xmlns:m="http://schemas.openxmlformats.org/officeDocument/2006/math">
                    <m:sSub>
                      <m:sSubPr>
                        <m:ctrlPr>
                          <a:rPr lang="ar-AE" i="1">
                            <a:solidFill>
                              <a:srgbClr val="660874"/>
                            </a:solidFill>
                            <a:latin typeface="Cambria Math" panose="02040503050406030204" pitchFamily="18" charset="0"/>
                          </a:rPr>
                        </m:ctrlPr>
                      </m:sSubPr>
                      <m:e>
                        <m:r>
                          <a:rPr lang="ar-AE" i="1">
                            <a:solidFill>
                              <a:srgbClr val="660874"/>
                            </a:solidFill>
                            <a:latin typeface="Cambria Math" panose="02040503050406030204" pitchFamily="18" charset="0"/>
                          </a:rPr>
                          <m:t>𝑥</m:t>
                        </m:r>
                      </m:e>
                      <m:sub>
                        <m:r>
                          <a:rPr lang="ar-AE">
                            <a:solidFill>
                              <a:srgbClr val="660874"/>
                            </a:solidFill>
                            <a:latin typeface="Cambria Math" panose="02040503050406030204" pitchFamily="18" charset="0"/>
                          </a:rPr>
                          <m:t>0</m:t>
                        </m:r>
                      </m:sub>
                    </m:sSub>
                  </m:oMath>
                </a14:m>
                <a:r>
                  <a:rPr lang="ar-AE" dirty="0">
                    <a:solidFill>
                      <a:srgbClr val="660874"/>
                    </a:solidFill>
                  </a:rPr>
                  <a:t>.</a:t>
                </a:r>
                <a:r>
                  <a:rPr lang="en-US" dirty="0">
                    <a:solidFill>
                      <a:srgbClr val="660874"/>
                    </a:solidFill>
                  </a:rPr>
                  <a:t> At each step </a:t>
                </a:r>
                <a14:m>
                  <m:oMath xmlns:m="http://schemas.openxmlformats.org/officeDocument/2006/math">
                    <m:r>
                      <a:rPr lang="en-US" i="1">
                        <a:solidFill>
                          <a:srgbClr val="660874"/>
                        </a:solidFill>
                        <a:latin typeface="Cambria Math" panose="02040503050406030204" pitchFamily="18" charset="0"/>
                      </a:rPr>
                      <m:t>𝑡</m:t>
                    </m:r>
                  </m:oMath>
                </a14:m>
                <a:r>
                  <a:rPr lang="en-US" dirty="0">
                    <a:solidFill>
                      <a:srgbClr val="660874"/>
                    </a:solidFill>
                  </a:rPr>
                  <a:t>, you add a small random noise </a:t>
                </a:r>
                <a14:m>
                  <m:oMath xmlns:m="http://schemas.openxmlformats.org/officeDocument/2006/math">
                    <m:sSub>
                      <m:sSubPr>
                        <m:ctrlPr>
                          <a:rPr lang="ar-AE" i="1">
                            <a:solidFill>
                              <a:srgbClr val="660874"/>
                            </a:solidFill>
                            <a:latin typeface="Cambria Math" panose="02040503050406030204" pitchFamily="18" charset="0"/>
                          </a:rPr>
                        </m:ctrlPr>
                      </m:sSubPr>
                      <m:e>
                        <m:r>
                          <a:rPr lang="ar-AE" i="1">
                            <a:solidFill>
                              <a:srgbClr val="660874"/>
                            </a:solidFill>
                            <a:latin typeface="Cambria Math" panose="02040503050406030204" pitchFamily="18" charset="0"/>
                          </a:rPr>
                          <m:t>𝜖</m:t>
                        </m:r>
                      </m:e>
                      <m:sub>
                        <m:r>
                          <a:rPr lang="ar-AE" i="1">
                            <a:solidFill>
                              <a:srgbClr val="660874"/>
                            </a:solidFill>
                            <a:latin typeface="Cambria Math" panose="02040503050406030204" pitchFamily="18" charset="0"/>
                          </a:rPr>
                          <m:t>𝑡</m:t>
                        </m:r>
                      </m:sub>
                    </m:sSub>
                  </m:oMath>
                </a14:m>
                <a:r>
                  <a:rPr lang="en-US" dirty="0">
                    <a:solidFill>
                      <a:srgbClr val="660874"/>
                    </a:solidFill>
                  </a:rPr>
                  <a:t> to get a noisier version </a:t>
                </a:r>
                <a14:m>
                  <m:oMath xmlns:m="http://schemas.openxmlformats.org/officeDocument/2006/math">
                    <m:sSub>
                      <m:sSubPr>
                        <m:ctrlPr>
                          <a:rPr lang="ar-AE" i="1">
                            <a:solidFill>
                              <a:srgbClr val="660874"/>
                            </a:solidFill>
                            <a:latin typeface="Cambria Math" panose="02040503050406030204" pitchFamily="18" charset="0"/>
                          </a:rPr>
                        </m:ctrlPr>
                      </m:sSubPr>
                      <m:e>
                        <m:r>
                          <a:rPr lang="ar-AE" i="1">
                            <a:solidFill>
                              <a:srgbClr val="660874"/>
                            </a:solidFill>
                            <a:latin typeface="Cambria Math" panose="02040503050406030204" pitchFamily="18" charset="0"/>
                          </a:rPr>
                          <m:t>𝑥</m:t>
                        </m:r>
                      </m:e>
                      <m:sub>
                        <m:r>
                          <a:rPr lang="ar-AE" i="1">
                            <a:solidFill>
                              <a:srgbClr val="660874"/>
                            </a:solidFill>
                            <a:latin typeface="Cambria Math" panose="02040503050406030204" pitchFamily="18" charset="0"/>
                          </a:rPr>
                          <m:t>𝑡</m:t>
                        </m:r>
                      </m:sub>
                    </m:sSub>
                  </m:oMath>
                </a14:m>
                <a:r>
                  <a:rPr lang="ar-AE" dirty="0">
                    <a:solidFill>
                      <a:srgbClr val="660874"/>
                    </a:solidFill>
                  </a:rPr>
                  <a:t>.</a:t>
                </a:r>
                <a:r>
                  <a:rPr lang="en-US" dirty="0">
                    <a:solidFill>
                      <a:srgbClr val="660874"/>
                    </a:solidFill>
                  </a:rPr>
                  <a:t> This continues for </a:t>
                </a:r>
                <a14:m>
                  <m:oMath xmlns:m="http://schemas.openxmlformats.org/officeDocument/2006/math">
                    <m:r>
                      <a:rPr lang="en-US" i="1">
                        <a:solidFill>
                          <a:srgbClr val="660874"/>
                        </a:solidFill>
                        <a:latin typeface="Cambria Math" panose="02040503050406030204" pitchFamily="18" charset="0"/>
                      </a:rPr>
                      <m:t>𝑇</m:t>
                    </m:r>
                  </m:oMath>
                </a14:m>
                <a:r>
                  <a:rPr lang="en-US" dirty="0">
                    <a:solidFill>
                      <a:srgbClr val="660874"/>
                    </a:solidFill>
                  </a:rPr>
                  <a:t> steps, so by the final step </a:t>
                </a:r>
                <a14:m>
                  <m:oMath xmlns:m="http://schemas.openxmlformats.org/officeDocument/2006/math">
                    <m:sSub>
                      <m:sSubPr>
                        <m:ctrlPr>
                          <a:rPr lang="ar-AE" i="1">
                            <a:solidFill>
                              <a:srgbClr val="660874"/>
                            </a:solidFill>
                            <a:latin typeface="Cambria Math" panose="02040503050406030204" pitchFamily="18" charset="0"/>
                          </a:rPr>
                        </m:ctrlPr>
                      </m:sSubPr>
                      <m:e>
                        <m:r>
                          <a:rPr lang="ar-AE" i="1">
                            <a:solidFill>
                              <a:srgbClr val="660874"/>
                            </a:solidFill>
                            <a:latin typeface="Cambria Math" panose="02040503050406030204" pitchFamily="18" charset="0"/>
                          </a:rPr>
                          <m:t>𝑥</m:t>
                        </m:r>
                      </m:e>
                      <m:sub>
                        <m:r>
                          <a:rPr lang="ar-AE" i="1">
                            <a:solidFill>
                              <a:srgbClr val="660874"/>
                            </a:solidFill>
                            <a:latin typeface="Cambria Math" panose="02040503050406030204" pitchFamily="18" charset="0"/>
                          </a:rPr>
                          <m:t>𝑇</m:t>
                        </m:r>
                      </m:sub>
                    </m:sSub>
                  </m:oMath>
                </a14:m>
                <a:r>
                  <a:rPr lang="ar-AE" dirty="0">
                    <a:solidFill>
                      <a:srgbClr val="660874"/>
                    </a:solidFill>
                  </a:rPr>
                  <a:t>, </a:t>
                </a:r>
                <a:r>
                  <a:rPr lang="en-US" dirty="0">
                    <a:solidFill>
                      <a:srgbClr val="660874"/>
                    </a:solidFill>
                  </a:rPr>
                  <a:t>the image looks like pure Gaussian noise.</a:t>
                </a:r>
              </a:p>
              <a:p>
                <a:r>
                  <a:rPr lang="en-US" dirty="0">
                    <a:solidFill>
                      <a:srgbClr val="660874"/>
                    </a:solidFill>
                  </a:rPr>
                  <a:t>Mathematically (Guo et al 2023):</a:t>
                </a:r>
              </a:p>
              <a:p>
                <a:pPr/>
                <a14:m>
                  <m:oMathPara xmlns:m="http://schemas.openxmlformats.org/officeDocument/2006/math">
                    <m:oMathParaPr>
                      <m:jc m:val="centerGroup"/>
                    </m:oMathParaPr>
                    <m:oMath xmlns:m="http://schemas.openxmlformats.org/officeDocument/2006/math">
                      <m:sSub>
                        <m:sSubPr>
                          <m:ctrlPr>
                            <a:rPr lang="ar-AE" i="1">
                              <a:solidFill>
                                <a:srgbClr val="660874"/>
                              </a:solidFill>
                              <a:latin typeface="Cambria Math" panose="02040503050406030204" pitchFamily="18" charset="0"/>
                            </a:rPr>
                          </m:ctrlPr>
                        </m:sSubPr>
                        <m:e>
                          <m:r>
                            <a:rPr lang="ar-AE" i="1">
                              <a:solidFill>
                                <a:srgbClr val="660874"/>
                              </a:solidFill>
                              <a:latin typeface="Cambria Math" panose="02040503050406030204" pitchFamily="18" charset="0"/>
                            </a:rPr>
                            <m:t>𝑥</m:t>
                          </m:r>
                        </m:e>
                        <m:sub>
                          <m:r>
                            <a:rPr lang="ar-AE" i="1">
                              <a:solidFill>
                                <a:srgbClr val="660874"/>
                              </a:solidFill>
                              <a:latin typeface="Cambria Math" panose="02040503050406030204" pitchFamily="18" charset="0"/>
                            </a:rPr>
                            <m:t>𝑡</m:t>
                          </m:r>
                        </m:sub>
                      </m:sSub>
                      <m:r>
                        <a:rPr lang="ar-AE">
                          <a:solidFill>
                            <a:srgbClr val="660874"/>
                          </a:solidFill>
                          <a:latin typeface="Cambria Math" panose="02040503050406030204" pitchFamily="18" charset="0"/>
                        </a:rPr>
                        <m:t>=</m:t>
                      </m:r>
                      <m:rad>
                        <m:radPr>
                          <m:degHide m:val="on"/>
                          <m:ctrlPr>
                            <a:rPr lang="ar-AE" i="1">
                              <a:solidFill>
                                <a:srgbClr val="660874"/>
                              </a:solidFill>
                              <a:latin typeface="Cambria Math" panose="02040503050406030204" pitchFamily="18" charset="0"/>
                            </a:rPr>
                          </m:ctrlPr>
                        </m:radPr>
                        <m:deg/>
                        <m:e>
                          <m:r>
                            <a:rPr lang="ar-AE">
                              <a:solidFill>
                                <a:srgbClr val="660874"/>
                              </a:solidFill>
                              <a:latin typeface="Cambria Math" panose="02040503050406030204" pitchFamily="18" charset="0"/>
                            </a:rPr>
                            <m:t>1</m:t>
                          </m:r>
                          <m:r>
                            <a:rPr lang="ar-AE">
                              <a:solidFill>
                                <a:srgbClr val="660874"/>
                              </a:solidFill>
                              <a:latin typeface="Cambria Math" panose="02040503050406030204" pitchFamily="18" charset="0"/>
                            </a:rPr>
                            <m:t>−</m:t>
                          </m:r>
                          <m:sSub>
                            <m:sSubPr>
                              <m:ctrlPr>
                                <a:rPr lang="ar-AE" i="1">
                                  <a:solidFill>
                                    <a:srgbClr val="660874"/>
                                  </a:solidFill>
                                  <a:latin typeface="Cambria Math" panose="02040503050406030204" pitchFamily="18" charset="0"/>
                                </a:rPr>
                              </m:ctrlPr>
                            </m:sSubPr>
                            <m:e>
                              <m:r>
                                <a:rPr lang="ar-AE" i="1">
                                  <a:solidFill>
                                    <a:srgbClr val="660874"/>
                                  </a:solidFill>
                                  <a:latin typeface="Cambria Math" panose="02040503050406030204" pitchFamily="18" charset="0"/>
                                </a:rPr>
                                <m:t>𝛽</m:t>
                              </m:r>
                            </m:e>
                            <m:sub>
                              <m:r>
                                <a:rPr lang="ar-AE" i="1">
                                  <a:solidFill>
                                    <a:srgbClr val="660874"/>
                                  </a:solidFill>
                                  <a:latin typeface="Cambria Math" panose="02040503050406030204" pitchFamily="18" charset="0"/>
                                </a:rPr>
                                <m:t>𝑡</m:t>
                              </m:r>
                            </m:sub>
                          </m:sSub>
                        </m:e>
                      </m:rad>
                      <m:r>
                        <m:rPr>
                          <m:nor/>
                        </m:rPr>
                        <a:rPr lang="ar-AE" i="1">
                          <a:solidFill>
                            <a:srgbClr val="660874"/>
                          </a:solidFill>
                        </a:rPr>
                        <m:t> </m:t>
                      </m:r>
                      <m:sSub>
                        <m:sSubPr>
                          <m:ctrlPr>
                            <a:rPr lang="ar-AE" i="1">
                              <a:solidFill>
                                <a:srgbClr val="660874"/>
                              </a:solidFill>
                              <a:latin typeface="Cambria Math" panose="02040503050406030204" pitchFamily="18" charset="0"/>
                            </a:rPr>
                          </m:ctrlPr>
                        </m:sSubPr>
                        <m:e>
                          <m:r>
                            <a:rPr lang="ar-AE" i="1">
                              <a:solidFill>
                                <a:srgbClr val="660874"/>
                              </a:solidFill>
                              <a:latin typeface="Cambria Math" panose="02040503050406030204" pitchFamily="18" charset="0"/>
                            </a:rPr>
                            <m:t>𝑥</m:t>
                          </m:r>
                        </m:e>
                        <m:sub>
                          <m:r>
                            <a:rPr lang="ar-AE" i="1">
                              <a:solidFill>
                                <a:srgbClr val="660874"/>
                              </a:solidFill>
                              <a:latin typeface="Cambria Math" panose="02040503050406030204" pitchFamily="18" charset="0"/>
                            </a:rPr>
                            <m:t>𝑡</m:t>
                          </m:r>
                          <m:r>
                            <a:rPr lang="ar-AE">
                              <a:solidFill>
                                <a:srgbClr val="660874"/>
                              </a:solidFill>
                              <a:latin typeface="Cambria Math" panose="02040503050406030204" pitchFamily="18" charset="0"/>
                            </a:rPr>
                            <m:t>−</m:t>
                          </m:r>
                          <m:r>
                            <a:rPr lang="ar-AE">
                              <a:solidFill>
                                <a:srgbClr val="660874"/>
                              </a:solidFill>
                              <a:latin typeface="Cambria Math" panose="02040503050406030204" pitchFamily="18" charset="0"/>
                            </a:rPr>
                            <m:t>1</m:t>
                          </m:r>
                        </m:sub>
                      </m:sSub>
                      <m:r>
                        <a:rPr lang="ar-AE">
                          <a:solidFill>
                            <a:srgbClr val="660874"/>
                          </a:solidFill>
                          <a:latin typeface="Cambria Math" panose="02040503050406030204" pitchFamily="18" charset="0"/>
                        </a:rPr>
                        <m:t>+</m:t>
                      </m:r>
                      <m:rad>
                        <m:radPr>
                          <m:degHide m:val="on"/>
                          <m:ctrlPr>
                            <a:rPr lang="ar-AE" i="1">
                              <a:solidFill>
                                <a:srgbClr val="660874"/>
                              </a:solidFill>
                              <a:latin typeface="Cambria Math" panose="02040503050406030204" pitchFamily="18" charset="0"/>
                            </a:rPr>
                          </m:ctrlPr>
                        </m:radPr>
                        <m:deg/>
                        <m:e>
                          <m:sSub>
                            <m:sSubPr>
                              <m:ctrlPr>
                                <a:rPr lang="ar-AE" i="1">
                                  <a:solidFill>
                                    <a:srgbClr val="660874"/>
                                  </a:solidFill>
                                  <a:latin typeface="Cambria Math" panose="02040503050406030204" pitchFamily="18" charset="0"/>
                                </a:rPr>
                              </m:ctrlPr>
                            </m:sSubPr>
                            <m:e>
                              <m:r>
                                <a:rPr lang="ar-AE" i="1">
                                  <a:solidFill>
                                    <a:srgbClr val="660874"/>
                                  </a:solidFill>
                                  <a:latin typeface="Cambria Math" panose="02040503050406030204" pitchFamily="18" charset="0"/>
                                </a:rPr>
                                <m:t>𝛽</m:t>
                              </m:r>
                            </m:e>
                            <m:sub>
                              <m:r>
                                <a:rPr lang="ar-AE" i="1">
                                  <a:solidFill>
                                    <a:srgbClr val="660874"/>
                                  </a:solidFill>
                                  <a:latin typeface="Cambria Math" panose="02040503050406030204" pitchFamily="18" charset="0"/>
                                </a:rPr>
                                <m:t>𝑡</m:t>
                              </m:r>
                            </m:sub>
                          </m:sSub>
                        </m:e>
                      </m:rad>
                      <m:r>
                        <m:rPr>
                          <m:nor/>
                        </m:rPr>
                        <a:rPr lang="ar-AE" i="1">
                          <a:solidFill>
                            <a:srgbClr val="660874"/>
                          </a:solidFill>
                        </a:rPr>
                        <m:t> </m:t>
                      </m:r>
                      <m:sSub>
                        <m:sSubPr>
                          <m:ctrlPr>
                            <a:rPr lang="ar-AE" i="1">
                              <a:solidFill>
                                <a:srgbClr val="660874"/>
                              </a:solidFill>
                              <a:latin typeface="Cambria Math" panose="02040503050406030204" pitchFamily="18" charset="0"/>
                            </a:rPr>
                          </m:ctrlPr>
                        </m:sSubPr>
                        <m:e>
                          <m:r>
                            <a:rPr lang="ar-AE" i="1">
                              <a:solidFill>
                                <a:srgbClr val="660874"/>
                              </a:solidFill>
                              <a:latin typeface="Cambria Math" panose="02040503050406030204" pitchFamily="18" charset="0"/>
                            </a:rPr>
                            <m:t>𝜖</m:t>
                          </m:r>
                        </m:e>
                        <m:sub>
                          <m:r>
                            <a:rPr lang="ar-AE" i="1">
                              <a:solidFill>
                                <a:srgbClr val="660874"/>
                              </a:solidFill>
                              <a:latin typeface="Cambria Math" panose="02040503050406030204" pitchFamily="18" charset="0"/>
                            </a:rPr>
                            <m:t>𝑡</m:t>
                          </m:r>
                        </m:sub>
                      </m:sSub>
                    </m:oMath>
                  </m:oMathPara>
                </a14:m>
                <a:endParaRPr lang="ar-AE" dirty="0">
                  <a:solidFill>
                    <a:srgbClr val="660874"/>
                  </a:solidFill>
                </a:endParaRPr>
              </a:p>
              <a:p>
                <a:r>
                  <a:rPr lang="en-US" dirty="0">
                    <a:solidFill>
                      <a:srgbClr val="660874"/>
                    </a:solidFill>
                  </a:rPr>
                  <a:t>where</a:t>
                </a:r>
                <a14:m>
                  <m:oMath xmlns:m="http://schemas.openxmlformats.org/officeDocument/2006/math">
                    <m:r>
                      <a:rPr lang="en-US">
                        <a:solidFill>
                          <a:srgbClr val="660874"/>
                        </a:solidFill>
                        <a:latin typeface="Cambria Math" panose="02040503050406030204" pitchFamily="18" charset="0"/>
                      </a:rPr>
                      <m:t> </m:t>
                    </m:r>
                    <m:sSub>
                      <m:sSubPr>
                        <m:ctrlPr>
                          <a:rPr lang="ar-AE" i="1">
                            <a:solidFill>
                              <a:srgbClr val="660874"/>
                            </a:solidFill>
                            <a:latin typeface="Cambria Math" panose="02040503050406030204" pitchFamily="18" charset="0"/>
                          </a:rPr>
                        </m:ctrlPr>
                      </m:sSubPr>
                      <m:e>
                        <m:r>
                          <a:rPr lang="ar-AE" i="1">
                            <a:solidFill>
                              <a:srgbClr val="660874"/>
                            </a:solidFill>
                            <a:latin typeface="Cambria Math" panose="02040503050406030204" pitchFamily="18" charset="0"/>
                          </a:rPr>
                          <m:t>𝛽</m:t>
                        </m:r>
                      </m:e>
                      <m:sub>
                        <m:r>
                          <a:rPr lang="ar-AE" i="1">
                            <a:solidFill>
                              <a:srgbClr val="660874"/>
                            </a:solidFill>
                            <a:latin typeface="Cambria Math" panose="02040503050406030204" pitchFamily="18" charset="0"/>
                          </a:rPr>
                          <m:t>𝑡</m:t>
                        </m:r>
                      </m:sub>
                    </m:sSub>
                  </m:oMath>
                </a14:m>
                <a:r>
                  <a:rPr lang="en-US" dirty="0">
                    <a:solidFill>
                      <a:srgbClr val="660874"/>
                    </a:solidFill>
                  </a:rPr>
                  <a:t> is how much noise is added at step </a:t>
                </a:r>
                <a14:m>
                  <m:oMath xmlns:m="http://schemas.openxmlformats.org/officeDocument/2006/math">
                    <m:r>
                      <a:rPr lang="en-US" i="1">
                        <a:solidFill>
                          <a:srgbClr val="660874"/>
                        </a:solidFill>
                        <a:latin typeface="Cambria Math" panose="02040503050406030204" pitchFamily="18" charset="0"/>
                      </a:rPr>
                      <m:t>𝑡</m:t>
                    </m:r>
                    <m:r>
                      <a:rPr lang="en-US">
                        <a:solidFill>
                          <a:srgbClr val="660874"/>
                        </a:solidFill>
                        <a:latin typeface="Cambria Math" panose="02040503050406030204" pitchFamily="18" charset="0"/>
                      </a:rPr>
                      <m:t>,</m:t>
                    </m:r>
                    <m:sSub>
                      <m:sSubPr>
                        <m:ctrlPr>
                          <a:rPr lang="ar-AE" i="1">
                            <a:solidFill>
                              <a:srgbClr val="660874"/>
                            </a:solidFill>
                            <a:latin typeface="Cambria Math" panose="02040503050406030204" pitchFamily="18" charset="0"/>
                          </a:rPr>
                        </m:ctrlPr>
                      </m:sSubPr>
                      <m:e>
                        <m:r>
                          <a:rPr lang="ar-AE" i="1">
                            <a:solidFill>
                              <a:srgbClr val="660874"/>
                            </a:solidFill>
                            <a:latin typeface="Cambria Math" panose="02040503050406030204" pitchFamily="18" charset="0"/>
                          </a:rPr>
                          <m:t>𝜖</m:t>
                        </m:r>
                      </m:e>
                      <m:sub>
                        <m:r>
                          <a:rPr lang="ar-AE" i="1">
                            <a:solidFill>
                              <a:srgbClr val="660874"/>
                            </a:solidFill>
                            <a:latin typeface="Cambria Math" panose="02040503050406030204" pitchFamily="18" charset="0"/>
                          </a:rPr>
                          <m:t>𝑡</m:t>
                        </m:r>
                      </m:sub>
                    </m:sSub>
                    <m:r>
                      <a:rPr lang="ar-AE">
                        <a:solidFill>
                          <a:srgbClr val="660874"/>
                        </a:solidFill>
                        <a:latin typeface="Cambria Math" panose="02040503050406030204" pitchFamily="18" charset="0"/>
                      </a:rPr>
                      <m:t>∼</m:t>
                    </m:r>
                    <m:r>
                      <a:rPr lang="ar-AE">
                        <a:solidFill>
                          <a:srgbClr val="660874"/>
                        </a:solidFill>
                        <a:latin typeface="Cambria Math" panose="02040503050406030204" pitchFamily="18" charset="0"/>
                      </a:rPr>
                      <m:t>𝒩</m:t>
                    </m:r>
                    <m:d>
                      <m:dPr>
                        <m:sepChr m:val=","/>
                        <m:ctrlPr>
                          <a:rPr lang="ar-AE" i="1">
                            <a:solidFill>
                              <a:srgbClr val="660874"/>
                            </a:solidFill>
                            <a:latin typeface="Cambria Math" panose="02040503050406030204" pitchFamily="18" charset="0"/>
                          </a:rPr>
                        </m:ctrlPr>
                      </m:dPr>
                      <m:e>
                        <m:r>
                          <a:rPr lang="ar-AE">
                            <a:solidFill>
                              <a:srgbClr val="660874"/>
                            </a:solidFill>
                            <a:latin typeface="Cambria Math" panose="02040503050406030204" pitchFamily="18" charset="0"/>
                          </a:rPr>
                          <m:t>0</m:t>
                        </m:r>
                      </m:e>
                      <m:e>
                        <m:r>
                          <a:rPr lang="ar-AE" i="1">
                            <a:solidFill>
                              <a:srgbClr val="660874"/>
                            </a:solidFill>
                            <a:latin typeface="Cambria Math" panose="02040503050406030204" pitchFamily="18" charset="0"/>
                          </a:rPr>
                          <m:t>𝐼</m:t>
                        </m:r>
                      </m:e>
                    </m:d>
                  </m:oMath>
                </a14:m>
                <a:r>
                  <a:rPr lang="en-US" dirty="0">
                    <a:solidFill>
                      <a:srgbClr val="660874"/>
                    </a:solidFill>
                  </a:rPr>
                  <a:t>is a random Gaussian noise.</a:t>
                </a:r>
              </a:p>
              <a:p>
                <a:endParaRPr lang="en-US" dirty="0">
                  <a:solidFill>
                    <a:srgbClr val="660874"/>
                  </a:solidFill>
                </a:endParaRPr>
              </a:p>
              <a:p>
                <a:r>
                  <a:rPr lang="en-US" dirty="0">
                    <a:solidFill>
                      <a:srgbClr val="660874"/>
                    </a:solidFill>
                  </a:rPr>
                  <a:t>- Backward(denoising) diffusion process:</a:t>
                </a:r>
              </a:p>
              <a:p>
                <a:pPr algn="ctr"/>
                <a14:m>
                  <m:oMath xmlns:m="http://schemas.openxmlformats.org/officeDocument/2006/math">
                    <m:limLow>
                      <m:limLowPr>
                        <m:ctrlPr>
                          <a:rPr lang="ar-AE">
                            <a:solidFill>
                              <a:srgbClr val="660874"/>
                            </a:solidFill>
                          </a:rPr>
                        </m:ctrlPr>
                      </m:limLowPr>
                      <m:e>
                        <m:groupChr>
                          <m:groupChrPr>
                            <m:chr m:val="⏟"/>
                            <m:ctrlPr>
                              <a:rPr lang="ar-AE">
                                <a:solidFill>
                                  <a:srgbClr val="660874"/>
                                </a:solidFill>
                              </a:rPr>
                            </m:ctrlPr>
                          </m:groupChrPr>
                          <m:e>
                            <m:sSub>
                              <m:sSubPr>
                                <m:ctrlPr>
                                  <a:rPr lang="ar-AE">
                                    <a:solidFill>
                                      <a:srgbClr val="660874"/>
                                    </a:solidFill>
                                  </a:rPr>
                                </m:ctrlPr>
                              </m:sSubPr>
                              <m:e>
                                <m:acc>
                                  <m:accPr>
                                    <m:chr m:val="̂"/>
                                    <m:ctrlPr>
                                      <a:rPr lang="ar-AE">
                                        <a:solidFill>
                                          <a:srgbClr val="660874"/>
                                        </a:solidFill>
                                      </a:rPr>
                                    </m:ctrlPr>
                                  </m:accPr>
                                  <m:e>
                                    <m:r>
                                      <a:rPr lang="ar-AE">
                                        <a:solidFill>
                                          <a:srgbClr val="660874"/>
                                        </a:solidFill>
                                      </a:rPr>
                                      <m:t>𝑥</m:t>
                                    </m:r>
                                  </m:e>
                                </m:acc>
                              </m:e>
                              <m:sub>
                                <m:r>
                                  <a:rPr lang="ar-AE">
                                    <a:solidFill>
                                      <a:srgbClr val="660874"/>
                                    </a:solidFill>
                                  </a:rPr>
                                  <m:t>𝑡</m:t>
                                </m:r>
                                <m:r>
                                  <a:rPr lang="ar-AE">
                                    <a:solidFill>
                                      <a:srgbClr val="660874"/>
                                    </a:solidFill>
                                  </a:rPr>
                                  <m:t>−</m:t>
                                </m:r>
                                <m:r>
                                  <a:rPr lang="ar-AE">
                                    <a:solidFill>
                                      <a:srgbClr val="660874"/>
                                    </a:solidFill>
                                  </a:rPr>
                                  <m:t>1</m:t>
                                </m:r>
                              </m:sub>
                            </m:sSub>
                          </m:e>
                        </m:groupChr>
                      </m:e>
                      <m:lim>
                        <m:r>
                          <m:rPr>
                            <m:nor/>
                          </m:rPr>
                          <a:rPr lang="en-US">
                            <a:solidFill>
                              <a:srgbClr val="660874"/>
                            </a:solidFill>
                          </a:rPr>
                          <m:t>cleaner</m:t>
                        </m:r>
                        <m:r>
                          <m:rPr>
                            <m:nor/>
                          </m:rPr>
                          <a:rPr lang="en-US">
                            <a:solidFill>
                              <a:srgbClr val="660874"/>
                            </a:solidFill>
                          </a:rPr>
                          <m:t> </m:t>
                        </m:r>
                        <m:r>
                          <m:rPr>
                            <m:nor/>
                          </m:rPr>
                          <a:rPr lang="en-US">
                            <a:solidFill>
                              <a:srgbClr val="660874"/>
                            </a:solidFill>
                          </a:rPr>
                          <m:t>image</m:t>
                        </m:r>
                      </m:lim>
                    </m:limLow>
                    <m:r>
                      <a:rPr lang="ar-AE">
                        <a:solidFill>
                          <a:srgbClr val="660874"/>
                        </a:solidFill>
                      </a:rPr>
                      <m:t>=</m:t>
                    </m:r>
                    <m:limLow>
                      <m:limLowPr>
                        <m:ctrlPr>
                          <a:rPr lang="ar-AE">
                            <a:solidFill>
                              <a:srgbClr val="660874"/>
                            </a:solidFill>
                          </a:rPr>
                        </m:ctrlPr>
                      </m:limLowPr>
                      <m:e>
                        <m:groupChr>
                          <m:groupChrPr>
                            <m:chr m:val="⏟"/>
                            <m:ctrlPr>
                              <a:rPr lang="ar-AE">
                                <a:solidFill>
                                  <a:srgbClr val="660874"/>
                                </a:solidFill>
                              </a:rPr>
                            </m:ctrlPr>
                          </m:groupChrPr>
                          <m:e>
                            <m:rad>
                              <m:radPr>
                                <m:degHide m:val="on"/>
                                <m:ctrlPr>
                                  <a:rPr lang="ar-AE">
                                    <a:solidFill>
                                      <a:srgbClr val="660874"/>
                                    </a:solidFill>
                                  </a:rPr>
                                </m:ctrlPr>
                              </m:radPr>
                              <m:deg/>
                              <m:e>
                                <m:f>
                                  <m:fPr>
                                    <m:ctrlPr>
                                      <a:rPr lang="ar-AE">
                                        <a:solidFill>
                                          <a:srgbClr val="660874"/>
                                        </a:solidFill>
                                      </a:rPr>
                                    </m:ctrlPr>
                                  </m:fPr>
                                  <m:num>
                                    <m:sSub>
                                      <m:sSubPr>
                                        <m:ctrlPr>
                                          <a:rPr lang="ar-AE">
                                            <a:solidFill>
                                              <a:srgbClr val="660874"/>
                                            </a:solidFill>
                                          </a:rPr>
                                        </m:ctrlPr>
                                      </m:sSubPr>
                                      <m:e>
                                        <m:r>
                                          <a:rPr lang="ar-AE">
                                            <a:solidFill>
                                              <a:srgbClr val="660874"/>
                                            </a:solidFill>
                                          </a:rPr>
                                          <m:t>𝛼</m:t>
                                        </m:r>
                                      </m:e>
                                      <m:sub>
                                        <m:r>
                                          <a:rPr lang="ar-AE">
                                            <a:solidFill>
                                              <a:srgbClr val="660874"/>
                                            </a:solidFill>
                                          </a:rPr>
                                          <m:t>𝑡</m:t>
                                        </m:r>
                                        <m:r>
                                          <a:rPr lang="ar-AE">
                                            <a:solidFill>
                                              <a:srgbClr val="660874"/>
                                            </a:solidFill>
                                          </a:rPr>
                                          <m:t>−</m:t>
                                        </m:r>
                                        <m:r>
                                          <a:rPr lang="ar-AE">
                                            <a:solidFill>
                                              <a:srgbClr val="660874"/>
                                            </a:solidFill>
                                          </a:rPr>
                                          <m:t>1</m:t>
                                        </m:r>
                                      </m:sub>
                                    </m:sSub>
                                  </m:num>
                                  <m:den>
                                    <m:sSub>
                                      <m:sSubPr>
                                        <m:ctrlPr>
                                          <a:rPr lang="ar-AE">
                                            <a:solidFill>
                                              <a:srgbClr val="660874"/>
                                            </a:solidFill>
                                          </a:rPr>
                                        </m:ctrlPr>
                                      </m:sSubPr>
                                      <m:e>
                                        <m:r>
                                          <a:rPr lang="ar-AE">
                                            <a:solidFill>
                                              <a:srgbClr val="660874"/>
                                            </a:solidFill>
                                          </a:rPr>
                                          <m:t>𝛼</m:t>
                                        </m:r>
                                      </m:e>
                                      <m:sub>
                                        <m:r>
                                          <a:rPr lang="ar-AE">
                                            <a:solidFill>
                                              <a:srgbClr val="660874"/>
                                            </a:solidFill>
                                          </a:rPr>
                                          <m:t>𝑡</m:t>
                                        </m:r>
                                      </m:sub>
                                    </m:sSub>
                                  </m:den>
                                </m:f>
                              </m:e>
                            </m:rad>
                            <m:r>
                              <m:rPr>
                                <m:nor/>
                              </m:rPr>
                              <a:rPr lang="ar-AE">
                                <a:solidFill>
                                  <a:srgbClr val="660874"/>
                                </a:solidFill>
                              </a:rPr>
                              <m:t> </m:t>
                            </m:r>
                            <m:sSub>
                              <m:sSubPr>
                                <m:ctrlPr>
                                  <a:rPr lang="ar-AE">
                                    <a:solidFill>
                                      <a:srgbClr val="660874"/>
                                    </a:solidFill>
                                  </a:rPr>
                                </m:ctrlPr>
                              </m:sSubPr>
                              <m:e>
                                <m:acc>
                                  <m:accPr>
                                    <m:chr m:val="̂"/>
                                    <m:ctrlPr>
                                      <a:rPr lang="ar-AE">
                                        <a:solidFill>
                                          <a:srgbClr val="660874"/>
                                        </a:solidFill>
                                      </a:rPr>
                                    </m:ctrlPr>
                                  </m:accPr>
                                  <m:e>
                                    <m:r>
                                      <a:rPr lang="ar-AE">
                                        <a:solidFill>
                                          <a:srgbClr val="660874"/>
                                        </a:solidFill>
                                      </a:rPr>
                                      <m:t>𝑥</m:t>
                                    </m:r>
                                  </m:e>
                                </m:acc>
                              </m:e>
                              <m:sub>
                                <m:r>
                                  <a:rPr lang="ar-AE">
                                    <a:solidFill>
                                      <a:srgbClr val="660874"/>
                                    </a:solidFill>
                                  </a:rPr>
                                  <m:t>𝑡</m:t>
                                </m:r>
                              </m:sub>
                            </m:sSub>
                          </m:e>
                        </m:groupChr>
                      </m:e>
                      <m:lim>
                        <m:r>
                          <m:rPr>
                            <m:nor/>
                          </m:rPr>
                          <a:rPr lang="en-US">
                            <a:solidFill>
                              <a:srgbClr val="660874"/>
                            </a:solidFill>
                          </a:rPr>
                          <m:t>scaled</m:t>
                        </m:r>
                        <m:r>
                          <m:rPr>
                            <m:nor/>
                          </m:rPr>
                          <a:rPr lang="en-US">
                            <a:solidFill>
                              <a:srgbClr val="660874"/>
                            </a:solidFill>
                          </a:rPr>
                          <m:t> </m:t>
                        </m:r>
                        <m:r>
                          <m:rPr>
                            <m:nor/>
                          </m:rPr>
                          <a:rPr lang="en-US">
                            <a:solidFill>
                              <a:srgbClr val="660874"/>
                            </a:solidFill>
                          </a:rPr>
                          <m:t>noisy</m:t>
                        </m:r>
                        <m:r>
                          <m:rPr>
                            <m:nor/>
                          </m:rPr>
                          <a:rPr lang="en-US">
                            <a:solidFill>
                              <a:srgbClr val="660874"/>
                            </a:solidFill>
                          </a:rPr>
                          <m:t> </m:t>
                        </m:r>
                        <m:r>
                          <m:rPr>
                            <m:nor/>
                          </m:rPr>
                          <a:rPr lang="en-US">
                            <a:solidFill>
                              <a:srgbClr val="660874"/>
                            </a:solidFill>
                          </a:rPr>
                          <m:t>image</m:t>
                        </m:r>
                      </m:lim>
                    </m:limLow>
                    <m:r>
                      <a:rPr lang="ar-AE">
                        <a:solidFill>
                          <a:srgbClr val="660874"/>
                        </a:solidFill>
                      </a:rPr>
                      <m:t>+</m:t>
                    </m:r>
                    <m:limLow>
                      <m:limLowPr>
                        <m:ctrlPr>
                          <a:rPr lang="ar-AE">
                            <a:solidFill>
                              <a:srgbClr val="660874"/>
                            </a:solidFill>
                          </a:rPr>
                        </m:ctrlPr>
                      </m:limLowPr>
                      <m:e>
                        <m:groupChr>
                          <m:groupChrPr>
                            <m:chr m:val="⏟"/>
                            <m:ctrlPr>
                              <a:rPr lang="ar-AE">
                                <a:solidFill>
                                  <a:srgbClr val="660874"/>
                                </a:solidFill>
                              </a:rPr>
                            </m:ctrlPr>
                          </m:groupChrPr>
                          <m:e>
                            <m:d>
                              <m:dPr>
                                <m:ctrlPr>
                                  <a:rPr lang="ar-AE">
                                    <a:solidFill>
                                      <a:srgbClr val="660874"/>
                                    </a:solidFill>
                                  </a:rPr>
                                </m:ctrlPr>
                              </m:dPr>
                              <m:e>
                                <m:rad>
                                  <m:radPr>
                                    <m:degHide m:val="on"/>
                                    <m:ctrlPr>
                                      <a:rPr lang="ar-AE">
                                        <a:solidFill>
                                          <a:srgbClr val="660874"/>
                                        </a:solidFill>
                                      </a:rPr>
                                    </m:ctrlPr>
                                  </m:radPr>
                                  <m:deg/>
                                  <m:e>
                                    <m:f>
                                      <m:fPr>
                                        <m:ctrlPr>
                                          <a:rPr lang="ar-AE">
                                            <a:solidFill>
                                              <a:srgbClr val="660874"/>
                                            </a:solidFill>
                                          </a:rPr>
                                        </m:ctrlPr>
                                      </m:fPr>
                                      <m:num>
                                        <m:r>
                                          <a:rPr lang="ar-AE">
                                            <a:solidFill>
                                              <a:srgbClr val="660874"/>
                                            </a:solidFill>
                                          </a:rPr>
                                          <m:t>1</m:t>
                                        </m:r>
                                      </m:num>
                                      <m:den>
                                        <m:sSub>
                                          <m:sSubPr>
                                            <m:ctrlPr>
                                              <a:rPr lang="ar-AE">
                                                <a:solidFill>
                                                  <a:srgbClr val="660874"/>
                                                </a:solidFill>
                                              </a:rPr>
                                            </m:ctrlPr>
                                          </m:sSubPr>
                                          <m:e>
                                            <m:r>
                                              <a:rPr lang="ar-AE">
                                                <a:solidFill>
                                                  <a:srgbClr val="660874"/>
                                                </a:solidFill>
                                              </a:rPr>
                                              <m:t>𝛼</m:t>
                                            </m:r>
                                          </m:e>
                                          <m:sub>
                                            <m:r>
                                              <a:rPr lang="ar-AE">
                                                <a:solidFill>
                                                  <a:srgbClr val="660874"/>
                                                </a:solidFill>
                                              </a:rPr>
                                              <m:t>𝑡</m:t>
                                            </m:r>
                                            <m:r>
                                              <a:rPr lang="ar-AE">
                                                <a:solidFill>
                                                  <a:srgbClr val="660874"/>
                                                </a:solidFill>
                                              </a:rPr>
                                              <m:t>−</m:t>
                                            </m:r>
                                            <m:r>
                                              <a:rPr lang="ar-AE">
                                                <a:solidFill>
                                                  <a:srgbClr val="660874"/>
                                                </a:solidFill>
                                              </a:rPr>
                                              <m:t>1</m:t>
                                            </m:r>
                                          </m:sub>
                                        </m:sSub>
                                      </m:den>
                                    </m:f>
                                    <m:r>
                                      <a:rPr lang="ar-AE">
                                        <a:solidFill>
                                          <a:srgbClr val="660874"/>
                                        </a:solidFill>
                                      </a:rPr>
                                      <m:t>−</m:t>
                                    </m:r>
                                    <m:r>
                                      <a:rPr lang="ar-AE">
                                        <a:solidFill>
                                          <a:srgbClr val="660874"/>
                                        </a:solidFill>
                                      </a:rPr>
                                      <m:t>1</m:t>
                                    </m:r>
                                  </m:e>
                                </m:rad>
                                <m:r>
                                  <a:rPr lang="ar-AE">
                                    <a:solidFill>
                                      <a:srgbClr val="660874"/>
                                    </a:solidFill>
                                  </a:rPr>
                                  <m:t>−</m:t>
                                </m:r>
                                <m:rad>
                                  <m:radPr>
                                    <m:degHide m:val="on"/>
                                    <m:ctrlPr>
                                      <a:rPr lang="ar-AE">
                                        <a:solidFill>
                                          <a:srgbClr val="660874"/>
                                        </a:solidFill>
                                      </a:rPr>
                                    </m:ctrlPr>
                                  </m:radPr>
                                  <m:deg/>
                                  <m:e>
                                    <m:f>
                                      <m:fPr>
                                        <m:ctrlPr>
                                          <a:rPr lang="ar-AE">
                                            <a:solidFill>
                                              <a:srgbClr val="660874"/>
                                            </a:solidFill>
                                          </a:rPr>
                                        </m:ctrlPr>
                                      </m:fPr>
                                      <m:num>
                                        <m:r>
                                          <a:rPr lang="ar-AE">
                                            <a:solidFill>
                                              <a:srgbClr val="660874"/>
                                            </a:solidFill>
                                          </a:rPr>
                                          <m:t>1</m:t>
                                        </m:r>
                                      </m:num>
                                      <m:den>
                                        <m:sSub>
                                          <m:sSubPr>
                                            <m:ctrlPr>
                                              <a:rPr lang="ar-AE">
                                                <a:solidFill>
                                                  <a:srgbClr val="660874"/>
                                                </a:solidFill>
                                              </a:rPr>
                                            </m:ctrlPr>
                                          </m:sSubPr>
                                          <m:e>
                                            <m:r>
                                              <a:rPr lang="ar-AE">
                                                <a:solidFill>
                                                  <a:srgbClr val="660874"/>
                                                </a:solidFill>
                                              </a:rPr>
                                              <m:t>𝛼</m:t>
                                            </m:r>
                                          </m:e>
                                          <m:sub>
                                            <m:r>
                                              <a:rPr lang="ar-AE">
                                                <a:solidFill>
                                                  <a:srgbClr val="660874"/>
                                                </a:solidFill>
                                              </a:rPr>
                                              <m:t>𝑡</m:t>
                                            </m:r>
                                          </m:sub>
                                        </m:sSub>
                                      </m:den>
                                    </m:f>
                                    <m:r>
                                      <a:rPr lang="ar-AE">
                                        <a:solidFill>
                                          <a:srgbClr val="660874"/>
                                        </a:solidFill>
                                      </a:rPr>
                                      <m:t>−</m:t>
                                    </m:r>
                                    <m:r>
                                      <a:rPr lang="ar-AE">
                                        <a:solidFill>
                                          <a:srgbClr val="660874"/>
                                        </a:solidFill>
                                      </a:rPr>
                                      <m:t>1</m:t>
                                    </m:r>
                                  </m:e>
                                </m:rad>
                              </m:e>
                            </m:d>
                            <m:r>
                              <m:rPr>
                                <m:nor/>
                              </m:rPr>
                              <a:rPr lang="ar-AE">
                                <a:solidFill>
                                  <a:srgbClr val="660874"/>
                                </a:solidFill>
                              </a:rPr>
                              <m:t> </m:t>
                            </m:r>
                            <m:sSub>
                              <m:sSubPr>
                                <m:ctrlPr>
                                  <a:rPr lang="ar-AE">
                                    <a:solidFill>
                                      <a:srgbClr val="660874"/>
                                    </a:solidFill>
                                  </a:rPr>
                                </m:ctrlPr>
                              </m:sSubPr>
                              <m:e>
                                <m:r>
                                  <a:rPr lang="ar-AE">
                                    <a:solidFill>
                                      <a:srgbClr val="660874"/>
                                    </a:solidFill>
                                  </a:rPr>
                                  <m:t>𝜖</m:t>
                                </m:r>
                              </m:e>
                              <m:sub>
                                <m:r>
                                  <a:rPr lang="ar-AE">
                                    <a:solidFill>
                                      <a:srgbClr val="660874"/>
                                    </a:solidFill>
                                  </a:rPr>
                                  <m:t>𝜃</m:t>
                                </m:r>
                              </m:sub>
                            </m:sSub>
                            <m:d>
                              <m:dPr>
                                <m:sepChr m:val=","/>
                                <m:ctrlPr>
                                  <a:rPr lang="ar-AE">
                                    <a:solidFill>
                                      <a:srgbClr val="660874"/>
                                    </a:solidFill>
                                  </a:rPr>
                                </m:ctrlPr>
                              </m:dPr>
                              <m:e>
                                <m:sSub>
                                  <m:sSubPr>
                                    <m:ctrlPr>
                                      <a:rPr lang="ar-AE">
                                        <a:solidFill>
                                          <a:srgbClr val="660874"/>
                                        </a:solidFill>
                                      </a:rPr>
                                    </m:ctrlPr>
                                  </m:sSubPr>
                                  <m:e>
                                    <m:acc>
                                      <m:accPr>
                                        <m:chr m:val="̂"/>
                                        <m:ctrlPr>
                                          <a:rPr lang="ar-AE">
                                            <a:solidFill>
                                              <a:srgbClr val="660874"/>
                                            </a:solidFill>
                                          </a:rPr>
                                        </m:ctrlPr>
                                      </m:accPr>
                                      <m:e>
                                        <m:r>
                                          <a:rPr lang="ar-AE">
                                            <a:solidFill>
                                              <a:srgbClr val="660874"/>
                                            </a:solidFill>
                                          </a:rPr>
                                          <m:t>𝑥</m:t>
                                        </m:r>
                                      </m:e>
                                    </m:acc>
                                  </m:e>
                                  <m:sub>
                                    <m:r>
                                      <a:rPr lang="ar-AE">
                                        <a:solidFill>
                                          <a:srgbClr val="660874"/>
                                        </a:solidFill>
                                      </a:rPr>
                                      <m:t>𝑡</m:t>
                                    </m:r>
                                  </m:sub>
                                </m:sSub>
                              </m:e>
                              <m:e>
                                <m:r>
                                  <a:rPr lang="ar-AE">
                                    <a:solidFill>
                                      <a:srgbClr val="660874"/>
                                    </a:solidFill>
                                  </a:rPr>
                                  <m:t>𝑡</m:t>
                                </m:r>
                              </m:e>
                            </m:d>
                          </m:e>
                        </m:groupChr>
                      </m:e>
                      <m:lim>
                        <m:r>
                          <m:rPr>
                            <m:nor/>
                          </m:rPr>
                          <a:rPr lang="en-US">
                            <a:solidFill>
                              <a:srgbClr val="660874"/>
                            </a:solidFill>
                          </a:rPr>
                          <m:t>predicted</m:t>
                        </m:r>
                        <m:r>
                          <m:rPr>
                            <m:nor/>
                          </m:rPr>
                          <a:rPr lang="en-US">
                            <a:solidFill>
                              <a:srgbClr val="660874"/>
                            </a:solidFill>
                          </a:rPr>
                          <m:t> </m:t>
                        </m:r>
                        <m:r>
                          <m:rPr>
                            <m:nor/>
                          </m:rPr>
                          <a:rPr lang="en-US">
                            <a:solidFill>
                              <a:srgbClr val="660874"/>
                            </a:solidFill>
                          </a:rPr>
                          <m:t>noise</m:t>
                        </m:r>
                        <m:r>
                          <m:rPr>
                            <m:nor/>
                          </m:rPr>
                          <a:rPr lang="en-US">
                            <a:solidFill>
                              <a:srgbClr val="660874"/>
                            </a:solidFill>
                          </a:rPr>
                          <m:t> </m:t>
                        </m:r>
                        <m:r>
                          <m:rPr>
                            <m:nor/>
                          </m:rPr>
                          <a:rPr lang="en-US">
                            <a:solidFill>
                              <a:srgbClr val="660874"/>
                            </a:solidFill>
                          </a:rPr>
                          <m:t>correction</m:t>
                        </m:r>
                      </m:lim>
                    </m:limLow>
                  </m:oMath>
                </a14:m>
                <a:r>
                  <a:rPr lang="en-US" dirty="0">
                    <a:solidFill>
                      <a:srgbClr val="660874"/>
                    </a:solidFill>
                  </a:rPr>
                  <a:t>, </a:t>
                </a:r>
              </a:p>
              <a:p>
                <a:r>
                  <a:rPr lang="en-US" dirty="0">
                    <a:solidFill>
                      <a:srgbClr val="660874"/>
                    </a:solidFill>
                  </a:rPr>
                  <a:t>where </a:t>
                </a:r>
                <a14:m>
                  <m:oMath xmlns:m="http://schemas.openxmlformats.org/officeDocument/2006/math">
                    <m:sSub>
                      <m:sSubPr>
                        <m:ctrlPr>
                          <a:rPr lang="ar-AE">
                            <a:solidFill>
                              <a:srgbClr val="660874"/>
                            </a:solidFill>
                          </a:rPr>
                        </m:ctrlPr>
                      </m:sSubPr>
                      <m:e>
                        <m:r>
                          <a:rPr lang="ar-AE">
                            <a:solidFill>
                              <a:srgbClr val="660874"/>
                            </a:solidFill>
                          </a:rPr>
                          <m:t>𝛼</m:t>
                        </m:r>
                      </m:e>
                      <m:sub>
                        <m:r>
                          <a:rPr lang="ar-AE">
                            <a:solidFill>
                              <a:srgbClr val="660874"/>
                            </a:solidFill>
                          </a:rPr>
                          <m:t>𝑡</m:t>
                        </m:r>
                      </m:sub>
                    </m:sSub>
                    <m:r>
                      <a:rPr lang="en-US">
                        <a:solidFill>
                          <a:srgbClr val="660874"/>
                        </a:solidFill>
                      </a:rPr>
                      <m:t>=</m:t>
                    </m:r>
                    <m:sSub>
                      <m:sSubPr>
                        <m:ctrlPr>
                          <a:rPr lang="ar-AE">
                            <a:solidFill>
                              <a:srgbClr val="660874"/>
                            </a:solidFill>
                          </a:rPr>
                        </m:ctrlPr>
                      </m:sSubPr>
                      <m:e>
                        <m:r>
                          <a:rPr lang="en-US">
                            <a:solidFill>
                              <a:srgbClr val="660874"/>
                            </a:solidFill>
                          </a:rPr>
                          <m:t>1</m:t>
                        </m:r>
                        <m:r>
                          <a:rPr lang="en-US">
                            <a:solidFill>
                              <a:srgbClr val="660874"/>
                            </a:solidFill>
                          </a:rPr>
                          <m:t>− </m:t>
                        </m:r>
                        <m:r>
                          <a:rPr lang="ar-AE">
                            <a:solidFill>
                              <a:srgbClr val="660874"/>
                            </a:solidFill>
                          </a:rPr>
                          <m:t>𝛽</m:t>
                        </m:r>
                      </m:e>
                      <m:sub>
                        <m:r>
                          <a:rPr lang="ar-AE">
                            <a:solidFill>
                              <a:srgbClr val="660874"/>
                            </a:solidFill>
                          </a:rPr>
                          <m:t>𝑡</m:t>
                        </m:r>
                      </m:sub>
                    </m:sSub>
                    <m:r>
                      <a:rPr lang="en-US">
                        <a:solidFill>
                          <a:srgbClr val="660874"/>
                        </a:solidFill>
                      </a:rPr>
                      <m:t>,</m:t>
                    </m:r>
                    <m:r>
                      <m:rPr>
                        <m:nor/>
                      </m:rPr>
                      <a:rPr lang="en-US">
                        <a:solidFill>
                          <a:srgbClr val="660874"/>
                        </a:solidFill>
                      </a:rPr>
                      <m:t>the</m:t>
                    </m:r>
                    <m:r>
                      <m:rPr>
                        <m:nor/>
                      </m:rPr>
                      <a:rPr lang="en-US">
                        <a:solidFill>
                          <a:srgbClr val="660874"/>
                        </a:solidFill>
                      </a:rPr>
                      <m:t> </m:t>
                    </m:r>
                    <m:r>
                      <m:rPr>
                        <m:nor/>
                      </m:rPr>
                      <a:rPr lang="en-US">
                        <a:solidFill>
                          <a:srgbClr val="660874"/>
                        </a:solidFill>
                      </a:rPr>
                      <m:t>term</m:t>
                    </m:r>
                    <m:r>
                      <m:rPr>
                        <m:nor/>
                      </m:rPr>
                      <a:rPr lang="en-US">
                        <a:solidFill>
                          <a:srgbClr val="660874"/>
                        </a:solidFill>
                      </a:rPr>
                      <m:t> </m:t>
                    </m:r>
                    <m:r>
                      <a:rPr lang="en-US">
                        <a:solidFill>
                          <a:srgbClr val="660874"/>
                        </a:solidFill>
                      </a:rPr>
                      <m:t>𝜃</m:t>
                    </m:r>
                    <m:r>
                      <a:rPr lang="en-US" b="0" i="0" smtClean="0">
                        <a:solidFill>
                          <a:srgbClr val="660874"/>
                        </a:solidFill>
                        <a:latin typeface="Cambria Math" panose="02040503050406030204" pitchFamily="18" charset="0"/>
                      </a:rPr>
                      <m:t> </m:t>
                    </m:r>
                    <m:r>
                      <m:rPr>
                        <m:nor/>
                      </m:rPr>
                      <a:rPr lang="en-US">
                        <a:solidFill>
                          <a:srgbClr val="660874"/>
                        </a:solidFill>
                      </a:rPr>
                      <m:t>in</m:t>
                    </m:r>
                    <m:r>
                      <m:rPr>
                        <m:nor/>
                      </m:rPr>
                      <a:rPr lang="en-US">
                        <a:solidFill>
                          <a:srgbClr val="660874"/>
                        </a:solidFill>
                      </a:rPr>
                      <m:t> </m:t>
                    </m:r>
                    <m:sSub>
                      <m:sSubPr>
                        <m:ctrlPr>
                          <a:rPr lang="ar-AE">
                            <a:solidFill>
                              <a:srgbClr val="660874"/>
                            </a:solidFill>
                          </a:rPr>
                        </m:ctrlPr>
                      </m:sSubPr>
                      <m:e>
                        <m:r>
                          <a:rPr lang="ar-AE">
                            <a:solidFill>
                              <a:srgbClr val="660874"/>
                            </a:solidFill>
                          </a:rPr>
                          <m:t>𝜖</m:t>
                        </m:r>
                      </m:e>
                      <m:sub>
                        <m:r>
                          <a:rPr lang="ar-AE">
                            <a:solidFill>
                              <a:srgbClr val="660874"/>
                            </a:solidFill>
                          </a:rPr>
                          <m:t>𝜃</m:t>
                        </m:r>
                      </m:sub>
                    </m:sSub>
                    <m:d>
                      <m:dPr>
                        <m:sepChr m:val=","/>
                        <m:ctrlPr>
                          <a:rPr lang="ar-AE">
                            <a:solidFill>
                              <a:srgbClr val="660874"/>
                            </a:solidFill>
                          </a:rPr>
                        </m:ctrlPr>
                      </m:dPr>
                      <m:e>
                        <m:sSub>
                          <m:sSubPr>
                            <m:ctrlPr>
                              <a:rPr lang="ar-AE" i="1" smtClean="0">
                                <a:solidFill>
                                  <a:srgbClr val="660874"/>
                                </a:solidFill>
                                <a:latin typeface="Cambria Math" panose="02040503050406030204" pitchFamily="18" charset="0"/>
                              </a:rPr>
                            </m:ctrlPr>
                          </m:sSubPr>
                          <m:e>
                            <m:acc>
                              <m:accPr>
                                <m:chr m:val="̂"/>
                                <m:ctrlPr>
                                  <a:rPr lang="ar-AE" i="1">
                                    <a:solidFill>
                                      <a:srgbClr val="660874"/>
                                    </a:solidFill>
                                    <a:latin typeface="Cambria Math" panose="02040503050406030204" pitchFamily="18" charset="0"/>
                                  </a:rPr>
                                </m:ctrlPr>
                              </m:accPr>
                              <m:e>
                                <m:r>
                                  <a:rPr lang="ar-AE">
                                    <a:solidFill>
                                      <a:srgbClr val="660874"/>
                                    </a:solidFill>
                                    <a:latin typeface="Cambria Math" panose="02040503050406030204" pitchFamily="18" charset="0"/>
                                  </a:rPr>
                                  <m:t>𝑥</m:t>
                                </m:r>
                              </m:e>
                            </m:acc>
                          </m:e>
                          <m:sub>
                            <m:r>
                              <a:rPr lang="ar-AE">
                                <a:solidFill>
                                  <a:srgbClr val="660874"/>
                                </a:solidFill>
                                <a:latin typeface="Cambria Math" panose="02040503050406030204" pitchFamily="18" charset="0"/>
                              </a:rPr>
                              <m:t>𝑡</m:t>
                            </m:r>
                          </m:sub>
                        </m:sSub>
                      </m:e>
                      <m:e>
                        <m:r>
                          <a:rPr lang="ar-AE">
                            <a:solidFill>
                              <a:srgbClr val="660874"/>
                            </a:solidFill>
                          </a:rPr>
                          <m:t>𝑡</m:t>
                        </m:r>
                      </m:e>
                    </m:d>
                    <m:r>
                      <m:rPr>
                        <m:nor/>
                      </m:rPr>
                      <a:rPr lang="en-US" b="0" i="0" smtClean="0">
                        <a:solidFill>
                          <a:srgbClr val="660874"/>
                        </a:solidFill>
                      </a:rPr>
                      <m:t> </m:t>
                    </m:r>
                    <m:r>
                      <m:rPr>
                        <m:nor/>
                      </m:rPr>
                      <a:rPr lang="en-US">
                        <a:solidFill>
                          <a:srgbClr val="660874"/>
                        </a:solidFill>
                      </a:rPr>
                      <m:t>refers</m:t>
                    </m:r>
                    <m:r>
                      <m:rPr>
                        <m:nor/>
                      </m:rPr>
                      <a:rPr lang="en-US">
                        <a:solidFill>
                          <a:srgbClr val="660874"/>
                        </a:solidFill>
                      </a:rPr>
                      <m:t> </m:t>
                    </m:r>
                    <m:r>
                      <m:rPr>
                        <m:nor/>
                      </m:rPr>
                      <a:rPr lang="en-US">
                        <a:solidFill>
                          <a:srgbClr val="660874"/>
                        </a:solidFill>
                      </a:rPr>
                      <m:t>to</m:t>
                    </m:r>
                    <m:r>
                      <m:rPr>
                        <m:nor/>
                      </m:rPr>
                      <a:rPr lang="en-US">
                        <a:solidFill>
                          <a:srgbClr val="660874"/>
                        </a:solidFill>
                      </a:rPr>
                      <m:t> </m:t>
                    </m:r>
                    <m:r>
                      <m:rPr>
                        <m:nor/>
                      </m:rPr>
                      <a:rPr lang="en-US">
                        <a:solidFill>
                          <a:srgbClr val="660874"/>
                        </a:solidFill>
                      </a:rPr>
                      <m:t>the</m:t>
                    </m:r>
                    <m:r>
                      <m:rPr>
                        <m:nor/>
                      </m:rPr>
                      <a:rPr lang="en-US">
                        <a:solidFill>
                          <a:srgbClr val="660874"/>
                        </a:solidFill>
                      </a:rPr>
                      <m:t> </m:t>
                    </m:r>
                    <m:r>
                      <m:rPr>
                        <m:nor/>
                      </m:rPr>
                      <a:rPr lang="en-US">
                        <a:solidFill>
                          <a:srgbClr val="660874"/>
                        </a:solidFill>
                      </a:rPr>
                      <m:t>learnable</m:t>
                    </m:r>
                    <m:r>
                      <m:rPr>
                        <m:nor/>
                      </m:rPr>
                      <a:rPr lang="en-US">
                        <a:solidFill>
                          <a:srgbClr val="660874"/>
                        </a:solidFill>
                      </a:rPr>
                      <m:t> </m:t>
                    </m:r>
                    <m:r>
                      <m:rPr>
                        <m:nor/>
                      </m:rPr>
                      <a:rPr lang="en-US">
                        <a:solidFill>
                          <a:srgbClr val="660874"/>
                        </a:solidFill>
                      </a:rPr>
                      <m:t>parameters</m:t>
                    </m:r>
                    <m:r>
                      <m:rPr>
                        <m:nor/>
                      </m:rPr>
                      <a:rPr lang="en-US">
                        <a:solidFill>
                          <a:srgbClr val="660874"/>
                        </a:solidFill>
                      </a:rPr>
                      <m:t> </m:t>
                    </m:r>
                    <m:r>
                      <m:rPr>
                        <m:nor/>
                      </m:rPr>
                      <a:rPr lang="en-US">
                        <a:solidFill>
                          <a:srgbClr val="660874"/>
                        </a:solidFill>
                      </a:rPr>
                      <m:t>of</m:t>
                    </m:r>
                    <m:r>
                      <m:rPr>
                        <m:nor/>
                      </m:rPr>
                      <a:rPr lang="en-US">
                        <a:solidFill>
                          <a:srgbClr val="660874"/>
                        </a:solidFill>
                      </a:rPr>
                      <m:t> </m:t>
                    </m:r>
                    <m:r>
                      <m:rPr>
                        <m:nor/>
                      </m:rPr>
                      <a:rPr lang="en-US">
                        <a:solidFill>
                          <a:srgbClr val="660874"/>
                        </a:solidFill>
                      </a:rPr>
                      <m:t>the</m:t>
                    </m:r>
                    <m:r>
                      <m:rPr>
                        <m:nor/>
                      </m:rPr>
                      <a:rPr lang="en-US">
                        <a:solidFill>
                          <a:srgbClr val="660874"/>
                        </a:solidFill>
                      </a:rPr>
                      <m:t> </m:t>
                    </m:r>
                    <m:r>
                      <m:rPr>
                        <m:nor/>
                      </m:rPr>
                      <a:rPr lang="en-US">
                        <a:solidFill>
                          <a:srgbClr val="660874"/>
                        </a:solidFill>
                      </a:rPr>
                      <m:t>diffusion</m:t>
                    </m:r>
                    <m:r>
                      <m:rPr>
                        <m:nor/>
                      </m:rPr>
                      <a:rPr lang="en-US">
                        <a:solidFill>
                          <a:srgbClr val="660874"/>
                        </a:solidFill>
                      </a:rPr>
                      <m:t> </m:t>
                    </m:r>
                    <m:r>
                      <m:rPr>
                        <m:nor/>
                      </m:rPr>
                      <a:rPr lang="en-US">
                        <a:solidFill>
                          <a:srgbClr val="660874"/>
                        </a:solidFill>
                      </a:rPr>
                      <m:t>model</m:t>
                    </m:r>
                    <m:r>
                      <m:rPr>
                        <m:nor/>
                      </m:rPr>
                      <a:rPr lang="en-US">
                        <a:solidFill>
                          <a:srgbClr val="660874"/>
                        </a:solidFill>
                      </a:rPr>
                      <m:t>’</m:t>
                    </m:r>
                    <m:r>
                      <m:rPr>
                        <m:nor/>
                      </m:rPr>
                      <a:rPr lang="en-US">
                        <a:solidFill>
                          <a:srgbClr val="660874"/>
                        </a:solidFill>
                      </a:rPr>
                      <m:t>s</m:t>
                    </m:r>
                    <m:r>
                      <m:rPr>
                        <m:nor/>
                      </m:rPr>
                      <a:rPr lang="en-US">
                        <a:solidFill>
                          <a:srgbClr val="660874"/>
                        </a:solidFill>
                      </a:rPr>
                      <m:t> </m:t>
                    </m:r>
                    <m:r>
                      <m:rPr>
                        <m:nor/>
                      </m:rPr>
                      <a:rPr lang="en-US">
                        <a:solidFill>
                          <a:srgbClr val="660874"/>
                        </a:solidFill>
                      </a:rPr>
                      <m:t>neural</m:t>
                    </m:r>
                    <m:r>
                      <m:rPr>
                        <m:nor/>
                      </m:rPr>
                      <a:rPr lang="en-US">
                        <a:solidFill>
                          <a:srgbClr val="660874"/>
                        </a:solidFill>
                      </a:rPr>
                      <m:t> </m:t>
                    </m:r>
                    <m:r>
                      <m:rPr>
                        <m:nor/>
                      </m:rPr>
                      <a:rPr lang="en-US">
                        <a:solidFill>
                          <a:srgbClr val="660874"/>
                        </a:solidFill>
                      </a:rPr>
                      <m:t>network</m:t>
                    </m:r>
                    <m:r>
                      <m:rPr>
                        <m:nor/>
                      </m:rPr>
                      <a:rPr lang="en-US">
                        <a:solidFill>
                          <a:srgbClr val="660874"/>
                        </a:solidFill>
                      </a:rPr>
                      <m:t>, </m:t>
                    </m:r>
                    <m:r>
                      <m:rPr>
                        <m:nor/>
                      </m:rPr>
                      <a:rPr lang="en-US" b="0" i="0" smtClean="0">
                        <a:solidFill>
                          <a:srgbClr val="660874"/>
                        </a:solidFill>
                      </a:rPr>
                      <m:t>in</m:t>
                    </m:r>
                    <m:r>
                      <m:rPr>
                        <m:nor/>
                      </m:rPr>
                      <a:rPr lang="en-US" b="0" i="0" smtClean="0">
                        <a:solidFill>
                          <a:srgbClr val="660874"/>
                        </a:solidFill>
                      </a:rPr>
                      <m:t> </m:t>
                    </m:r>
                    <m:r>
                      <m:rPr>
                        <m:nor/>
                      </m:rPr>
                      <a:rPr lang="en-US" b="0" i="0" smtClean="0">
                        <a:solidFill>
                          <a:srgbClr val="660874"/>
                        </a:solidFill>
                      </a:rPr>
                      <m:t>this</m:t>
                    </m:r>
                    <m:r>
                      <m:rPr>
                        <m:nor/>
                      </m:rPr>
                      <a:rPr lang="en-US" b="0" i="0" smtClean="0">
                        <a:solidFill>
                          <a:srgbClr val="660874"/>
                        </a:solidFill>
                      </a:rPr>
                      <m:t> </m:t>
                    </m:r>
                    <m:r>
                      <m:rPr>
                        <m:nor/>
                      </m:rPr>
                      <a:rPr lang="en-US" b="0" i="0" smtClean="0">
                        <a:solidFill>
                          <a:srgbClr val="660874"/>
                        </a:solidFill>
                      </a:rPr>
                      <m:t>paper</m:t>
                    </m:r>
                    <m:r>
                      <m:rPr>
                        <m:nor/>
                      </m:rPr>
                      <a:rPr lang="en-US" b="0" i="0" smtClean="0">
                        <a:solidFill>
                          <a:srgbClr val="660874"/>
                        </a:solidFill>
                      </a:rPr>
                      <m:t> </m:t>
                    </m:r>
                    <m:r>
                      <m:rPr>
                        <m:nor/>
                      </m:rPr>
                      <a:rPr lang="en-US" b="0" i="0" smtClean="0">
                        <a:solidFill>
                          <a:srgbClr val="660874"/>
                        </a:solidFill>
                      </a:rPr>
                      <m:t>it</m:t>
                    </m:r>
                    <m:r>
                      <m:rPr>
                        <m:nor/>
                      </m:rPr>
                      <a:rPr lang="en-US" b="0" i="0" smtClean="0">
                        <a:solidFill>
                          <a:srgbClr val="660874"/>
                        </a:solidFill>
                      </a:rPr>
                      <m:t> </m:t>
                    </m:r>
                    <m:r>
                      <m:rPr>
                        <m:nor/>
                      </m:rPr>
                      <a:rPr lang="en-US" b="0" i="0" smtClean="0">
                        <a:solidFill>
                          <a:srgbClr val="660874"/>
                        </a:solidFill>
                      </a:rPr>
                      <m:t>is</m:t>
                    </m:r>
                    <m:r>
                      <m:rPr>
                        <m:nor/>
                      </m:rPr>
                      <a:rPr lang="en-US">
                        <a:solidFill>
                          <a:srgbClr val="660874"/>
                        </a:solidFill>
                      </a:rPr>
                      <m:t> </m:t>
                    </m:r>
                    <m:r>
                      <m:rPr>
                        <m:nor/>
                      </m:rPr>
                      <a:rPr lang="en-US">
                        <a:solidFill>
                          <a:srgbClr val="660874"/>
                        </a:solidFill>
                      </a:rPr>
                      <m:t>a</m:t>
                    </m:r>
                    <m:r>
                      <m:rPr>
                        <m:nor/>
                      </m:rPr>
                      <a:rPr lang="en-US">
                        <a:solidFill>
                          <a:srgbClr val="660874"/>
                        </a:solidFill>
                      </a:rPr>
                      <m:t> </m:t>
                    </m:r>
                    <m:r>
                      <m:rPr>
                        <m:nor/>
                      </m:rPr>
                      <a:rPr lang="en-US">
                        <a:solidFill>
                          <a:srgbClr val="660874"/>
                        </a:solidFill>
                      </a:rPr>
                      <m:t>U</m:t>
                    </m:r>
                    <m:r>
                      <m:rPr>
                        <m:nor/>
                      </m:rPr>
                      <a:rPr lang="en-US">
                        <a:solidFill>
                          <a:srgbClr val="660874"/>
                        </a:solidFill>
                      </a:rPr>
                      <m:t>-</m:t>
                    </m:r>
                    <m:r>
                      <m:rPr>
                        <m:nor/>
                      </m:rPr>
                      <a:rPr lang="en-US">
                        <a:solidFill>
                          <a:srgbClr val="660874"/>
                        </a:solidFill>
                      </a:rPr>
                      <m:t>Net</m:t>
                    </m:r>
                    <m:r>
                      <m:rPr>
                        <m:nor/>
                      </m:rPr>
                      <a:rPr lang="en-US">
                        <a:solidFill>
                          <a:srgbClr val="660874"/>
                        </a:solidFill>
                      </a:rPr>
                      <m:t>.</m:t>
                    </m:r>
                  </m:oMath>
                </a14:m>
                <a:endParaRPr lang="en-US" dirty="0">
                  <a:solidFill>
                    <a:srgbClr val="660874"/>
                  </a:solidFill>
                </a:endParaRPr>
              </a:p>
              <a:p>
                <a:pPr marL="285750" indent="-285750">
                  <a:lnSpc>
                    <a:spcPct val="200000"/>
                  </a:lnSpc>
                  <a:buFont typeface="Wingdings" panose="05000000000000000000" pitchFamily="2" charset="2"/>
                  <a:buChar char="Ø"/>
                </a:pPr>
                <a:endParaRPr lang="en-US" dirty="0">
                  <a:solidFill>
                    <a:srgbClr val="660874"/>
                  </a:solidFill>
                </a:endParaRPr>
              </a:p>
              <a:p>
                <a:pPr marL="285750" indent="-285750">
                  <a:lnSpc>
                    <a:spcPct val="200000"/>
                  </a:lnSpc>
                  <a:buFont typeface="Wingdings" panose="05000000000000000000" pitchFamily="2" charset="2"/>
                  <a:buChar char="Ø"/>
                </a:pPr>
                <a:endParaRPr lang="en-US" b="1" dirty="0">
                  <a:solidFill>
                    <a:srgbClr val="660874"/>
                  </a:solidFill>
                </a:endParaRPr>
              </a:p>
              <a:p>
                <a:pPr marL="285750" indent="-285750">
                  <a:lnSpc>
                    <a:spcPct val="200000"/>
                  </a:lnSpc>
                  <a:buFont typeface="Wingdings" panose="05000000000000000000" pitchFamily="2" charset="2"/>
                  <a:buChar char="Ø"/>
                </a:pPr>
                <a:endParaRPr lang="en-US" b="1" dirty="0">
                  <a:solidFill>
                    <a:srgbClr val="660874"/>
                  </a:solidFill>
                </a:endParaRPr>
              </a:p>
              <a:p>
                <a:pPr marL="285750" indent="-285750">
                  <a:lnSpc>
                    <a:spcPct val="200000"/>
                  </a:lnSpc>
                  <a:buFont typeface="Wingdings" panose="05000000000000000000" pitchFamily="2" charset="2"/>
                  <a:buChar char="Ø"/>
                </a:pPr>
                <a:endParaRPr lang="en-US" b="1" dirty="0">
                  <a:solidFill>
                    <a:srgbClr val="660874"/>
                  </a:solidFill>
                </a:endParaRPr>
              </a:p>
              <a:p>
                <a:pPr marL="285750" indent="-285750">
                  <a:lnSpc>
                    <a:spcPct val="200000"/>
                  </a:lnSpc>
                  <a:buFont typeface="Wingdings" panose="05000000000000000000" pitchFamily="2" charset="2"/>
                  <a:buChar char="Ø"/>
                </a:pPr>
                <a:endParaRPr lang="en-US" b="1" dirty="0">
                  <a:solidFill>
                    <a:srgbClr val="660874"/>
                  </a:solidFill>
                </a:endParaRPr>
              </a:p>
              <a:p>
                <a:pPr marL="285750" indent="-285750">
                  <a:lnSpc>
                    <a:spcPct val="200000"/>
                  </a:lnSpc>
                  <a:buFont typeface="Wingdings" panose="05000000000000000000" pitchFamily="2" charset="2"/>
                  <a:buChar char="Ø"/>
                </a:pPr>
                <a:endParaRPr lang="en-US" b="1" dirty="0">
                  <a:solidFill>
                    <a:srgbClr val="660874"/>
                  </a:solidFill>
                </a:endParaRPr>
              </a:p>
            </p:txBody>
          </p:sp>
        </mc:Choice>
        <mc:Fallback>
          <p:sp>
            <p:nvSpPr>
              <p:cNvPr id="11" name="TextBox 10">
                <a:extLst>
                  <a:ext uri="{FF2B5EF4-FFF2-40B4-BE49-F238E27FC236}">
                    <a16:creationId xmlns:a16="http://schemas.microsoft.com/office/drawing/2014/main" id="{6FFD2C17-B803-2734-C3A8-86F97FADCC8B}"/>
                  </a:ext>
                </a:extLst>
              </p:cNvPr>
              <p:cNvSpPr txBox="1">
                <a:spLocks noRot="1" noChangeAspect="1" noMove="1" noResize="1" noEditPoints="1" noAdjustHandles="1" noChangeArrowheads="1" noChangeShapeType="1" noTextEdit="1"/>
              </p:cNvSpPr>
              <p:nvPr/>
            </p:nvSpPr>
            <p:spPr>
              <a:xfrm>
                <a:off x="1114419" y="1577040"/>
                <a:ext cx="10287872" cy="7597144"/>
              </a:xfrm>
              <a:prstGeom prst="rect">
                <a:avLst/>
              </a:prstGeom>
              <a:blipFill>
                <a:blip r:embed="rId2"/>
                <a:stretch>
                  <a:fillRect l="-533"/>
                </a:stretch>
              </a:blipFill>
            </p:spPr>
            <p:txBody>
              <a:bodyPr/>
              <a:lstStyle/>
              <a:p>
                <a:r>
                  <a:rPr lang="en-US">
                    <a:noFill/>
                  </a:rPr>
                  <a:t> </a:t>
                </a:r>
              </a:p>
            </p:txBody>
          </p:sp>
        </mc:Fallback>
      </mc:AlternateContent>
    </p:spTree>
    <p:extLst>
      <p:ext uri="{BB962C8B-B14F-4D97-AF65-F5344CB8AC3E}">
        <p14:creationId xmlns:p14="http://schemas.microsoft.com/office/powerpoint/2010/main" val="17318760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C0E61C-D8E3-0795-3CA2-7A2BC9177FF1}"/>
            </a:ext>
          </a:extLst>
        </p:cNvPr>
        <p:cNvGrpSpPr/>
        <p:nvPr/>
      </p:nvGrpSpPr>
      <p:grpSpPr>
        <a:xfrm>
          <a:off x="0" y="0"/>
          <a:ext cx="0" cy="0"/>
          <a:chOff x="0" y="0"/>
          <a:chExt cx="0" cy="0"/>
        </a:xfrm>
      </p:grpSpPr>
      <p:sp>
        <p:nvSpPr>
          <p:cNvPr id="4" name="Arrow: Chevron 3">
            <a:extLst>
              <a:ext uri="{FF2B5EF4-FFF2-40B4-BE49-F238E27FC236}">
                <a16:creationId xmlns:a16="http://schemas.microsoft.com/office/drawing/2014/main" id="{004F1B2D-AB06-1399-F392-ADECEA0F705B}"/>
              </a:ext>
            </a:extLst>
          </p:cNvPr>
          <p:cNvSpPr/>
          <p:nvPr/>
        </p:nvSpPr>
        <p:spPr>
          <a:xfrm>
            <a:off x="892601" y="488935"/>
            <a:ext cx="5896126" cy="694742"/>
          </a:xfrm>
          <a:prstGeom prst="chevron">
            <a:avLst/>
          </a:prstGeom>
          <a:solidFill>
            <a:schemeClr val="bg1">
              <a:lumMod val="85000"/>
              <a:alpha val="67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 name="Arrow: Chevron 4">
            <a:extLst>
              <a:ext uri="{FF2B5EF4-FFF2-40B4-BE49-F238E27FC236}">
                <a16:creationId xmlns:a16="http://schemas.microsoft.com/office/drawing/2014/main" id="{576CFA1F-077E-02E8-DBA9-9AA140F4FB53}"/>
              </a:ext>
            </a:extLst>
          </p:cNvPr>
          <p:cNvSpPr/>
          <p:nvPr/>
        </p:nvSpPr>
        <p:spPr>
          <a:xfrm>
            <a:off x="393087" y="488936"/>
            <a:ext cx="817404" cy="694742"/>
          </a:xfrm>
          <a:prstGeom prst="chevron">
            <a:avLst/>
          </a:prstGeom>
          <a:gradFill>
            <a:gsLst>
              <a:gs pos="0">
                <a:srgbClr val="660874"/>
              </a:gs>
              <a:gs pos="50000">
                <a:srgbClr val="7030A0"/>
              </a:gs>
              <a:gs pos="100000">
                <a:srgbClr val="660874"/>
              </a:gs>
            </a:gsLst>
            <a:lin ang="5400000" scaled="0"/>
          </a:gra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 name="Title 1">
            <a:extLst>
              <a:ext uri="{FF2B5EF4-FFF2-40B4-BE49-F238E27FC236}">
                <a16:creationId xmlns:a16="http://schemas.microsoft.com/office/drawing/2014/main" id="{0E767DE0-7F48-7AEA-3D7A-73CC5503E333}"/>
              </a:ext>
            </a:extLst>
          </p:cNvPr>
          <p:cNvSpPr>
            <a:spLocks noGrp="1"/>
          </p:cNvSpPr>
          <p:nvPr>
            <p:ph type="title"/>
          </p:nvPr>
        </p:nvSpPr>
        <p:spPr>
          <a:xfrm>
            <a:off x="1248477" y="190942"/>
            <a:ext cx="10515600" cy="1325563"/>
          </a:xfrm>
          <a:effectLst/>
        </p:spPr>
        <p:txBody>
          <a:bodyPr>
            <a:normAutofit/>
          </a:bodyPr>
          <a:lstStyle/>
          <a:p>
            <a:r>
              <a:rPr lang="en-US" altLang="zh-CN" sz="2800" dirty="0">
                <a:solidFill>
                  <a:srgbClr val="660874"/>
                </a:solidFill>
              </a:rPr>
              <a:t>Smooth Diffusion (Guo et. al 2023)</a:t>
            </a:r>
            <a:endParaRPr lang="zh-CN" altLang="en-US" sz="2800" dirty="0">
              <a:solidFill>
                <a:srgbClr val="660874"/>
              </a:solidFill>
            </a:endParaRPr>
          </a:p>
        </p:txBody>
      </p:sp>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E65A8730-7C65-6EEE-85F5-6CC83B23A73E}"/>
                  </a:ext>
                </a:extLst>
              </p:cNvPr>
              <p:cNvSpPr txBox="1"/>
              <p:nvPr/>
            </p:nvSpPr>
            <p:spPr>
              <a:xfrm>
                <a:off x="1017437" y="1715585"/>
                <a:ext cx="9941508" cy="6385722"/>
              </a:xfrm>
              <a:prstGeom prst="rect">
                <a:avLst/>
              </a:prstGeom>
              <a:noFill/>
            </p:spPr>
            <p:txBody>
              <a:bodyPr wrap="square" rtlCol="0">
                <a:spAutoFit/>
              </a:bodyPr>
              <a:lstStyle/>
              <a:p>
                <a:pPr marL="285750" indent="-285750">
                  <a:lnSpc>
                    <a:spcPct val="200000"/>
                  </a:lnSpc>
                  <a:buFont typeface="Wingdings" panose="05000000000000000000" pitchFamily="2" charset="2"/>
                  <a:buChar char="Ø"/>
                </a:pPr>
                <a:r>
                  <a:rPr lang="en-US" b="1" dirty="0">
                    <a:solidFill>
                      <a:srgbClr val="660874"/>
                    </a:solidFill>
                  </a:rPr>
                  <a:t>Why smooth diffusion?</a:t>
                </a:r>
              </a:p>
              <a:p>
                <a:pPr>
                  <a:buNone/>
                </a:pPr>
                <a:r>
                  <a:rPr lang="en-US" b="1" dirty="0">
                    <a:solidFill>
                      <a:srgbClr val="660874"/>
                    </a:solidFill>
                  </a:rPr>
                  <a:t>- </a:t>
                </a:r>
                <a:r>
                  <a:rPr lang="en-US" dirty="0">
                    <a:solidFill>
                      <a:srgbClr val="660874"/>
                    </a:solidFill>
                  </a:rPr>
                  <a:t>The overall objective of smooth diffusion is that if you make a small, fixed-size change </a:t>
                </a:r>
                <a14:m>
                  <m:oMath xmlns:m="http://schemas.openxmlformats.org/officeDocument/2006/math">
                    <m:r>
                      <m:rPr>
                        <m:sty m:val="p"/>
                      </m:rPr>
                      <a:rPr lang="el-GR" b="1" smtClean="0">
                        <a:solidFill>
                          <a:srgbClr val="660874"/>
                        </a:solidFill>
                        <a:latin typeface="Cambria Math" panose="02040503050406030204" pitchFamily="18" charset="0"/>
                      </a:rPr>
                      <m:t>Δ</m:t>
                    </m:r>
                    <m:r>
                      <a:rPr lang="el-GR" b="1" smtClean="0">
                        <a:solidFill>
                          <a:srgbClr val="660874"/>
                        </a:solidFill>
                        <a:latin typeface="Cambria Math" panose="02040503050406030204" pitchFamily="18" charset="0"/>
                      </a:rPr>
                      <m:t>𝜖</m:t>
                    </m:r>
                    <m:r>
                      <a:rPr lang="en-US" b="1" i="0" smtClean="0">
                        <a:solidFill>
                          <a:srgbClr val="660874"/>
                        </a:solidFill>
                        <a:latin typeface="Cambria Math" panose="02040503050406030204" pitchFamily="18" charset="0"/>
                      </a:rPr>
                      <m:t> </m:t>
                    </m:r>
                  </m:oMath>
                </a14:m>
                <a:r>
                  <a:rPr lang="en-US" dirty="0">
                    <a:solidFill>
                      <a:srgbClr val="660874"/>
                    </a:solidFill>
                  </a:rPr>
                  <a:t>in the input noise (the starting point), you should get a proportional, predictable change in the final generated image</a:t>
                </a:r>
              </a:p>
              <a:p>
                <a:pPr>
                  <a:buNone/>
                </a:pPr>
                <a:r>
                  <a:rPr lang="en-US" dirty="0">
                    <a:solidFill>
                      <a:srgbClr val="660874"/>
                    </a:solidFill>
                  </a:rPr>
                  <a:t>In symbols:</a:t>
                </a:r>
              </a:p>
              <a:p>
                <a:pPr algn="ctr">
                  <a:buNone/>
                </a:pPr>
                <a14:m>
                  <m:oMath xmlns:m="http://schemas.openxmlformats.org/officeDocument/2006/math">
                    <m:r>
                      <a:rPr lang="en-US" smtClean="0">
                        <a:solidFill>
                          <a:srgbClr val="660874"/>
                        </a:solidFill>
                        <a:latin typeface="Cambria Math" panose="02040503050406030204" pitchFamily="18" charset="0"/>
                      </a:rPr>
                      <m:t>∥</m:t>
                    </m:r>
                    <m:r>
                      <m:rPr>
                        <m:sty m:val="p"/>
                      </m:rPr>
                      <a:rPr lang="el-GR" i="0">
                        <a:solidFill>
                          <a:srgbClr val="660874"/>
                        </a:solidFill>
                        <a:latin typeface="Cambria Math" panose="02040503050406030204" pitchFamily="18" charset="0"/>
                      </a:rPr>
                      <m:t>Δ</m:t>
                    </m:r>
                    <m:sSub>
                      <m:sSubPr>
                        <m:ctrlPr>
                          <a:rPr lang="ar-AE" i="1">
                            <a:solidFill>
                              <a:srgbClr val="660874"/>
                            </a:solidFill>
                            <a:latin typeface="Cambria Math" panose="02040503050406030204" pitchFamily="18" charset="0"/>
                          </a:rPr>
                        </m:ctrlPr>
                      </m:sSubPr>
                      <m:e>
                        <m:acc>
                          <m:accPr>
                            <m:chr m:val="̂"/>
                            <m:ctrlPr>
                              <a:rPr lang="ar-AE" i="1">
                                <a:solidFill>
                                  <a:srgbClr val="660874"/>
                                </a:solidFill>
                                <a:latin typeface="Cambria Math" panose="02040503050406030204" pitchFamily="18" charset="0"/>
                              </a:rPr>
                            </m:ctrlPr>
                          </m:accPr>
                          <m:e>
                            <m:r>
                              <a:rPr lang="ar-AE" i="1">
                                <a:solidFill>
                                  <a:srgbClr val="660874"/>
                                </a:solidFill>
                                <a:latin typeface="Cambria Math" panose="02040503050406030204" pitchFamily="18" charset="0"/>
                              </a:rPr>
                              <m:t>𝑥</m:t>
                            </m:r>
                          </m:e>
                        </m:acc>
                      </m:e>
                      <m:sub>
                        <m:r>
                          <a:rPr lang="ar-AE" i="0">
                            <a:solidFill>
                              <a:srgbClr val="660874"/>
                            </a:solidFill>
                            <a:latin typeface="Cambria Math" panose="02040503050406030204" pitchFamily="18" charset="0"/>
                          </a:rPr>
                          <m:t>0</m:t>
                        </m:r>
                      </m:sub>
                    </m:sSub>
                    <m:sSub>
                      <m:sSubPr>
                        <m:ctrlPr>
                          <a:rPr lang="ar-AE" i="1">
                            <a:solidFill>
                              <a:srgbClr val="660874"/>
                            </a:solidFill>
                            <a:latin typeface="Cambria Math" panose="02040503050406030204" pitchFamily="18" charset="0"/>
                          </a:rPr>
                        </m:ctrlPr>
                      </m:sSubPr>
                      <m:e>
                        <m:r>
                          <a:rPr lang="ar-AE" i="0">
                            <a:solidFill>
                              <a:srgbClr val="660874"/>
                            </a:solidFill>
                            <a:latin typeface="Cambria Math" panose="02040503050406030204" pitchFamily="18" charset="0"/>
                          </a:rPr>
                          <m:t>∥</m:t>
                        </m:r>
                      </m:e>
                      <m:sub>
                        <m:r>
                          <a:rPr lang="ar-AE" i="0">
                            <a:solidFill>
                              <a:srgbClr val="660874"/>
                            </a:solidFill>
                            <a:latin typeface="Cambria Math" panose="02040503050406030204" pitchFamily="18" charset="0"/>
                          </a:rPr>
                          <m:t>2</m:t>
                        </m:r>
                      </m:sub>
                    </m:sSub>
                    <m:r>
                      <m:rPr>
                        <m:nor/>
                      </m:rPr>
                      <a:rPr lang="ar-AE" b="0" i="1">
                        <a:solidFill>
                          <a:srgbClr val="660874"/>
                        </a:solidFill>
                        <a:latin typeface="Cambria Math" panose="02040503050406030204" pitchFamily="18" charset="0"/>
                      </a:rPr>
                      <m:t>  </m:t>
                    </m:r>
                    <m:r>
                      <a:rPr lang="ar-AE" b="0" i="0">
                        <a:solidFill>
                          <a:srgbClr val="660874"/>
                        </a:solidFill>
                        <a:latin typeface="Cambria Math" panose="02040503050406030204" pitchFamily="18" charset="0"/>
                      </a:rPr>
                      <m:t>⇔</m:t>
                    </m:r>
                    <m:r>
                      <m:rPr>
                        <m:nor/>
                      </m:rPr>
                      <a:rPr lang="ar-AE" b="0" i="1">
                        <a:solidFill>
                          <a:srgbClr val="660874"/>
                        </a:solidFill>
                        <a:latin typeface="Cambria Math" panose="02040503050406030204" pitchFamily="18" charset="0"/>
                      </a:rPr>
                      <m:t>  </m:t>
                    </m:r>
                    <m:r>
                      <a:rPr lang="ar-AE" b="0" i="1">
                        <a:solidFill>
                          <a:srgbClr val="660874"/>
                        </a:solidFill>
                        <a:latin typeface="Cambria Math" panose="02040503050406030204" pitchFamily="18" charset="0"/>
                      </a:rPr>
                      <m:t>𝐶</m:t>
                    </m:r>
                    <m:r>
                      <a:rPr lang="ar-AE" b="0" i="0">
                        <a:solidFill>
                          <a:srgbClr val="660874"/>
                        </a:solidFill>
                        <a:latin typeface="Cambria Math" panose="02040503050406030204" pitchFamily="18" charset="0"/>
                      </a:rPr>
                      <m:t>∥</m:t>
                    </m:r>
                    <m:r>
                      <m:rPr>
                        <m:sty m:val="p"/>
                      </m:rPr>
                      <a:rPr lang="el-GR" b="0" i="0">
                        <a:solidFill>
                          <a:srgbClr val="660874"/>
                        </a:solidFill>
                        <a:latin typeface="Cambria Math" panose="02040503050406030204" pitchFamily="18" charset="0"/>
                      </a:rPr>
                      <m:t>Δ</m:t>
                    </m:r>
                    <m:sSub>
                      <m:sSubPr>
                        <m:ctrlPr>
                          <a:rPr lang="ar-AE" b="0" i="1">
                            <a:solidFill>
                              <a:srgbClr val="660874"/>
                            </a:solidFill>
                            <a:latin typeface="Cambria Math" panose="02040503050406030204" pitchFamily="18" charset="0"/>
                          </a:rPr>
                        </m:ctrlPr>
                      </m:sSubPr>
                      <m:e>
                        <m:r>
                          <a:rPr lang="ar-AE" b="0" i="1">
                            <a:solidFill>
                              <a:srgbClr val="660874"/>
                            </a:solidFill>
                            <a:latin typeface="Cambria Math" panose="02040503050406030204" pitchFamily="18" charset="0"/>
                          </a:rPr>
                          <m:t>𝑥</m:t>
                        </m:r>
                      </m:e>
                      <m:sub>
                        <m:r>
                          <a:rPr lang="ar-AE" b="0" i="1">
                            <a:solidFill>
                              <a:srgbClr val="660874"/>
                            </a:solidFill>
                            <a:latin typeface="Cambria Math" panose="02040503050406030204" pitchFamily="18" charset="0"/>
                          </a:rPr>
                          <m:t>𝑇</m:t>
                        </m:r>
                      </m:sub>
                    </m:sSub>
                    <m:sSub>
                      <m:sSubPr>
                        <m:ctrlPr>
                          <a:rPr lang="ar-AE" b="0" i="1">
                            <a:solidFill>
                              <a:srgbClr val="660874"/>
                            </a:solidFill>
                            <a:latin typeface="Cambria Math" panose="02040503050406030204" pitchFamily="18" charset="0"/>
                          </a:rPr>
                        </m:ctrlPr>
                      </m:sSubPr>
                      <m:e>
                        <m:r>
                          <a:rPr lang="ar-AE" b="0" i="0">
                            <a:solidFill>
                              <a:srgbClr val="660874"/>
                            </a:solidFill>
                            <a:latin typeface="Cambria Math" panose="02040503050406030204" pitchFamily="18" charset="0"/>
                          </a:rPr>
                          <m:t>∥</m:t>
                        </m:r>
                      </m:e>
                      <m:sub>
                        <m:r>
                          <a:rPr lang="ar-AE" b="0" i="0">
                            <a:solidFill>
                              <a:srgbClr val="660874"/>
                            </a:solidFill>
                            <a:latin typeface="Cambria Math" panose="02040503050406030204" pitchFamily="18" charset="0"/>
                          </a:rPr>
                          <m:t>2</m:t>
                        </m:r>
                      </m:sub>
                    </m:sSub>
                    <m:r>
                      <a:rPr lang="ar-AE" b="0" i="0">
                        <a:solidFill>
                          <a:srgbClr val="660874"/>
                        </a:solidFill>
                        <a:latin typeface="Cambria Math" panose="02040503050406030204" pitchFamily="18" charset="0"/>
                      </a:rPr>
                      <m:t>=</m:t>
                    </m:r>
                    <m:r>
                      <a:rPr lang="ar-AE" b="0" i="1">
                        <a:solidFill>
                          <a:srgbClr val="660874"/>
                        </a:solidFill>
                        <a:latin typeface="Cambria Math" panose="02040503050406030204" pitchFamily="18" charset="0"/>
                      </a:rPr>
                      <m:t>𝐶</m:t>
                    </m:r>
                    <m:r>
                      <a:rPr lang="ar-AE" b="0" i="0">
                        <a:solidFill>
                          <a:srgbClr val="660874"/>
                        </a:solidFill>
                        <a:latin typeface="Cambria Math" panose="02040503050406030204" pitchFamily="18" charset="0"/>
                      </a:rPr>
                      <m:t>∥</m:t>
                    </m:r>
                    <m:r>
                      <m:rPr>
                        <m:sty m:val="p"/>
                      </m:rPr>
                      <a:rPr lang="el-GR" b="0" i="0">
                        <a:solidFill>
                          <a:srgbClr val="660874"/>
                        </a:solidFill>
                        <a:latin typeface="Cambria Math" panose="02040503050406030204" pitchFamily="18" charset="0"/>
                      </a:rPr>
                      <m:t>Δ</m:t>
                    </m:r>
                    <m:r>
                      <a:rPr lang="el-GR" b="0" i="1">
                        <a:solidFill>
                          <a:srgbClr val="660874"/>
                        </a:solidFill>
                        <a:latin typeface="Cambria Math" panose="02040503050406030204" pitchFamily="18" charset="0"/>
                      </a:rPr>
                      <m:t>𝜖</m:t>
                    </m:r>
                    <m:sSub>
                      <m:sSubPr>
                        <m:ctrlPr>
                          <a:rPr lang="ar-AE" b="0" i="1">
                            <a:solidFill>
                              <a:srgbClr val="660874"/>
                            </a:solidFill>
                            <a:latin typeface="Cambria Math" panose="02040503050406030204" pitchFamily="18" charset="0"/>
                          </a:rPr>
                        </m:ctrlPr>
                      </m:sSubPr>
                      <m:e>
                        <m:r>
                          <a:rPr lang="ar-AE" b="0" i="0">
                            <a:solidFill>
                              <a:srgbClr val="660874"/>
                            </a:solidFill>
                            <a:latin typeface="Cambria Math" panose="02040503050406030204" pitchFamily="18" charset="0"/>
                          </a:rPr>
                          <m:t>∥</m:t>
                        </m:r>
                      </m:e>
                      <m:sub>
                        <m:r>
                          <a:rPr lang="ar-AE" b="0" i="0">
                            <a:solidFill>
                              <a:srgbClr val="660874"/>
                            </a:solidFill>
                            <a:latin typeface="Cambria Math" panose="02040503050406030204" pitchFamily="18" charset="0"/>
                          </a:rPr>
                          <m:t>2</m:t>
                        </m:r>
                      </m:sub>
                    </m:sSub>
                    <m:r>
                      <a:rPr lang="ar-AE" b="0" i="0">
                        <a:solidFill>
                          <a:srgbClr val="660874"/>
                        </a:solidFill>
                        <a:latin typeface="Cambria Math" panose="02040503050406030204" pitchFamily="18" charset="0"/>
                      </a:rPr>
                      <m:t>,</m:t>
                    </m:r>
                    <m:r>
                      <m:rPr>
                        <m:nor/>
                      </m:rPr>
                      <a:rPr lang="ar-AE" b="0" i="1">
                        <a:solidFill>
                          <a:srgbClr val="660874"/>
                        </a:solidFill>
                        <a:latin typeface="Cambria Math" panose="02040503050406030204" pitchFamily="18" charset="0"/>
                      </a:rPr>
                      <m:t>  </m:t>
                    </m:r>
                    <m:r>
                      <a:rPr lang="ar-AE" b="0" i="0">
                        <a:solidFill>
                          <a:srgbClr val="660874"/>
                        </a:solidFill>
                        <a:latin typeface="Cambria Math" panose="02040503050406030204" pitchFamily="18" charset="0"/>
                      </a:rPr>
                      <m:t>∀</m:t>
                    </m:r>
                    <m:r>
                      <a:rPr lang="ar-AE" b="0" i="1">
                        <a:solidFill>
                          <a:srgbClr val="660874"/>
                        </a:solidFill>
                        <a:latin typeface="Cambria Math" panose="02040503050406030204" pitchFamily="18" charset="0"/>
                      </a:rPr>
                      <m:t>𝜖</m:t>
                    </m:r>
                  </m:oMath>
                </a14:m>
                <a:r>
                  <a:rPr lang="en-US" b="0" dirty="0">
                    <a:solidFill>
                      <a:srgbClr val="660874"/>
                    </a:solidFill>
                  </a:rPr>
                  <a:t>, </a:t>
                </a:r>
                <a:endParaRPr lang="ar-AE" b="0" dirty="0">
                  <a:solidFill>
                    <a:srgbClr val="660874"/>
                  </a:solidFill>
                </a:endParaRPr>
              </a:p>
              <a:p>
                <a:pPr>
                  <a:buNone/>
                </a:pPr>
                <a:r>
                  <a:rPr lang="en-US" dirty="0">
                    <a:solidFill>
                      <a:srgbClr val="660874"/>
                    </a:solidFill>
                  </a:rPr>
                  <a:t>where </a:t>
                </a:r>
                <a14:m>
                  <m:oMath xmlns:m="http://schemas.openxmlformats.org/officeDocument/2006/math">
                    <m:r>
                      <a:rPr lang="ar-AE" b="1" smtClean="0">
                        <a:solidFill>
                          <a:srgbClr val="660874"/>
                        </a:solidFill>
                        <a:latin typeface="Cambria Math" panose="02040503050406030204" pitchFamily="18" charset="0"/>
                      </a:rPr>
                      <m:t>𝐶</m:t>
                    </m:r>
                  </m:oMath>
                </a14:m>
                <a:r>
                  <a:rPr lang="en-US" dirty="0">
                    <a:solidFill>
                      <a:srgbClr val="660874"/>
                    </a:solidFill>
                  </a:rPr>
                  <a:t> is a constant, </a:t>
                </a:r>
                <a14:m>
                  <m:oMath xmlns:m="http://schemas.openxmlformats.org/officeDocument/2006/math">
                    <m:r>
                      <m:rPr>
                        <m:sty m:val="p"/>
                      </m:rPr>
                      <a:rPr lang="el-GR" b="0" i="0" smtClean="0">
                        <a:solidFill>
                          <a:srgbClr val="660874"/>
                        </a:solidFill>
                        <a:latin typeface="Cambria Math" panose="02040503050406030204" pitchFamily="18" charset="0"/>
                      </a:rPr>
                      <m:t>Δ</m:t>
                    </m:r>
                    <m:r>
                      <a:rPr lang="el-GR" b="0" i="1">
                        <a:solidFill>
                          <a:srgbClr val="660874"/>
                        </a:solidFill>
                        <a:latin typeface="Cambria Math" panose="02040503050406030204" pitchFamily="18" charset="0"/>
                      </a:rPr>
                      <m:t>𝜖</m:t>
                    </m:r>
                  </m:oMath>
                </a14:m>
                <a:r>
                  <a:rPr lang="en-US" dirty="0">
                    <a:solidFill>
                      <a:srgbClr val="660874"/>
                    </a:solidFill>
                  </a:rPr>
                  <a:t> is a small fixed sized change in the input noise.</a:t>
                </a:r>
              </a:p>
              <a:p>
                <a:pPr>
                  <a:buNone/>
                </a:pPr>
                <a:endParaRPr lang="en-US" dirty="0">
                  <a:solidFill>
                    <a:srgbClr val="660874"/>
                  </a:solidFill>
                </a:endParaRPr>
              </a:p>
              <a:p>
                <a:pPr marL="285750" indent="-285750">
                  <a:buFontTx/>
                  <a:buChar char="-"/>
                </a:pPr>
                <a:r>
                  <a:rPr lang="en-US" dirty="0">
                    <a:solidFill>
                      <a:srgbClr val="660874"/>
                    </a:solidFill>
                  </a:rPr>
                  <a:t>However, this is what we want after all the T steps, but to train this in one go is computationally expensive. This is solved by an approach that draws inspiration from the regularization technique adopted in GAN training (Karras et. al 2020).</a:t>
                </a:r>
              </a:p>
              <a:p>
                <a:pPr>
                  <a:lnSpc>
                    <a:spcPct val="200000"/>
                  </a:lnSpc>
                </a:pPr>
                <a:r>
                  <a:rPr lang="en-US" b="1" dirty="0">
                    <a:solidFill>
                      <a:srgbClr val="660874"/>
                    </a:solidFill>
                  </a:rPr>
                  <a:t> </a:t>
                </a:r>
              </a:p>
              <a:p>
                <a:pPr marL="285750" indent="-285750">
                  <a:lnSpc>
                    <a:spcPct val="200000"/>
                  </a:lnSpc>
                  <a:buFont typeface="Wingdings" panose="05000000000000000000" pitchFamily="2" charset="2"/>
                  <a:buChar char="Ø"/>
                </a:pPr>
                <a:endParaRPr lang="en-US" b="1" dirty="0">
                  <a:solidFill>
                    <a:srgbClr val="660874"/>
                  </a:solidFill>
                </a:endParaRPr>
              </a:p>
              <a:p>
                <a:pPr marL="285750" indent="-285750">
                  <a:lnSpc>
                    <a:spcPct val="200000"/>
                  </a:lnSpc>
                  <a:buFont typeface="Wingdings" panose="05000000000000000000" pitchFamily="2" charset="2"/>
                  <a:buChar char="Ø"/>
                </a:pPr>
                <a:endParaRPr lang="en-US" b="1" dirty="0">
                  <a:solidFill>
                    <a:srgbClr val="660874"/>
                  </a:solidFill>
                </a:endParaRPr>
              </a:p>
              <a:p>
                <a:pPr marL="285750" indent="-285750">
                  <a:lnSpc>
                    <a:spcPct val="200000"/>
                  </a:lnSpc>
                  <a:buFont typeface="Wingdings" panose="05000000000000000000" pitchFamily="2" charset="2"/>
                  <a:buChar char="Ø"/>
                </a:pPr>
                <a:endParaRPr lang="en-US" b="1" dirty="0">
                  <a:solidFill>
                    <a:srgbClr val="660874"/>
                  </a:solidFill>
                </a:endParaRPr>
              </a:p>
              <a:p>
                <a:pPr marL="285750" indent="-285750">
                  <a:lnSpc>
                    <a:spcPct val="200000"/>
                  </a:lnSpc>
                  <a:buFont typeface="Wingdings" panose="05000000000000000000" pitchFamily="2" charset="2"/>
                  <a:buChar char="Ø"/>
                </a:pPr>
                <a:endParaRPr lang="en-US" b="1" dirty="0">
                  <a:solidFill>
                    <a:srgbClr val="660874"/>
                  </a:solidFill>
                </a:endParaRPr>
              </a:p>
              <a:p>
                <a:pPr marL="285750" indent="-285750">
                  <a:lnSpc>
                    <a:spcPct val="200000"/>
                  </a:lnSpc>
                  <a:buFont typeface="Wingdings" panose="05000000000000000000" pitchFamily="2" charset="2"/>
                  <a:buChar char="Ø"/>
                </a:pPr>
                <a:endParaRPr lang="en-US" b="1" dirty="0">
                  <a:solidFill>
                    <a:srgbClr val="660874"/>
                  </a:solidFill>
                </a:endParaRPr>
              </a:p>
            </p:txBody>
          </p:sp>
        </mc:Choice>
        <mc:Fallback>
          <p:sp>
            <p:nvSpPr>
              <p:cNvPr id="11" name="TextBox 10">
                <a:extLst>
                  <a:ext uri="{FF2B5EF4-FFF2-40B4-BE49-F238E27FC236}">
                    <a16:creationId xmlns:a16="http://schemas.microsoft.com/office/drawing/2014/main" id="{E65A8730-7C65-6EEE-85F5-6CC83B23A73E}"/>
                  </a:ext>
                </a:extLst>
              </p:cNvPr>
              <p:cNvSpPr txBox="1">
                <a:spLocks noRot="1" noChangeAspect="1" noMove="1" noResize="1" noEditPoints="1" noAdjustHandles="1" noChangeArrowheads="1" noChangeShapeType="1" noTextEdit="1"/>
              </p:cNvSpPr>
              <p:nvPr/>
            </p:nvSpPr>
            <p:spPr>
              <a:xfrm>
                <a:off x="1017437" y="1715585"/>
                <a:ext cx="9941508" cy="6385722"/>
              </a:xfrm>
              <a:prstGeom prst="rect">
                <a:avLst/>
              </a:prstGeom>
              <a:blipFill>
                <a:blip r:embed="rId2"/>
                <a:stretch>
                  <a:fillRect l="-552"/>
                </a:stretch>
              </a:blipFill>
            </p:spPr>
            <p:txBody>
              <a:bodyPr/>
              <a:lstStyle/>
              <a:p>
                <a:r>
                  <a:rPr lang="en-US">
                    <a:noFill/>
                  </a:rPr>
                  <a:t> </a:t>
                </a:r>
              </a:p>
            </p:txBody>
          </p:sp>
        </mc:Fallback>
      </mc:AlternateContent>
      <p:sp>
        <p:nvSpPr>
          <p:cNvPr id="14" name="Isosceles Triangle 13">
            <a:extLst>
              <a:ext uri="{FF2B5EF4-FFF2-40B4-BE49-F238E27FC236}">
                <a16:creationId xmlns:a16="http://schemas.microsoft.com/office/drawing/2014/main" id="{5EF9A1FB-F98F-931D-5665-D3BF12B58DCC}"/>
              </a:ext>
            </a:extLst>
          </p:cNvPr>
          <p:cNvSpPr/>
          <p:nvPr/>
        </p:nvSpPr>
        <p:spPr>
          <a:xfrm flipV="1">
            <a:off x="6384103" y="2978728"/>
            <a:ext cx="188932" cy="193964"/>
          </a:xfrm>
          <a:prstGeom prst="triangle">
            <a:avLst>
              <a:gd name="adj" fmla="val 50000"/>
            </a:avLst>
          </a:prstGeom>
          <a:solidFill>
            <a:srgbClr val="FF000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Improving Diffusion Models as an Alternative To GANs, Part 2 | NVIDIA  Technical Blog">
            <a:extLst>
              <a:ext uri="{FF2B5EF4-FFF2-40B4-BE49-F238E27FC236}">
                <a16:creationId xmlns:a16="http://schemas.microsoft.com/office/drawing/2014/main" id="{6AB94A98-085C-381B-8C44-0C52DF11127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19753"/>
          <a:stretch>
            <a:fillRect/>
          </a:stretch>
        </p:blipFill>
        <p:spPr bwMode="auto">
          <a:xfrm>
            <a:off x="7550727" y="-236387"/>
            <a:ext cx="4322618" cy="19514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236339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rrow: Chevron 3">
            <a:extLst>
              <a:ext uri="{FF2B5EF4-FFF2-40B4-BE49-F238E27FC236}">
                <a16:creationId xmlns:a16="http://schemas.microsoft.com/office/drawing/2014/main" id="{7596A8D4-3EFD-29FD-DCC1-9C07C70AB6DB}"/>
              </a:ext>
            </a:extLst>
          </p:cNvPr>
          <p:cNvSpPr/>
          <p:nvPr/>
        </p:nvSpPr>
        <p:spPr>
          <a:xfrm>
            <a:off x="892601" y="488935"/>
            <a:ext cx="5896126" cy="694742"/>
          </a:xfrm>
          <a:prstGeom prst="chevron">
            <a:avLst/>
          </a:prstGeom>
          <a:solidFill>
            <a:schemeClr val="bg1">
              <a:lumMod val="85000"/>
              <a:alpha val="67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 name="Arrow: Chevron 4">
            <a:extLst>
              <a:ext uri="{FF2B5EF4-FFF2-40B4-BE49-F238E27FC236}">
                <a16:creationId xmlns:a16="http://schemas.microsoft.com/office/drawing/2014/main" id="{99F1B479-25B3-CEB1-297B-3B66215536BE}"/>
              </a:ext>
            </a:extLst>
          </p:cNvPr>
          <p:cNvSpPr/>
          <p:nvPr/>
        </p:nvSpPr>
        <p:spPr>
          <a:xfrm>
            <a:off x="393087" y="488936"/>
            <a:ext cx="817404" cy="694742"/>
          </a:xfrm>
          <a:prstGeom prst="chevron">
            <a:avLst/>
          </a:prstGeom>
          <a:gradFill>
            <a:gsLst>
              <a:gs pos="0">
                <a:srgbClr val="660874"/>
              </a:gs>
              <a:gs pos="50000">
                <a:srgbClr val="7030A0"/>
              </a:gs>
              <a:gs pos="100000">
                <a:srgbClr val="660874"/>
              </a:gs>
            </a:gsLst>
            <a:lin ang="5400000" scaled="0"/>
          </a:gra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 name="Title 1">
            <a:extLst>
              <a:ext uri="{FF2B5EF4-FFF2-40B4-BE49-F238E27FC236}">
                <a16:creationId xmlns:a16="http://schemas.microsoft.com/office/drawing/2014/main" id="{16123AF6-2174-5D6E-CC56-9D950B7F4EE9}"/>
              </a:ext>
            </a:extLst>
          </p:cNvPr>
          <p:cNvSpPr>
            <a:spLocks noGrp="1"/>
          </p:cNvSpPr>
          <p:nvPr>
            <p:ph type="title"/>
          </p:nvPr>
        </p:nvSpPr>
        <p:spPr>
          <a:xfrm>
            <a:off x="1248477" y="190942"/>
            <a:ext cx="10515600" cy="1325563"/>
          </a:xfrm>
          <a:effectLst/>
        </p:spPr>
        <p:txBody>
          <a:bodyPr>
            <a:normAutofit/>
          </a:bodyPr>
          <a:lstStyle/>
          <a:p>
            <a:r>
              <a:rPr lang="en-US" altLang="zh-CN" sz="2800" dirty="0">
                <a:solidFill>
                  <a:srgbClr val="660874"/>
                </a:solidFill>
              </a:rPr>
              <a:t>Smooth Diffusion (Guo et. al 2023)</a:t>
            </a:r>
            <a:endParaRPr lang="zh-CN" altLang="en-US" sz="2800" dirty="0">
              <a:solidFill>
                <a:srgbClr val="660874"/>
              </a:solidFill>
            </a:endParaRPr>
          </a:p>
        </p:txBody>
      </p:sp>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F0501AF0-C2BE-1364-8130-C4B918B37BEB}"/>
                  </a:ext>
                </a:extLst>
              </p:cNvPr>
              <p:cNvSpPr txBox="1"/>
              <p:nvPr/>
            </p:nvSpPr>
            <p:spPr>
              <a:xfrm>
                <a:off x="1017437" y="1715585"/>
                <a:ext cx="9941508" cy="6476453"/>
              </a:xfrm>
              <a:prstGeom prst="rect">
                <a:avLst/>
              </a:prstGeom>
              <a:noFill/>
            </p:spPr>
            <p:txBody>
              <a:bodyPr wrap="square" rtlCol="0">
                <a:spAutoFit/>
              </a:bodyPr>
              <a:lstStyle/>
              <a:p>
                <a:pPr marL="285750" indent="-285750">
                  <a:lnSpc>
                    <a:spcPct val="200000"/>
                  </a:lnSpc>
                  <a:buFont typeface="Wingdings" panose="05000000000000000000" pitchFamily="2" charset="2"/>
                  <a:buChar char="Ø"/>
                </a:pPr>
                <a:r>
                  <a:rPr lang="en-US" b="1" dirty="0">
                    <a:solidFill>
                      <a:srgbClr val="660874"/>
                    </a:solidFill>
                  </a:rPr>
                  <a:t>How? Step-wise Variation Regularization</a:t>
                </a:r>
              </a:p>
              <a:p>
                <a:pPr>
                  <a:lnSpc>
                    <a:spcPct val="200000"/>
                  </a:lnSpc>
                </a:pPr>
                <a:r>
                  <a:rPr lang="en-US" b="1" dirty="0">
                    <a:solidFill>
                      <a:srgbClr val="660874"/>
                    </a:solidFill>
                  </a:rPr>
                  <a:t>- </a:t>
                </a:r>
                <a:r>
                  <a:rPr lang="en-US" dirty="0">
                    <a:solidFill>
                      <a:srgbClr val="660874"/>
                    </a:solidFill>
                  </a:rPr>
                  <a:t>Solution: </a:t>
                </a:r>
                <a14:m>
                  <m:oMath xmlns:m="http://schemas.openxmlformats.org/officeDocument/2006/math">
                    <m:r>
                      <a:rPr lang="en-US" b="0">
                        <a:solidFill>
                          <a:srgbClr val="660874"/>
                        </a:solidFill>
                      </a:rPr>
                      <m:t>∥</m:t>
                    </m:r>
                    <m:r>
                      <a:rPr lang="el-GR" b="0" i="1">
                        <a:solidFill>
                          <a:srgbClr val="660874"/>
                        </a:solidFill>
                      </a:rPr>
                      <m:t>𝛥</m:t>
                    </m:r>
                    <m:sSub>
                      <m:sSubPr>
                        <m:ctrlPr>
                          <a:rPr lang="ar-AE">
                            <a:solidFill>
                              <a:srgbClr val="660874"/>
                            </a:solidFill>
                          </a:rPr>
                        </m:ctrlPr>
                      </m:sSubPr>
                      <m:e>
                        <m:acc>
                          <m:accPr>
                            <m:chr m:val="̂"/>
                            <m:ctrlPr>
                              <a:rPr lang="ar-AE">
                                <a:solidFill>
                                  <a:srgbClr val="660874"/>
                                </a:solidFill>
                              </a:rPr>
                            </m:ctrlPr>
                          </m:accPr>
                          <m:e>
                            <m:r>
                              <a:rPr lang="ar-AE" b="0" i="1">
                                <a:solidFill>
                                  <a:srgbClr val="660874"/>
                                </a:solidFill>
                              </a:rPr>
                              <m:t>𝑥</m:t>
                            </m:r>
                          </m:e>
                        </m:acc>
                      </m:e>
                      <m:sub>
                        <m:r>
                          <a:rPr lang="ar-AE" b="0" i="1">
                            <a:solidFill>
                              <a:srgbClr val="660874"/>
                            </a:solidFill>
                          </a:rPr>
                          <m:t>0</m:t>
                        </m:r>
                      </m:sub>
                    </m:sSub>
                    <m:sSub>
                      <m:sSubPr>
                        <m:ctrlPr>
                          <a:rPr lang="ar-AE">
                            <a:solidFill>
                              <a:srgbClr val="660874"/>
                            </a:solidFill>
                          </a:rPr>
                        </m:ctrlPr>
                      </m:sSubPr>
                      <m:e>
                        <m:r>
                          <a:rPr lang="ar-AE" b="0">
                            <a:solidFill>
                              <a:srgbClr val="660874"/>
                            </a:solidFill>
                          </a:rPr>
                          <m:t>∥</m:t>
                        </m:r>
                      </m:e>
                      <m:sub>
                        <m:r>
                          <a:rPr lang="ar-AE" b="0" i="1">
                            <a:solidFill>
                              <a:srgbClr val="660874"/>
                            </a:solidFill>
                          </a:rPr>
                          <m:t>2</m:t>
                        </m:r>
                      </m:sub>
                    </m:sSub>
                    <m:r>
                      <m:rPr>
                        <m:nor/>
                      </m:rPr>
                      <a:rPr lang="ar-AE">
                        <a:solidFill>
                          <a:srgbClr val="660874"/>
                        </a:solidFill>
                      </a:rPr>
                      <m:t>  </m:t>
                    </m:r>
                    <m:r>
                      <a:rPr lang="ar-AE" b="0">
                        <a:solidFill>
                          <a:srgbClr val="660874"/>
                        </a:solidFill>
                      </a:rPr>
                      <m:t>⇔</m:t>
                    </m:r>
                    <m:r>
                      <m:rPr>
                        <m:nor/>
                      </m:rPr>
                      <a:rPr lang="ar-AE">
                        <a:solidFill>
                          <a:srgbClr val="660874"/>
                        </a:solidFill>
                      </a:rPr>
                      <m:t>  </m:t>
                    </m:r>
                    <m:r>
                      <a:rPr lang="ar-AE" b="0" i="1">
                        <a:solidFill>
                          <a:srgbClr val="660874"/>
                        </a:solidFill>
                      </a:rPr>
                      <m:t>𝐶</m:t>
                    </m:r>
                    <m:r>
                      <a:rPr lang="ar-AE" b="0">
                        <a:solidFill>
                          <a:srgbClr val="660874"/>
                        </a:solidFill>
                      </a:rPr>
                      <m:t>∥</m:t>
                    </m:r>
                    <m:r>
                      <a:rPr lang="el-GR" b="0" i="1">
                        <a:solidFill>
                          <a:srgbClr val="660874"/>
                        </a:solidFill>
                      </a:rPr>
                      <m:t>𝛥</m:t>
                    </m:r>
                    <m:sSub>
                      <m:sSubPr>
                        <m:ctrlPr>
                          <a:rPr lang="ar-AE">
                            <a:solidFill>
                              <a:srgbClr val="660874"/>
                            </a:solidFill>
                          </a:rPr>
                        </m:ctrlPr>
                      </m:sSubPr>
                      <m:e>
                        <m:r>
                          <a:rPr lang="ar-AE" b="0" i="1">
                            <a:solidFill>
                              <a:srgbClr val="660874"/>
                            </a:solidFill>
                          </a:rPr>
                          <m:t>𝑥</m:t>
                        </m:r>
                      </m:e>
                      <m:sub>
                        <m:r>
                          <a:rPr lang="ar-AE" b="0" i="1">
                            <a:solidFill>
                              <a:srgbClr val="660874"/>
                            </a:solidFill>
                          </a:rPr>
                          <m:t>𝑇</m:t>
                        </m:r>
                      </m:sub>
                    </m:sSub>
                    <m:sSub>
                      <m:sSubPr>
                        <m:ctrlPr>
                          <a:rPr lang="ar-AE">
                            <a:solidFill>
                              <a:srgbClr val="660874"/>
                            </a:solidFill>
                          </a:rPr>
                        </m:ctrlPr>
                      </m:sSubPr>
                      <m:e>
                        <m:r>
                          <a:rPr lang="ar-AE" b="0">
                            <a:solidFill>
                              <a:srgbClr val="660874"/>
                            </a:solidFill>
                          </a:rPr>
                          <m:t>∥</m:t>
                        </m:r>
                      </m:e>
                      <m:sub>
                        <m:r>
                          <a:rPr lang="ar-AE" b="0" i="1">
                            <a:solidFill>
                              <a:srgbClr val="660874"/>
                            </a:solidFill>
                          </a:rPr>
                          <m:t>2</m:t>
                        </m:r>
                      </m:sub>
                    </m:sSub>
                    <m:r>
                      <a:rPr lang="ar-AE" b="0">
                        <a:solidFill>
                          <a:srgbClr val="660874"/>
                        </a:solidFill>
                      </a:rPr>
                      <m:t>=</m:t>
                    </m:r>
                    <m:r>
                      <a:rPr lang="ar-AE" b="0" i="1">
                        <a:solidFill>
                          <a:srgbClr val="660874"/>
                        </a:solidFill>
                      </a:rPr>
                      <m:t>𝐶</m:t>
                    </m:r>
                    <m:rad>
                      <m:radPr>
                        <m:degHide m:val="on"/>
                        <m:ctrlPr>
                          <a:rPr lang="ar-AE">
                            <a:solidFill>
                              <a:srgbClr val="660874"/>
                            </a:solidFill>
                          </a:rPr>
                        </m:ctrlPr>
                      </m:radPr>
                      <m:deg/>
                      <m:e>
                        <m:r>
                          <a:rPr lang="ar-AE" b="0" i="1">
                            <a:solidFill>
                              <a:srgbClr val="660874"/>
                            </a:solidFill>
                          </a:rPr>
                          <m:t>1</m:t>
                        </m:r>
                        <m:r>
                          <a:rPr lang="ar-AE" b="0">
                            <a:solidFill>
                              <a:srgbClr val="660874"/>
                            </a:solidFill>
                          </a:rPr>
                          <m:t>−</m:t>
                        </m:r>
                        <m:acc>
                          <m:accPr>
                            <m:chr m:val="̅"/>
                            <m:ctrlPr>
                              <a:rPr lang="ar-AE">
                                <a:solidFill>
                                  <a:srgbClr val="660874"/>
                                </a:solidFill>
                              </a:rPr>
                            </m:ctrlPr>
                          </m:accPr>
                          <m:e>
                            <m:sSub>
                              <m:sSubPr>
                                <m:ctrlPr>
                                  <a:rPr lang="ar-AE">
                                    <a:solidFill>
                                      <a:srgbClr val="660874"/>
                                    </a:solidFill>
                                  </a:rPr>
                                </m:ctrlPr>
                              </m:sSubPr>
                              <m:e>
                                <m:r>
                                  <a:rPr lang="ar-AE" b="0" i="1">
                                    <a:solidFill>
                                      <a:srgbClr val="660874"/>
                                    </a:solidFill>
                                  </a:rPr>
                                  <m:t>𝛼</m:t>
                                </m:r>
                              </m:e>
                              <m:sub>
                                <m:r>
                                  <a:rPr lang="ar-AE" b="0" i="1">
                                    <a:solidFill>
                                      <a:srgbClr val="660874"/>
                                    </a:solidFill>
                                  </a:rPr>
                                  <m:t>𝑡</m:t>
                                </m:r>
                              </m:sub>
                            </m:sSub>
                          </m:e>
                        </m:acc>
                      </m:e>
                    </m:rad>
                    <m:r>
                      <a:rPr lang="ar-AE" b="0">
                        <a:solidFill>
                          <a:srgbClr val="660874"/>
                        </a:solidFill>
                      </a:rPr>
                      <m:t>∥</m:t>
                    </m:r>
                    <m:r>
                      <a:rPr lang="el-GR" b="0" i="1">
                        <a:solidFill>
                          <a:srgbClr val="660874"/>
                        </a:solidFill>
                      </a:rPr>
                      <m:t>𝛥𝜖</m:t>
                    </m:r>
                    <m:sSub>
                      <m:sSubPr>
                        <m:ctrlPr>
                          <a:rPr lang="ar-AE">
                            <a:solidFill>
                              <a:srgbClr val="660874"/>
                            </a:solidFill>
                          </a:rPr>
                        </m:ctrlPr>
                      </m:sSubPr>
                      <m:e>
                        <m:r>
                          <a:rPr lang="ar-AE" b="0">
                            <a:solidFill>
                              <a:srgbClr val="660874"/>
                            </a:solidFill>
                          </a:rPr>
                          <m:t>∥</m:t>
                        </m:r>
                      </m:e>
                      <m:sub>
                        <m:r>
                          <a:rPr lang="ar-AE" b="0" i="1">
                            <a:solidFill>
                              <a:srgbClr val="660874"/>
                            </a:solidFill>
                          </a:rPr>
                          <m:t>2</m:t>
                        </m:r>
                      </m:sub>
                    </m:sSub>
                    <m:r>
                      <a:rPr lang="ar-AE" b="0">
                        <a:solidFill>
                          <a:srgbClr val="660874"/>
                        </a:solidFill>
                      </a:rPr>
                      <m:t>,</m:t>
                    </m:r>
                    <m:r>
                      <m:rPr>
                        <m:nor/>
                      </m:rPr>
                      <a:rPr lang="ar-AE">
                        <a:solidFill>
                          <a:srgbClr val="660874"/>
                        </a:solidFill>
                      </a:rPr>
                      <m:t>  </m:t>
                    </m:r>
                    <m:r>
                      <a:rPr lang="ar-AE" b="0">
                        <a:solidFill>
                          <a:srgbClr val="660874"/>
                        </a:solidFill>
                      </a:rPr>
                      <m:t>∀</m:t>
                    </m:r>
                    <m:r>
                      <a:rPr lang="ar-AE" b="0" i="1">
                        <a:solidFill>
                          <a:srgbClr val="660874"/>
                        </a:solidFill>
                      </a:rPr>
                      <m:t>𝜖</m:t>
                    </m:r>
                  </m:oMath>
                </a14:m>
                <a:endParaRPr lang="en-US" dirty="0">
                  <a:solidFill>
                    <a:srgbClr val="660874"/>
                  </a:solidFill>
                </a:endParaRPr>
              </a:p>
              <a:p>
                <a:pPr marL="285750" indent="-285750">
                  <a:buFontTx/>
                  <a:buChar char="-"/>
                </a:pPr>
                <a:r>
                  <a:rPr lang="en-US" dirty="0">
                    <a:solidFill>
                      <a:srgbClr val="660874"/>
                    </a:solidFill>
                  </a:rPr>
                  <a:t>If we treat the model as a function: </a:t>
                </a:r>
                <a14:m>
                  <m:oMath xmlns:m="http://schemas.openxmlformats.org/officeDocument/2006/math">
                    <m:acc>
                      <m:accPr>
                        <m:chr m:val="̂"/>
                        <m:ctrlPr>
                          <a:rPr lang="ar-AE">
                            <a:solidFill>
                              <a:srgbClr val="660874"/>
                            </a:solidFill>
                          </a:rPr>
                        </m:ctrlPr>
                      </m:accPr>
                      <m:e>
                        <m:sSub>
                          <m:sSubPr>
                            <m:ctrlPr>
                              <a:rPr lang="ar-AE">
                                <a:solidFill>
                                  <a:srgbClr val="660874"/>
                                </a:solidFill>
                              </a:rPr>
                            </m:ctrlPr>
                          </m:sSubPr>
                          <m:e>
                            <m:r>
                              <a:rPr lang="ar-AE" b="0" i="1">
                                <a:solidFill>
                                  <a:srgbClr val="660874"/>
                                </a:solidFill>
                              </a:rPr>
                              <m:t>𝑥</m:t>
                            </m:r>
                          </m:e>
                          <m:sub>
                            <m:r>
                              <a:rPr lang="ar-AE" b="0" i="1">
                                <a:solidFill>
                                  <a:srgbClr val="660874"/>
                                </a:solidFill>
                              </a:rPr>
                              <m:t>0</m:t>
                            </m:r>
                          </m:sub>
                        </m:sSub>
                      </m:e>
                    </m:acc>
                    <m:r>
                      <a:rPr lang="ar-AE" b="1">
                        <a:solidFill>
                          <a:srgbClr val="660874"/>
                        </a:solidFill>
                      </a:rPr>
                      <m:t>=</m:t>
                    </m:r>
                    <m:sSub>
                      <m:sSubPr>
                        <m:ctrlPr>
                          <a:rPr lang="ar-AE" b="1">
                            <a:solidFill>
                              <a:srgbClr val="660874"/>
                            </a:solidFill>
                          </a:rPr>
                        </m:ctrlPr>
                      </m:sSubPr>
                      <m:e>
                        <m:r>
                          <a:rPr lang="ar-AE" b="1">
                            <a:solidFill>
                              <a:srgbClr val="660874"/>
                            </a:solidFill>
                          </a:rPr>
                          <m:t>𝑓</m:t>
                        </m:r>
                      </m:e>
                      <m:sub>
                        <m:r>
                          <a:rPr lang="ar-AE" b="1">
                            <a:solidFill>
                              <a:srgbClr val="660874"/>
                            </a:solidFill>
                          </a:rPr>
                          <m:t>𝜃</m:t>
                        </m:r>
                      </m:sub>
                    </m:sSub>
                    <m:d>
                      <m:dPr>
                        <m:ctrlPr>
                          <a:rPr lang="ar-AE" b="1">
                            <a:solidFill>
                              <a:srgbClr val="660874"/>
                            </a:solidFill>
                          </a:rPr>
                        </m:ctrlPr>
                      </m:dPr>
                      <m:e>
                        <m:r>
                          <a:rPr lang="ar-AE" b="1">
                            <a:solidFill>
                              <a:srgbClr val="660874"/>
                            </a:solidFill>
                          </a:rPr>
                          <m:t>𝜖</m:t>
                        </m:r>
                      </m:e>
                    </m:d>
                  </m:oMath>
                </a14:m>
                <a:r>
                  <a:rPr lang="en-US" dirty="0">
                    <a:solidFill>
                      <a:srgbClr val="660874"/>
                    </a:solidFill>
                  </a:rPr>
                  <a:t>. Then, in order to know how </a:t>
                </a:r>
                <a14:m>
                  <m:oMath xmlns:m="http://schemas.openxmlformats.org/officeDocument/2006/math">
                    <m:acc>
                      <m:accPr>
                        <m:chr m:val="̂"/>
                        <m:ctrlPr>
                          <a:rPr lang="ar-AE">
                            <a:solidFill>
                              <a:srgbClr val="660874"/>
                            </a:solidFill>
                          </a:rPr>
                        </m:ctrlPr>
                      </m:accPr>
                      <m:e>
                        <m:sSub>
                          <m:sSubPr>
                            <m:ctrlPr>
                              <a:rPr lang="ar-AE">
                                <a:solidFill>
                                  <a:srgbClr val="660874"/>
                                </a:solidFill>
                              </a:rPr>
                            </m:ctrlPr>
                          </m:sSubPr>
                          <m:e>
                            <m:r>
                              <a:rPr lang="ar-AE">
                                <a:solidFill>
                                  <a:srgbClr val="660874"/>
                                </a:solidFill>
                              </a:rPr>
                              <m:t>𝑥</m:t>
                            </m:r>
                          </m:e>
                          <m:sub>
                            <m:r>
                              <a:rPr lang="ar-AE">
                                <a:solidFill>
                                  <a:srgbClr val="660874"/>
                                </a:solidFill>
                              </a:rPr>
                              <m:t>0</m:t>
                            </m:r>
                          </m:sub>
                        </m:sSub>
                      </m:e>
                    </m:acc>
                  </m:oMath>
                </a14:m>
                <a:r>
                  <a:rPr lang="en-US" dirty="0">
                    <a:solidFill>
                      <a:srgbClr val="660874"/>
                    </a:solidFill>
                  </a:rPr>
                  <a:t> responds to </a:t>
                </a:r>
                <a14:m>
                  <m:oMath xmlns:m="http://schemas.openxmlformats.org/officeDocument/2006/math">
                    <m:r>
                      <a:rPr lang="ar-AE">
                        <a:solidFill>
                          <a:srgbClr val="660874"/>
                        </a:solidFill>
                      </a:rPr>
                      <m:t>𝜖</m:t>
                    </m:r>
                  </m:oMath>
                </a14:m>
                <a:r>
                  <a:rPr lang="en-US" dirty="0">
                    <a:solidFill>
                      <a:srgbClr val="660874"/>
                    </a:solidFill>
                  </a:rPr>
                  <a:t> (we want this be a constant), we take the partial derivative of </a:t>
                </a:r>
                <a14:m>
                  <m:oMath xmlns:m="http://schemas.openxmlformats.org/officeDocument/2006/math">
                    <m:acc>
                      <m:accPr>
                        <m:chr m:val="̂"/>
                        <m:ctrlPr>
                          <a:rPr lang="ar-AE" i="1" smtClean="0">
                            <a:solidFill>
                              <a:srgbClr val="660874"/>
                            </a:solidFill>
                            <a:latin typeface="Cambria Math" panose="02040503050406030204" pitchFamily="18" charset="0"/>
                          </a:rPr>
                        </m:ctrlPr>
                      </m:accPr>
                      <m:e>
                        <m:sSub>
                          <m:sSubPr>
                            <m:ctrlPr>
                              <a:rPr lang="ar-AE" i="1">
                                <a:solidFill>
                                  <a:srgbClr val="660874"/>
                                </a:solidFill>
                                <a:latin typeface="Cambria Math" panose="02040503050406030204" pitchFamily="18" charset="0"/>
                              </a:rPr>
                            </m:ctrlPr>
                          </m:sSubPr>
                          <m:e>
                            <m:r>
                              <a:rPr lang="ar-AE">
                                <a:solidFill>
                                  <a:srgbClr val="660874"/>
                                </a:solidFill>
                                <a:latin typeface="Cambria Math" panose="02040503050406030204" pitchFamily="18" charset="0"/>
                              </a:rPr>
                              <m:t>𝑥</m:t>
                            </m:r>
                          </m:e>
                          <m:sub>
                            <m:r>
                              <a:rPr lang="ar-AE">
                                <a:solidFill>
                                  <a:srgbClr val="660874"/>
                                </a:solidFill>
                                <a:latin typeface="Cambria Math" panose="02040503050406030204" pitchFamily="18" charset="0"/>
                              </a:rPr>
                              <m:t>0</m:t>
                            </m:r>
                          </m:sub>
                        </m:sSub>
                      </m:e>
                    </m:acc>
                  </m:oMath>
                </a14:m>
                <a:r>
                  <a:rPr lang="en-US" dirty="0">
                    <a:solidFill>
                      <a:srgbClr val="660874"/>
                    </a:solidFill>
                  </a:rPr>
                  <a:t> with respect to </a:t>
                </a:r>
                <a14:m>
                  <m:oMath xmlns:m="http://schemas.openxmlformats.org/officeDocument/2006/math">
                    <m:r>
                      <a:rPr lang="ar-AE" b="1" smtClean="0">
                        <a:solidFill>
                          <a:srgbClr val="660874"/>
                        </a:solidFill>
                        <a:latin typeface="Cambria Math" panose="02040503050406030204" pitchFamily="18" charset="0"/>
                      </a:rPr>
                      <m:t>𝜖</m:t>
                    </m:r>
                  </m:oMath>
                </a14:m>
                <a:r>
                  <a:rPr lang="el-GR" dirty="0">
                    <a:solidFill>
                      <a:srgbClr val="660874"/>
                    </a:solidFill>
                  </a:rPr>
                  <a:t> </a:t>
                </a:r>
                <a:r>
                  <a:rPr lang="en-US" dirty="0">
                    <a:solidFill>
                      <a:srgbClr val="660874"/>
                    </a:solidFill>
                  </a:rPr>
                  <a:t>tells us that sensitivity. </a:t>
                </a:r>
              </a:p>
              <a:p>
                <a:pPr/>
                <a14:m>
                  <m:oMathPara xmlns:m="http://schemas.openxmlformats.org/officeDocument/2006/math">
                    <m:oMathParaPr>
                      <m:jc m:val="center"/>
                    </m:oMathParaPr>
                    <m:oMath xmlns:m="http://schemas.openxmlformats.org/officeDocument/2006/math">
                      <m:sSub>
                        <m:sSubPr>
                          <m:ctrlPr>
                            <a:rPr lang="ar-AE">
                              <a:solidFill>
                                <a:srgbClr val="660874"/>
                              </a:solidFill>
                            </a:rPr>
                          </m:ctrlPr>
                        </m:sSubPr>
                        <m:e>
                          <m:r>
                            <a:rPr lang="ar-AE">
                              <a:solidFill>
                                <a:srgbClr val="660874"/>
                              </a:solidFill>
                            </a:rPr>
                            <m:t>𝐽</m:t>
                          </m:r>
                        </m:e>
                        <m:sub>
                          <m:r>
                            <a:rPr lang="ar-AE">
                              <a:solidFill>
                                <a:srgbClr val="660874"/>
                              </a:solidFill>
                            </a:rPr>
                            <m:t>𝜖</m:t>
                          </m:r>
                        </m:sub>
                      </m:sSub>
                      <m:r>
                        <a:rPr lang="en-US">
                          <a:solidFill>
                            <a:srgbClr val="660874"/>
                          </a:solidFill>
                        </a:rPr>
                        <m:t>=</m:t>
                      </m:r>
                      <m:f>
                        <m:fPr>
                          <m:ctrlPr>
                            <a:rPr lang="ar-AE">
                              <a:solidFill>
                                <a:srgbClr val="660874"/>
                              </a:solidFill>
                            </a:rPr>
                          </m:ctrlPr>
                        </m:fPr>
                        <m:num>
                          <m:r>
                            <a:rPr lang="ar-AE">
                              <a:solidFill>
                                <a:srgbClr val="660874"/>
                              </a:solidFill>
                            </a:rPr>
                            <m:t>∂</m:t>
                          </m:r>
                          <m:acc>
                            <m:accPr>
                              <m:chr m:val="̂"/>
                              <m:ctrlPr>
                                <a:rPr lang="ar-AE" i="1" smtClean="0">
                                  <a:solidFill>
                                    <a:srgbClr val="660874"/>
                                  </a:solidFill>
                                  <a:latin typeface="Cambria Math" panose="02040503050406030204" pitchFamily="18" charset="0"/>
                                </a:rPr>
                              </m:ctrlPr>
                            </m:accPr>
                            <m:e>
                              <m:sSub>
                                <m:sSubPr>
                                  <m:ctrlPr>
                                    <a:rPr lang="ar-AE" i="1" smtClean="0">
                                      <a:solidFill>
                                        <a:srgbClr val="660874"/>
                                      </a:solidFill>
                                      <a:latin typeface="Cambria Math" panose="02040503050406030204" pitchFamily="18" charset="0"/>
                                    </a:rPr>
                                  </m:ctrlPr>
                                </m:sSubPr>
                                <m:e>
                                  <m:r>
                                    <a:rPr lang="ar-AE">
                                      <a:solidFill>
                                        <a:srgbClr val="660874"/>
                                      </a:solidFill>
                                      <a:latin typeface="Cambria Math" panose="02040503050406030204" pitchFamily="18" charset="0"/>
                                    </a:rPr>
                                    <m:t>𝑥</m:t>
                                  </m:r>
                                </m:e>
                                <m:sub>
                                  <m:r>
                                    <a:rPr lang="ar-AE">
                                      <a:solidFill>
                                        <a:srgbClr val="660874"/>
                                      </a:solidFill>
                                      <a:latin typeface="Cambria Math" panose="02040503050406030204" pitchFamily="18" charset="0"/>
                                    </a:rPr>
                                    <m:t>0</m:t>
                                  </m:r>
                                </m:sub>
                              </m:sSub>
                            </m:e>
                          </m:acc>
                        </m:num>
                        <m:den>
                          <m:r>
                            <a:rPr lang="ar-AE">
                              <a:solidFill>
                                <a:srgbClr val="660874"/>
                              </a:solidFill>
                            </a:rPr>
                            <m:t>∂</m:t>
                          </m:r>
                          <m:r>
                            <a:rPr lang="ar-AE">
                              <a:solidFill>
                                <a:srgbClr val="660874"/>
                              </a:solidFill>
                            </a:rPr>
                            <m:t>𝜖</m:t>
                          </m:r>
                        </m:den>
                      </m:f>
                    </m:oMath>
                  </m:oMathPara>
                </a14:m>
                <a:endParaRPr lang="ar-AE" dirty="0">
                  <a:solidFill>
                    <a:srgbClr val="660874"/>
                  </a:solidFill>
                </a:endParaRPr>
              </a:p>
              <a:p>
                <a:r>
                  <a:rPr lang="en-US" dirty="0">
                    <a:solidFill>
                      <a:srgbClr val="660874"/>
                    </a:solidFill>
                  </a:rPr>
                  <a:t>This is the Jacobian matrix, and we do not want it to be too large because a small input noise will then lead to a big change in the image</a:t>
                </a:r>
                <a:r>
                  <a:rPr lang="ar-AE" dirty="0">
                    <a:solidFill>
                      <a:srgbClr val="660874"/>
                    </a:solidFill>
                  </a:rPr>
                  <a:t>.</a:t>
                </a:r>
                <a:r>
                  <a:rPr lang="en-US" dirty="0">
                    <a:solidFill>
                      <a:srgbClr val="660874"/>
                    </a:solidFill>
                  </a:rPr>
                  <a:t> The next step is to regularize it so that it penalizes big Jacobian values.</a:t>
                </a:r>
                <a:endParaRPr lang="ar-AE" dirty="0">
                  <a:solidFill>
                    <a:srgbClr val="660874"/>
                  </a:solidFill>
                </a:endParaRPr>
              </a:p>
              <a:p>
                <a:endParaRPr lang="ar-AE" b="1" dirty="0">
                  <a:solidFill>
                    <a:srgbClr val="660874"/>
                  </a:solidFill>
                </a:endParaRPr>
              </a:p>
              <a:p>
                <a:pPr>
                  <a:lnSpc>
                    <a:spcPct val="200000"/>
                  </a:lnSpc>
                </a:pPr>
                <a:endParaRPr lang="en-US" dirty="0">
                  <a:solidFill>
                    <a:srgbClr val="660874"/>
                  </a:solidFill>
                </a:endParaRPr>
              </a:p>
              <a:p>
                <a:pPr marL="285750" indent="-285750">
                  <a:lnSpc>
                    <a:spcPct val="200000"/>
                  </a:lnSpc>
                  <a:buFont typeface="Wingdings" panose="05000000000000000000" pitchFamily="2" charset="2"/>
                  <a:buChar char="Ø"/>
                </a:pPr>
                <a:endParaRPr lang="en-US" b="1" dirty="0">
                  <a:solidFill>
                    <a:srgbClr val="660874"/>
                  </a:solidFill>
                </a:endParaRPr>
              </a:p>
              <a:p>
                <a:pPr marL="285750" indent="-285750">
                  <a:lnSpc>
                    <a:spcPct val="200000"/>
                  </a:lnSpc>
                  <a:buFont typeface="Wingdings" panose="05000000000000000000" pitchFamily="2" charset="2"/>
                  <a:buChar char="Ø"/>
                </a:pPr>
                <a:endParaRPr lang="en-US" b="1" dirty="0">
                  <a:solidFill>
                    <a:srgbClr val="660874"/>
                  </a:solidFill>
                </a:endParaRPr>
              </a:p>
              <a:p>
                <a:pPr marL="285750" indent="-285750">
                  <a:lnSpc>
                    <a:spcPct val="200000"/>
                  </a:lnSpc>
                  <a:buFont typeface="Wingdings" panose="05000000000000000000" pitchFamily="2" charset="2"/>
                  <a:buChar char="Ø"/>
                </a:pPr>
                <a:endParaRPr lang="en-US" b="1" dirty="0">
                  <a:solidFill>
                    <a:srgbClr val="660874"/>
                  </a:solidFill>
                </a:endParaRPr>
              </a:p>
              <a:p>
                <a:pPr marL="285750" indent="-285750">
                  <a:lnSpc>
                    <a:spcPct val="200000"/>
                  </a:lnSpc>
                  <a:buFont typeface="Wingdings" panose="05000000000000000000" pitchFamily="2" charset="2"/>
                  <a:buChar char="Ø"/>
                </a:pPr>
                <a:endParaRPr lang="en-US" b="1" dirty="0">
                  <a:solidFill>
                    <a:srgbClr val="660874"/>
                  </a:solidFill>
                </a:endParaRPr>
              </a:p>
              <a:p>
                <a:pPr marL="285750" indent="-285750">
                  <a:lnSpc>
                    <a:spcPct val="200000"/>
                  </a:lnSpc>
                  <a:buFont typeface="Wingdings" panose="05000000000000000000" pitchFamily="2" charset="2"/>
                  <a:buChar char="Ø"/>
                </a:pPr>
                <a:endParaRPr lang="en-US" b="1" dirty="0">
                  <a:solidFill>
                    <a:srgbClr val="660874"/>
                  </a:solidFill>
                </a:endParaRPr>
              </a:p>
            </p:txBody>
          </p:sp>
        </mc:Choice>
        <mc:Fallback>
          <p:sp>
            <p:nvSpPr>
              <p:cNvPr id="11" name="TextBox 10">
                <a:extLst>
                  <a:ext uri="{FF2B5EF4-FFF2-40B4-BE49-F238E27FC236}">
                    <a16:creationId xmlns:a16="http://schemas.microsoft.com/office/drawing/2014/main" id="{F0501AF0-C2BE-1364-8130-C4B918B37BEB}"/>
                  </a:ext>
                </a:extLst>
              </p:cNvPr>
              <p:cNvSpPr txBox="1">
                <a:spLocks noRot="1" noChangeAspect="1" noMove="1" noResize="1" noEditPoints="1" noAdjustHandles="1" noChangeArrowheads="1" noChangeShapeType="1" noTextEdit="1"/>
              </p:cNvSpPr>
              <p:nvPr/>
            </p:nvSpPr>
            <p:spPr>
              <a:xfrm>
                <a:off x="1017437" y="1715585"/>
                <a:ext cx="9941508" cy="6476453"/>
              </a:xfrm>
              <a:prstGeom prst="rect">
                <a:avLst/>
              </a:prstGeom>
              <a:blipFill>
                <a:blip r:embed="rId2"/>
                <a:stretch>
                  <a:fillRect l="-552"/>
                </a:stretch>
              </a:blipFill>
            </p:spPr>
            <p:txBody>
              <a:bodyPr/>
              <a:lstStyle/>
              <a:p>
                <a:r>
                  <a:rPr lang="en-US">
                    <a:noFill/>
                  </a:rPr>
                  <a:t> </a:t>
                </a:r>
              </a:p>
            </p:txBody>
          </p:sp>
        </mc:Fallback>
      </mc:AlternateContent>
      <p:pic>
        <p:nvPicPr>
          <p:cNvPr id="1026" name="Picture 2" descr="Improving Diffusion Models as an Alternative To GANs, Part 2 | NVIDIA  Technical Blog">
            <a:extLst>
              <a:ext uri="{FF2B5EF4-FFF2-40B4-BE49-F238E27FC236}">
                <a16:creationId xmlns:a16="http://schemas.microsoft.com/office/drawing/2014/main" id="{392F2F6C-3860-C150-93FA-547EFF39838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19753"/>
          <a:stretch>
            <a:fillRect/>
          </a:stretch>
        </p:blipFill>
        <p:spPr bwMode="auto">
          <a:xfrm>
            <a:off x="7550727" y="-236387"/>
            <a:ext cx="4322618" cy="19514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471087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9D3E36-839E-536D-6AAD-A5085C40A74C}"/>
            </a:ext>
          </a:extLst>
        </p:cNvPr>
        <p:cNvGrpSpPr/>
        <p:nvPr/>
      </p:nvGrpSpPr>
      <p:grpSpPr>
        <a:xfrm>
          <a:off x="0" y="0"/>
          <a:ext cx="0" cy="0"/>
          <a:chOff x="0" y="0"/>
          <a:chExt cx="0" cy="0"/>
        </a:xfrm>
      </p:grpSpPr>
      <p:sp>
        <p:nvSpPr>
          <p:cNvPr id="4" name="Arrow: Chevron 3">
            <a:extLst>
              <a:ext uri="{FF2B5EF4-FFF2-40B4-BE49-F238E27FC236}">
                <a16:creationId xmlns:a16="http://schemas.microsoft.com/office/drawing/2014/main" id="{01C14D62-11CD-D19D-7A18-71C58BFA3024}"/>
              </a:ext>
            </a:extLst>
          </p:cNvPr>
          <p:cNvSpPr/>
          <p:nvPr/>
        </p:nvSpPr>
        <p:spPr>
          <a:xfrm>
            <a:off x="892601" y="488935"/>
            <a:ext cx="5896126" cy="694742"/>
          </a:xfrm>
          <a:prstGeom prst="chevron">
            <a:avLst/>
          </a:prstGeom>
          <a:solidFill>
            <a:schemeClr val="bg1">
              <a:lumMod val="85000"/>
              <a:alpha val="67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 name="Arrow: Chevron 4">
            <a:extLst>
              <a:ext uri="{FF2B5EF4-FFF2-40B4-BE49-F238E27FC236}">
                <a16:creationId xmlns:a16="http://schemas.microsoft.com/office/drawing/2014/main" id="{0ED2C07B-20A4-050E-8716-B2516E69B18B}"/>
              </a:ext>
            </a:extLst>
          </p:cNvPr>
          <p:cNvSpPr/>
          <p:nvPr/>
        </p:nvSpPr>
        <p:spPr>
          <a:xfrm>
            <a:off x="393087" y="488936"/>
            <a:ext cx="817404" cy="694742"/>
          </a:xfrm>
          <a:prstGeom prst="chevron">
            <a:avLst/>
          </a:prstGeom>
          <a:gradFill>
            <a:gsLst>
              <a:gs pos="0">
                <a:srgbClr val="660874"/>
              </a:gs>
              <a:gs pos="50000">
                <a:srgbClr val="7030A0"/>
              </a:gs>
              <a:gs pos="100000">
                <a:srgbClr val="660874"/>
              </a:gs>
            </a:gsLst>
            <a:lin ang="5400000" scaled="0"/>
          </a:gra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 name="Title 1">
            <a:extLst>
              <a:ext uri="{FF2B5EF4-FFF2-40B4-BE49-F238E27FC236}">
                <a16:creationId xmlns:a16="http://schemas.microsoft.com/office/drawing/2014/main" id="{B0258ABB-7FBF-5ED3-0AA8-488A4346451F}"/>
              </a:ext>
            </a:extLst>
          </p:cNvPr>
          <p:cNvSpPr>
            <a:spLocks noGrp="1"/>
          </p:cNvSpPr>
          <p:nvPr>
            <p:ph type="title"/>
          </p:nvPr>
        </p:nvSpPr>
        <p:spPr>
          <a:xfrm>
            <a:off x="1248477" y="190942"/>
            <a:ext cx="10515600" cy="1325563"/>
          </a:xfrm>
          <a:effectLst/>
        </p:spPr>
        <p:txBody>
          <a:bodyPr>
            <a:normAutofit/>
          </a:bodyPr>
          <a:lstStyle/>
          <a:p>
            <a:r>
              <a:rPr lang="en-US" altLang="zh-CN" sz="2800" dirty="0">
                <a:solidFill>
                  <a:srgbClr val="660874"/>
                </a:solidFill>
              </a:rPr>
              <a:t>Smooth Diffusion (Guo et. al 2023)</a:t>
            </a:r>
            <a:endParaRPr lang="zh-CN" altLang="en-US" sz="2800" dirty="0">
              <a:solidFill>
                <a:srgbClr val="660874"/>
              </a:solidFill>
            </a:endParaRPr>
          </a:p>
        </p:txBody>
      </p:sp>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F7765B4E-3F4A-58C0-AC31-CCDCFBE821D6}"/>
                  </a:ext>
                </a:extLst>
              </p:cNvPr>
              <p:cNvSpPr txBox="1"/>
              <p:nvPr/>
            </p:nvSpPr>
            <p:spPr>
              <a:xfrm>
                <a:off x="1017437" y="1715585"/>
                <a:ext cx="9941508" cy="8529002"/>
              </a:xfrm>
              <a:prstGeom prst="rect">
                <a:avLst/>
              </a:prstGeom>
              <a:noFill/>
            </p:spPr>
            <p:txBody>
              <a:bodyPr wrap="square" rtlCol="0">
                <a:spAutoFit/>
              </a:bodyPr>
              <a:lstStyle/>
              <a:p>
                <a:pPr marL="285750" indent="-285750">
                  <a:lnSpc>
                    <a:spcPct val="200000"/>
                  </a:lnSpc>
                  <a:buFont typeface="Wingdings" panose="05000000000000000000" pitchFamily="2" charset="2"/>
                  <a:buChar char="Ø"/>
                </a:pPr>
                <a:r>
                  <a:rPr lang="en-US" b="1" dirty="0">
                    <a:solidFill>
                      <a:srgbClr val="660874"/>
                    </a:solidFill>
                  </a:rPr>
                  <a:t>Step-wise Variation Regularization (continued)</a:t>
                </a:r>
              </a:p>
              <a:p>
                <a:r>
                  <a:rPr lang="en-US" b="1" dirty="0">
                    <a:solidFill>
                      <a:srgbClr val="660874"/>
                    </a:solidFill>
                  </a:rPr>
                  <a:t>-</a:t>
                </a:r>
                <a:r>
                  <a:rPr lang="en-US" dirty="0">
                    <a:solidFill>
                      <a:srgbClr val="660874"/>
                    </a:solidFill>
                  </a:rPr>
                  <a:t>.In the paper(also Karras et. al 2020), this regularization term is</a:t>
                </a:r>
                <a:r>
                  <a:rPr lang="ar-AE" dirty="0">
                    <a:solidFill>
                      <a:srgbClr val="660874"/>
                    </a:solidFill>
                  </a:rPr>
                  <a:t> </a:t>
                </a:r>
                <a:endParaRPr lang="en-US" dirty="0">
                  <a:solidFill>
                    <a:srgbClr val="660874"/>
                  </a:solidFill>
                </a:endParaRPr>
              </a:p>
              <a:p>
                <a:pPr algn="ctr"/>
                <a14:m>
                  <m:oMath xmlns:m="http://schemas.openxmlformats.org/officeDocument/2006/math">
                    <m:sSub>
                      <m:sSubPr>
                        <m:ctrlPr>
                          <a:rPr lang="ar-AE">
                            <a:solidFill>
                              <a:srgbClr val="660874"/>
                            </a:solidFill>
                          </a:rPr>
                        </m:ctrlPr>
                      </m:sSubPr>
                      <m:e>
                        <m:r>
                          <a:rPr lang="ar-AE">
                            <a:solidFill>
                              <a:srgbClr val="660874"/>
                            </a:solidFill>
                          </a:rPr>
                          <m:t>𝐿</m:t>
                        </m:r>
                      </m:e>
                      <m:sub>
                        <m:r>
                          <a:rPr lang="ar-AE">
                            <a:solidFill>
                              <a:srgbClr val="660874"/>
                            </a:solidFill>
                          </a:rPr>
                          <m:t>𝑟𝑒𝑔</m:t>
                        </m:r>
                      </m:sub>
                    </m:sSub>
                    <m:r>
                      <a:rPr lang="ar-AE">
                        <a:solidFill>
                          <a:srgbClr val="660874"/>
                        </a:solidFill>
                      </a:rPr>
                      <m:t>=</m:t>
                    </m:r>
                    <m:sSub>
                      <m:sSubPr>
                        <m:ctrlPr>
                          <a:rPr lang="ar-AE">
                            <a:solidFill>
                              <a:srgbClr val="660874"/>
                            </a:solidFill>
                          </a:rPr>
                        </m:ctrlPr>
                      </m:sSubPr>
                      <m:e>
                        <m:r>
                          <a:rPr lang="ar-AE">
                            <a:solidFill>
                              <a:srgbClr val="660874"/>
                            </a:solidFill>
                          </a:rPr>
                          <m:t>𝔼</m:t>
                        </m:r>
                      </m:e>
                      <m:sub>
                        <m:r>
                          <m:rPr>
                            <m:sty m:val="p"/>
                          </m:rPr>
                          <a:rPr lang="el-GR">
                            <a:solidFill>
                              <a:srgbClr val="660874"/>
                            </a:solidFill>
                          </a:rPr>
                          <m:t>Δ</m:t>
                        </m:r>
                        <m:acc>
                          <m:accPr>
                            <m:chr m:val="̂"/>
                            <m:ctrlPr>
                              <a:rPr lang="el-GR" i="1" smtClean="0">
                                <a:solidFill>
                                  <a:srgbClr val="660874"/>
                                </a:solidFill>
                                <a:latin typeface="Cambria Math" panose="02040503050406030204" pitchFamily="18" charset="0"/>
                              </a:rPr>
                            </m:ctrlPr>
                          </m:accPr>
                          <m:e>
                            <m:sSub>
                              <m:sSubPr>
                                <m:ctrlPr>
                                  <a:rPr lang="ar-AE" i="1" smtClean="0">
                                    <a:solidFill>
                                      <a:srgbClr val="660874"/>
                                    </a:solidFill>
                                    <a:latin typeface="Cambria Math" panose="02040503050406030204" pitchFamily="18" charset="0"/>
                                  </a:rPr>
                                </m:ctrlPr>
                              </m:sSubPr>
                              <m:e>
                                <m:r>
                                  <a:rPr lang="ar-AE">
                                    <a:solidFill>
                                      <a:srgbClr val="660874"/>
                                    </a:solidFill>
                                    <a:latin typeface="Cambria Math" panose="02040503050406030204" pitchFamily="18" charset="0"/>
                                  </a:rPr>
                                  <m:t>𝑥</m:t>
                                </m:r>
                              </m:e>
                              <m:sub>
                                <m:r>
                                  <a:rPr lang="ar-AE">
                                    <a:solidFill>
                                      <a:srgbClr val="660874"/>
                                    </a:solidFill>
                                    <a:latin typeface="Cambria Math" panose="02040503050406030204" pitchFamily="18" charset="0"/>
                                  </a:rPr>
                                  <m:t>0</m:t>
                                </m:r>
                              </m:sub>
                            </m:sSub>
                          </m:e>
                        </m:acc>
                        <m:r>
                          <a:rPr lang="ar-AE">
                            <a:solidFill>
                              <a:srgbClr val="660874"/>
                            </a:solidFill>
                          </a:rPr>
                          <m:t>,</m:t>
                        </m:r>
                        <m:r>
                          <a:rPr lang="ar-AE">
                            <a:solidFill>
                              <a:srgbClr val="660874"/>
                            </a:solidFill>
                          </a:rPr>
                          <m:t>𝜖</m:t>
                        </m:r>
                      </m:sub>
                    </m:sSub>
                    <m:r>
                      <a:rPr lang="ar-AE">
                        <a:solidFill>
                          <a:srgbClr val="660874"/>
                        </a:solidFill>
                      </a:rPr>
                      <m:t>[</m:t>
                    </m:r>
                    <m:rad>
                      <m:radPr>
                        <m:degHide m:val="on"/>
                        <m:ctrlPr>
                          <a:rPr lang="ar-AE">
                            <a:solidFill>
                              <a:srgbClr val="660874"/>
                            </a:solidFill>
                          </a:rPr>
                        </m:ctrlPr>
                      </m:radPr>
                      <m:deg/>
                      <m:e>
                        <m:r>
                          <a:rPr lang="ar-AE">
                            <a:solidFill>
                              <a:srgbClr val="660874"/>
                            </a:solidFill>
                          </a:rPr>
                          <m:t>1</m:t>
                        </m:r>
                        <m:r>
                          <a:rPr lang="ar-AE">
                            <a:solidFill>
                              <a:srgbClr val="660874"/>
                            </a:solidFill>
                          </a:rPr>
                          <m:t>−</m:t>
                        </m:r>
                        <m:acc>
                          <m:accPr>
                            <m:chr m:val="̅"/>
                            <m:ctrlPr>
                              <a:rPr lang="ar-AE" i="1" smtClean="0">
                                <a:solidFill>
                                  <a:srgbClr val="660874"/>
                                </a:solidFill>
                                <a:latin typeface="Cambria Math" panose="02040503050406030204" pitchFamily="18" charset="0"/>
                              </a:rPr>
                            </m:ctrlPr>
                          </m:accPr>
                          <m:e>
                            <m:sSub>
                              <m:sSubPr>
                                <m:ctrlPr>
                                  <a:rPr lang="ar-AE" i="1" smtClean="0">
                                    <a:solidFill>
                                      <a:srgbClr val="660874"/>
                                    </a:solidFill>
                                    <a:latin typeface="Cambria Math" panose="02040503050406030204" pitchFamily="18" charset="0"/>
                                  </a:rPr>
                                </m:ctrlPr>
                              </m:sSubPr>
                              <m:e>
                                <m:r>
                                  <a:rPr lang="ar-AE">
                                    <a:solidFill>
                                      <a:srgbClr val="660874"/>
                                    </a:solidFill>
                                    <a:latin typeface="Cambria Math" panose="02040503050406030204" pitchFamily="18" charset="0"/>
                                  </a:rPr>
                                  <m:t>𝛼</m:t>
                                </m:r>
                              </m:e>
                              <m:sub>
                                <m:r>
                                  <a:rPr lang="ar-AE">
                                    <a:solidFill>
                                      <a:srgbClr val="660874"/>
                                    </a:solidFill>
                                    <a:latin typeface="Cambria Math" panose="02040503050406030204" pitchFamily="18" charset="0"/>
                                  </a:rPr>
                                  <m:t>𝑡</m:t>
                                </m:r>
                              </m:sub>
                            </m:sSub>
                          </m:e>
                        </m:acc>
                      </m:e>
                    </m:rad>
                    <m:r>
                      <m:rPr>
                        <m:nor/>
                      </m:rPr>
                      <a:rPr lang="ar-AE">
                        <a:solidFill>
                          <a:srgbClr val="660874"/>
                        </a:solidFill>
                      </a:rPr>
                      <m:t> </m:t>
                    </m:r>
                    <m:r>
                      <a:rPr lang="ar-AE">
                        <a:solidFill>
                          <a:srgbClr val="660874"/>
                        </a:solidFill>
                      </a:rPr>
                      <m:t>∥</m:t>
                    </m:r>
                    <m:sSubSup>
                      <m:sSubSupPr>
                        <m:ctrlPr>
                          <a:rPr lang="ar-AE">
                            <a:solidFill>
                              <a:srgbClr val="660874"/>
                            </a:solidFill>
                          </a:rPr>
                        </m:ctrlPr>
                      </m:sSubSupPr>
                      <m:e>
                        <m:r>
                          <a:rPr lang="ar-AE">
                            <a:solidFill>
                              <a:srgbClr val="660874"/>
                            </a:solidFill>
                          </a:rPr>
                          <m:t>𝐽</m:t>
                        </m:r>
                      </m:e>
                      <m:sub>
                        <m:r>
                          <a:rPr lang="ar-AE">
                            <a:solidFill>
                              <a:srgbClr val="660874"/>
                            </a:solidFill>
                          </a:rPr>
                          <m:t>𝜖</m:t>
                        </m:r>
                      </m:sub>
                      <m:sup>
                        <m:r>
                          <a:rPr lang="ar-AE">
                            <a:solidFill>
                              <a:srgbClr val="660874"/>
                            </a:solidFill>
                          </a:rPr>
                          <m:t>𝑇</m:t>
                        </m:r>
                      </m:sup>
                    </m:sSubSup>
                    <m:r>
                      <m:rPr>
                        <m:sty m:val="p"/>
                      </m:rPr>
                      <a:rPr lang="el-GR">
                        <a:solidFill>
                          <a:srgbClr val="660874"/>
                        </a:solidFill>
                      </a:rPr>
                      <m:t>Δ</m:t>
                    </m:r>
                    <m:acc>
                      <m:accPr>
                        <m:chr m:val="̂"/>
                        <m:ctrlPr>
                          <a:rPr lang="el-GR" i="1" smtClean="0">
                            <a:solidFill>
                              <a:srgbClr val="660874"/>
                            </a:solidFill>
                            <a:latin typeface="Cambria Math" panose="02040503050406030204" pitchFamily="18" charset="0"/>
                          </a:rPr>
                        </m:ctrlPr>
                      </m:accPr>
                      <m:e>
                        <m:sSub>
                          <m:sSubPr>
                            <m:ctrlPr>
                              <a:rPr lang="ar-AE" i="1" smtClean="0">
                                <a:solidFill>
                                  <a:srgbClr val="660874"/>
                                </a:solidFill>
                                <a:latin typeface="Cambria Math" panose="02040503050406030204" pitchFamily="18" charset="0"/>
                              </a:rPr>
                            </m:ctrlPr>
                          </m:sSubPr>
                          <m:e>
                            <m:r>
                              <a:rPr lang="ar-AE">
                                <a:solidFill>
                                  <a:srgbClr val="660874"/>
                                </a:solidFill>
                                <a:latin typeface="Cambria Math" panose="02040503050406030204" pitchFamily="18" charset="0"/>
                              </a:rPr>
                              <m:t>𝑥</m:t>
                            </m:r>
                          </m:e>
                          <m:sub>
                            <m:r>
                              <a:rPr lang="ar-AE">
                                <a:solidFill>
                                  <a:srgbClr val="660874"/>
                                </a:solidFill>
                                <a:latin typeface="Cambria Math" panose="02040503050406030204" pitchFamily="18" charset="0"/>
                              </a:rPr>
                              <m:t>0</m:t>
                            </m:r>
                          </m:sub>
                        </m:sSub>
                      </m:e>
                    </m:acc>
                    <m:sSub>
                      <m:sSubPr>
                        <m:ctrlPr>
                          <a:rPr lang="ar-AE">
                            <a:solidFill>
                              <a:srgbClr val="660874"/>
                            </a:solidFill>
                          </a:rPr>
                        </m:ctrlPr>
                      </m:sSubPr>
                      <m:e>
                        <m:r>
                          <a:rPr lang="ar-AE">
                            <a:solidFill>
                              <a:srgbClr val="660874"/>
                            </a:solidFill>
                          </a:rPr>
                          <m:t>∥</m:t>
                        </m:r>
                      </m:e>
                      <m:sub>
                        <m:r>
                          <a:rPr lang="ar-AE">
                            <a:solidFill>
                              <a:srgbClr val="660874"/>
                            </a:solidFill>
                          </a:rPr>
                          <m:t>2</m:t>
                        </m:r>
                      </m:sub>
                    </m:sSub>
                    <m:r>
                      <a:rPr lang="ar-AE">
                        <a:solidFill>
                          <a:srgbClr val="660874"/>
                        </a:solidFill>
                      </a:rPr>
                      <m:t>−</m:t>
                    </m:r>
                    <m:r>
                      <a:rPr lang="en-US" b="0" i="0" smtClean="0">
                        <a:solidFill>
                          <a:srgbClr val="660874"/>
                        </a:solidFill>
                        <a:latin typeface="Cambria Math" panose="02040503050406030204" pitchFamily="18" charset="0"/>
                      </a:rPr>
                      <m:t> </m:t>
                    </m:r>
                    <m:r>
                      <a:rPr lang="ar-AE">
                        <a:solidFill>
                          <a:srgbClr val="660874"/>
                        </a:solidFill>
                      </a:rPr>
                      <m:t>𝑎</m:t>
                    </m:r>
                    <m:sSup>
                      <m:sSupPr>
                        <m:ctrlPr>
                          <a:rPr lang="ar-AE">
                            <a:solidFill>
                              <a:srgbClr val="660874"/>
                            </a:solidFill>
                          </a:rPr>
                        </m:ctrlPr>
                      </m:sSupPr>
                      <m:e>
                        <m:r>
                          <a:rPr lang="ar-AE">
                            <a:solidFill>
                              <a:srgbClr val="660874"/>
                            </a:solidFill>
                          </a:rPr>
                          <m:t>]</m:t>
                        </m:r>
                      </m:e>
                      <m:sup>
                        <m:r>
                          <a:rPr lang="ar-AE">
                            <a:solidFill>
                              <a:srgbClr val="660874"/>
                            </a:solidFill>
                          </a:rPr>
                          <m:t>2</m:t>
                        </m:r>
                      </m:sup>
                    </m:sSup>
                  </m:oMath>
                </a14:m>
                <a:r>
                  <a:rPr lang="en-US" dirty="0">
                    <a:solidFill>
                      <a:srgbClr val="660874"/>
                    </a:solidFill>
                  </a:rPr>
                  <a:t>, </a:t>
                </a:r>
              </a:p>
              <a:p>
                <a:r>
                  <a:rPr lang="en-US" dirty="0">
                    <a:solidFill>
                      <a:srgbClr val="660874"/>
                    </a:solidFill>
                  </a:rPr>
                  <a:t>where </a:t>
                </a:r>
                <a14:m>
                  <m:oMath xmlns:m="http://schemas.openxmlformats.org/officeDocument/2006/math">
                    <m:acc>
                      <m:accPr>
                        <m:chr m:val="̅"/>
                        <m:ctrlPr>
                          <a:rPr lang="ar-AE" i="1">
                            <a:solidFill>
                              <a:srgbClr val="660874"/>
                            </a:solidFill>
                          </a:rPr>
                        </m:ctrlPr>
                      </m:accPr>
                      <m:e>
                        <m:sSub>
                          <m:sSubPr>
                            <m:ctrlPr>
                              <a:rPr lang="ar-AE" i="1">
                                <a:solidFill>
                                  <a:srgbClr val="660874"/>
                                </a:solidFill>
                              </a:rPr>
                            </m:ctrlPr>
                          </m:sSubPr>
                          <m:e>
                            <m:r>
                              <a:rPr lang="ar-AE" i="1">
                                <a:solidFill>
                                  <a:srgbClr val="660874"/>
                                </a:solidFill>
                              </a:rPr>
                              <m:t>𝛼</m:t>
                            </m:r>
                          </m:e>
                          <m:sub>
                            <m:r>
                              <a:rPr lang="ar-AE" i="1">
                                <a:solidFill>
                                  <a:srgbClr val="660874"/>
                                </a:solidFill>
                              </a:rPr>
                              <m:t>𝑡</m:t>
                            </m:r>
                          </m:sub>
                        </m:sSub>
                      </m:e>
                    </m:acc>
                    <m:r>
                      <a:rPr lang="en-US" i="1">
                        <a:solidFill>
                          <a:srgbClr val="660874"/>
                        </a:solidFill>
                      </a:rPr>
                      <m:t>=</m:t>
                    </m:r>
                    <m:nary>
                      <m:naryPr>
                        <m:chr m:val="∏"/>
                        <m:grow m:val="on"/>
                        <m:ctrlPr>
                          <a:rPr lang="ar-AE" i="1">
                            <a:solidFill>
                              <a:srgbClr val="660874"/>
                            </a:solidFill>
                          </a:rPr>
                        </m:ctrlPr>
                      </m:naryPr>
                      <m:sub>
                        <m:r>
                          <a:rPr lang="ar-AE" i="1">
                            <a:solidFill>
                              <a:srgbClr val="660874"/>
                            </a:solidFill>
                          </a:rPr>
                          <m:t>𝑡</m:t>
                        </m:r>
                        <m:r>
                          <a:rPr lang="ar-AE" i="1">
                            <a:solidFill>
                              <a:srgbClr val="660874"/>
                            </a:solidFill>
                          </a:rPr>
                          <m:t>=</m:t>
                        </m:r>
                        <m:r>
                          <a:rPr lang="ar-AE" i="1">
                            <a:solidFill>
                              <a:srgbClr val="660874"/>
                            </a:solidFill>
                          </a:rPr>
                          <m:t>1</m:t>
                        </m:r>
                      </m:sub>
                      <m:sup>
                        <m:r>
                          <a:rPr lang="ar-AE" i="1">
                            <a:solidFill>
                              <a:srgbClr val="660874"/>
                            </a:solidFill>
                          </a:rPr>
                          <m:t>𝑇</m:t>
                        </m:r>
                      </m:sup>
                      <m:e>
                        <m:sSub>
                          <m:sSubPr>
                            <m:ctrlPr>
                              <a:rPr lang="ar-AE" i="1">
                                <a:solidFill>
                                  <a:srgbClr val="660874"/>
                                </a:solidFill>
                              </a:rPr>
                            </m:ctrlPr>
                          </m:sSubPr>
                          <m:e>
                            <m:r>
                              <a:rPr lang="ar-AE" i="1">
                                <a:solidFill>
                                  <a:srgbClr val="660874"/>
                                </a:solidFill>
                              </a:rPr>
                              <m:t>𝛼</m:t>
                            </m:r>
                          </m:e>
                          <m:sub>
                            <m:r>
                              <a:rPr lang="ar-AE" i="1">
                                <a:solidFill>
                                  <a:srgbClr val="660874"/>
                                </a:solidFill>
                              </a:rPr>
                              <m:t>𝑡</m:t>
                            </m:r>
                          </m:sub>
                        </m:sSub>
                      </m:e>
                    </m:nary>
                    <m:r>
                      <a:rPr lang="en-US" i="1">
                        <a:solidFill>
                          <a:srgbClr val="660874"/>
                        </a:solidFill>
                      </a:rPr>
                      <m:t>, </m:t>
                    </m:r>
                    <m:r>
                      <a:rPr lang="en-US" i="1">
                        <a:solidFill>
                          <a:srgbClr val="660874"/>
                        </a:solidFill>
                      </a:rPr>
                      <m:t>𝑎</m:t>
                    </m:r>
                    <m:r>
                      <a:rPr lang="en-US" i="1">
                        <a:solidFill>
                          <a:srgbClr val="660874"/>
                        </a:solidFill>
                      </a:rPr>
                      <m:t>=</m:t>
                    </m:r>
                  </m:oMath>
                </a14:m>
                <a:r>
                  <a:rPr lang="en-US" i="1" dirty="0">
                    <a:solidFill>
                      <a:srgbClr val="660874"/>
                    </a:solidFill>
                  </a:rPr>
                  <a:t> the exponential moving average of </a:t>
                </a:r>
                <a14:m>
                  <m:oMath xmlns:m="http://schemas.openxmlformats.org/officeDocument/2006/math">
                    <m:rad>
                      <m:radPr>
                        <m:degHide m:val="on"/>
                        <m:ctrlPr>
                          <a:rPr lang="ar-AE" i="1">
                            <a:solidFill>
                              <a:srgbClr val="660874"/>
                            </a:solidFill>
                          </a:rPr>
                        </m:ctrlPr>
                      </m:radPr>
                      <m:deg/>
                      <m:e>
                        <m:r>
                          <a:rPr lang="ar-AE" i="1">
                            <a:solidFill>
                              <a:srgbClr val="660874"/>
                            </a:solidFill>
                          </a:rPr>
                          <m:t>1</m:t>
                        </m:r>
                        <m:r>
                          <a:rPr lang="ar-AE" i="1">
                            <a:solidFill>
                              <a:srgbClr val="660874"/>
                            </a:solidFill>
                          </a:rPr>
                          <m:t>−</m:t>
                        </m:r>
                        <m:acc>
                          <m:accPr>
                            <m:chr m:val="̅"/>
                            <m:ctrlPr>
                              <a:rPr lang="ar-AE" i="1">
                                <a:solidFill>
                                  <a:srgbClr val="660874"/>
                                </a:solidFill>
                              </a:rPr>
                            </m:ctrlPr>
                          </m:accPr>
                          <m:e>
                            <m:sSub>
                              <m:sSubPr>
                                <m:ctrlPr>
                                  <a:rPr lang="ar-AE" i="1">
                                    <a:solidFill>
                                      <a:srgbClr val="660874"/>
                                    </a:solidFill>
                                  </a:rPr>
                                </m:ctrlPr>
                              </m:sSubPr>
                              <m:e>
                                <m:r>
                                  <a:rPr lang="ar-AE" i="1">
                                    <a:solidFill>
                                      <a:srgbClr val="660874"/>
                                    </a:solidFill>
                                  </a:rPr>
                                  <m:t>𝛼</m:t>
                                </m:r>
                              </m:e>
                              <m:sub>
                                <m:r>
                                  <a:rPr lang="ar-AE" i="1">
                                    <a:solidFill>
                                      <a:srgbClr val="660874"/>
                                    </a:solidFill>
                                  </a:rPr>
                                  <m:t>𝑡</m:t>
                                </m:r>
                              </m:sub>
                            </m:sSub>
                          </m:e>
                        </m:acc>
                      </m:e>
                    </m:rad>
                    <m:r>
                      <m:rPr>
                        <m:nor/>
                      </m:rPr>
                      <a:rPr lang="ar-AE" i="1">
                        <a:solidFill>
                          <a:srgbClr val="660874"/>
                        </a:solidFill>
                      </a:rPr>
                      <m:t> </m:t>
                    </m:r>
                    <m:r>
                      <a:rPr lang="ar-AE" i="1">
                        <a:solidFill>
                          <a:srgbClr val="660874"/>
                        </a:solidFill>
                      </a:rPr>
                      <m:t>∥</m:t>
                    </m:r>
                    <m:sSubSup>
                      <m:sSubSupPr>
                        <m:ctrlPr>
                          <a:rPr lang="ar-AE" i="1">
                            <a:solidFill>
                              <a:srgbClr val="660874"/>
                            </a:solidFill>
                          </a:rPr>
                        </m:ctrlPr>
                      </m:sSubSupPr>
                      <m:e>
                        <m:r>
                          <a:rPr lang="ar-AE" i="1">
                            <a:solidFill>
                              <a:srgbClr val="660874"/>
                            </a:solidFill>
                          </a:rPr>
                          <m:t>𝐽</m:t>
                        </m:r>
                      </m:e>
                      <m:sub>
                        <m:r>
                          <a:rPr lang="ar-AE" i="1">
                            <a:solidFill>
                              <a:srgbClr val="660874"/>
                            </a:solidFill>
                          </a:rPr>
                          <m:t>𝜖</m:t>
                        </m:r>
                      </m:sub>
                      <m:sup>
                        <m:r>
                          <a:rPr lang="ar-AE" i="1">
                            <a:solidFill>
                              <a:srgbClr val="660874"/>
                            </a:solidFill>
                          </a:rPr>
                          <m:t>𝑇</m:t>
                        </m:r>
                      </m:sup>
                    </m:sSubSup>
                    <m:r>
                      <m:rPr>
                        <m:sty m:val="p"/>
                      </m:rPr>
                      <a:rPr lang="el-GR" i="1">
                        <a:solidFill>
                          <a:srgbClr val="660874"/>
                        </a:solidFill>
                      </a:rPr>
                      <m:t>Δ</m:t>
                    </m:r>
                    <m:acc>
                      <m:accPr>
                        <m:chr m:val="̂"/>
                        <m:ctrlPr>
                          <a:rPr lang="el-GR" i="1">
                            <a:solidFill>
                              <a:srgbClr val="660874"/>
                            </a:solidFill>
                          </a:rPr>
                        </m:ctrlPr>
                      </m:accPr>
                      <m:e>
                        <m:sSub>
                          <m:sSubPr>
                            <m:ctrlPr>
                              <a:rPr lang="ar-AE" i="1">
                                <a:solidFill>
                                  <a:srgbClr val="660874"/>
                                </a:solidFill>
                              </a:rPr>
                            </m:ctrlPr>
                          </m:sSubPr>
                          <m:e>
                            <m:r>
                              <a:rPr lang="ar-AE" i="1">
                                <a:solidFill>
                                  <a:srgbClr val="660874"/>
                                </a:solidFill>
                              </a:rPr>
                              <m:t>𝑥</m:t>
                            </m:r>
                          </m:e>
                          <m:sub>
                            <m:r>
                              <a:rPr lang="ar-AE" i="1">
                                <a:solidFill>
                                  <a:srgbClr val="660874"/>
                                </a:solidFill>
                              </a:rPr>
                              <m:t>0</m:t>
                            </m:r>
                          </m:sub>
                        </m:sSub>
                      </m:e>
                    </m:acc>
                    <m:sSub>
                      <m:sSubPr>
                        <m:ctrlPr>
                          <a:rPr lang="ar-AE" i="1">
                            <a:solidFill>
                              <a:srgbClr val="660874"/>
                            </a:solidFill>
                          </a:rPr>
                        </m:ctrlPr>
                      </m:sSubPr>
                      <m:e>
                        <m:r>
                          <a:rPr lang="ar-AE" i="1">
                            <a:solidFill>
                              <a:srgbClr val="660874"/>
                            </a:solidFill>
                          </a:rPr>
                          <m:t>∥</m:t>
                        </m:r>
                      </m:e>
                      <m:sub>
                        <m:r>
                          <a:rPr lang="ar-AE" i="1">
                            <a:solidFill>
                              <a:srgbClr val="660874"/>
                            </a:solidFill>
                          </a:rPr>
                          <m:t>2</m:t>
                        </m:r>
                      </m:sub>
                    </m:sSub>
                    <m:r>
                      <a:rPr lang="en-US" i="1">
                        <a:solidFill>
                          <a:srgbClr val="660874"/>
                        </a:solidFill>
                      </a:rPr>
                      <m:t> </m:t>
                    </m:r>
                  </m:oMath>
                </a14:m>
                <a:r>
                  <a:rPr lang="en-US" i="1" dirty="0">
                    <a:solidFill>
                      <a:srgbClr val="660874"/>
                    </a:solidFill>
                  </a:rPr>
                  <a:t>during training on the computer, </a:t>
                </a:r>
                <a14:m>
                  <m:oMath xmlns:m="http://schemas.openxmlformats.org/officeDocument/2006/math">
                    <m:r>
                      <m:rPr>
                        <m:sty m:val="p"/>
                      </m:rPr>
                      <a:rPr lang="el-GR" i="1">
                        <a:solidFill>
                          <a:srgbClr val="660874"/>
                        </a:solidFill>
                      </a:rPr>
                      <m:t>Δ</m:t>
                    </m:r>
                    <m:acc>
                      <m:accPr>
                        <m:chr m:val="̂"/>
                        <m:ctrlPr>
                          <a:rPr lang="el-GR" i="1">
                            <a:solidFill>
                              <a:srgbClr val="660874"/>
                            </a:solidFill>
                          </a:rPr>
                        </m:ctrlPr>
                      </m:accPr>
                      <m:e>
                        <m:sSub>
                          <m:sSubPr>
                            <m:ctrlPr>
                              <a:rPr lang="ar-AE" i="1">
                                <a:solidFill>
                                  <a:srgbClr val="660874"/>
                                </a:solidFill>
                              </a:rPr>
                            </m:ctrlPr>
                          </m:sSubPr>
                          <m:e>
                            <m:r>
                              <a:rPr lang="ar-AE" i="1">
                                <a:solidFill>
                                  <a:srgbClr val="660874"/>
                                </a:solidFill>
                              </a:rPr>
                              <m:t>𝑥</m:t>
                            </m:r>
                          </m:e>
                          <m:sub>
                            <m:r>
                              <a:rPr lang="ar-AE" i="1">
                                <a:solidFill>
                                  <a:srgbClr val="660874"/>
                                </a:solidFill>
                              </a:rPr>
                              <m:t>0</m:t>
                            </m:r>
                          </m:sub>
                        </m:sSub>
                      </m:e>
                    </m:acc>
                    <m:r>
                      <a:rPr lang="en-US" i="1">
                        <a:solidFill>
                          <a:srgbClr val="660874"/>
                        </a:solidFill>
                      </a:rPr>
                      <m:t> </m:t>
                    </m:r>
                  </m:oMath>
                </a14:m>
                <a:r>
                  <a:rPr lang="en-US" i="1" dirty="0">
                    <a:solidFill>
                      <a:srgbClr val="660874"/>
                    </a:solidFill>
                  </a:rPr>
                  <a:t>is the normally sampled pixel intensities normalized to unit length.</a:t>
                </a:r>
              </a:p>
              <a:p>
                <a:r>
                  <a:rPr lang="en-US" i="1" dirty="0">
                    <a:solidFill>
                      <a:srgbClr val="660874"/>
                    </a:solidFill>
                  </a:rPr>
                  <a:t>- How do we train? By backpropagation on</a:t>
                </a:r>
                <a14:m>
                  <m:oMath xmlns:m="http://schemas.openxmlformats.org/officeDocument/2006/math">
                    <m:r>
                      <a:rPr lang="en-US" b="0" i="1" smtClean="0">
                        <a:solidFill>
                          <a:srgbClr val="660874"/>
                        </a:solidFill>
                        <a:latin typeface="Cambria Math" panose="02040503050406030204" pitchFamily="18" charset="0"/>
                      </a:rPr>
                      <m:t> </m:t>
                    </m:r>
                    <m:rad>
                      <m:radPr>
                        <m:degHide m:val="on"/>
                        <m:ctrlPr>
                          <a:rPr lang="ar-AE" i="1">
                            <a:solidFill>
                              <a:srgbClr val="660874"/>
                            </a:solidFill>
                          </a:rPr>
                        </m:ctrlPr>
                      </m:radPr>
                      <m:deg/>
                      <m:e>
                        <m:r>
                          <a:rPr lang="ar-AE" i="1">
                            <a:solidFill>
                              <a:srgbClr val="660874"/>
                            </a:solidFill>
                          </a:rPr>
                          <m:t>1</m:t>
                        </m:r>
                        <m:r>
                          <a:rPr lang="ar-AE" i="1">
                            <a:solidFill>
                              <a:srgbClr val="660874"/>
                            </a:solidFill>
                          </a:rPr>
                          <m:t>−</m:t>
                        </m:r>
                        <m:acc>
                          <m:accPr>
                            <m:chr m:val="̅"/>
                            <m:ctrlPr>
                              <a:rPr lang="ar-AE" i="1">
                                <a:solidFill>
                                  <a:srgbClr val="660874"/>
                                </a:solidFill>
                              </a:rPr>
                            </m:ctrlPr>
                          </m:accPr>
                          <m:e>
                            <m:sSub>
                              <m:sSubPr>
                                <m:ctrlPr>
                                  <a:rPr lang="ar-AE" i="1">
                                    <a:solidFill>
                                      <a:srgbClr val="660874"/>
                                    </a:solidFill>
                                  </a:rPr>
                                </m:ctrlPr>
                              </m:sSubPr>
                              <m:e>
                                <m:r>
                                  <a:rPr lang="ar-AE" i="1">
                                    <a:solidFill>
                                      <a:srgbClr val="660874"/>
                                    </a:solidFill>
                                  </a:rPr>
                                  <m:t>𝛼</m:t>
                                </m:r>
                              </m:e>
                              <m:sub>
                                <m:r>
                                  <a:rPr lang="ar-AE" i="1">
                                    <a:solidFill>
                                      <a:srgbClr val="660874"/>
                                    </a:solidFill>
                                  </a:rPr>
                                  <m:t>𝑡</m:t>
                                </m:r>
                              </m:sub>
                            </m:sSub>
                          </m:e>
                        </m:acc>
                      </m:e>
                    </m:rad>
                    <m:r>
                      <m:rPr>
                        <m:nor/>
                      </m:rPr>
                      <a:rPr lang="ar-AE" i="1">
                        <a:solidFill>
                          <a:srgbClr val="660874"/>
                        </a:solidFill>
                      </a:rPr>
                      <m:t> </m:t>
                    </m:r>
                    <m:r>
                      <a:rPr lang="ar-AE" i="1">
                        <a:solidFill>
                          <a:srgbClr val="660874"/>
                        </a:solidFill>
                      </a:rPr>
                      <m:t>∥</m:t>
                    </m:r>
                    <m:sSubSup>
                      <m:sSubSupPr>
                        <m:ctrlPr>
                          <a:rPr lang="ar-AE" i="1">
                            <a:solidFill>
                              <a:srgbClr val="660874"/>
                            </a:solidFill>
                          </a:rPr>
                        </m:ctrlPr>
                      </m:sSubSupPr>
                      <m:e>
                        <m:r>
                          <a:rPr lang="ar-AE" i="1">
                            <a:solidFill>
                              <a:srgbClr val="660874"/>
                            </a:solidFill>
                          </a:rPr>
                          <m:t>𝐽</m:t>
                        </m:r>
                      </m:e>
                      <m:sub>
                        <m:r>
                          <a:rPr lang="ar-AE" i="1">
                            <a:solidFill>
                              <a:srgbClr val="660874"/>
                            </a:solidFill>
                          </a:rPr>
                          <m:t>𝜖</m:t>
                        </m:r>
                      </m:sub>
                      <m:sup>
                        <m:r>
                          <a:rPr lang="ar-AE" i="1">
                            <a:solidFill>
                              <a:srgbClr val="660874"/>
                            </a:solidFill>
                          </a:rPr>
                          <m:t>𝑇</m:t>
                        </m:r>
                      </m:sup>
                    </m:sSubSup>
                    <m:r>
                      <m:rPr>
                        <m:sty m:val="p"/>
                      </m:rPr>
                      <a:rPr lang="el-GR" i="1">
                        <a:solidFill>
                          <a:srgbClr val="660874"/>
                        </a:solidFill>
                      </a:rPr>
                      <m:t>Δ</m:t>
                    </m:r>
                    <m:acc>
                      <m:accPr>
                        <m:chr m:val="̂"/>
                        <m:ctrlPr>
                          <a:rPr lang="el-GR" i="1">
                            <a:solidFill>
                              <a:srgbClr val="660874"/>
                            </a:solidFill>
                          </a:rPr>
                        </m:ctrlPr>
                      </m:accPr>
                      <m:e>
                        <m:sSub>
                          <m:sSubPr>
                            <m:ctrlPr>
                              <a:rPr lang="ar-AE" i="1">
                                <a:solidFill>
                                  <a:srgbClr val="660874"/>
                                </a:solidFill>
                              </a:rPr>
                            </m:ctrlPr>
                          </m:sSubPr>
                          <m:e>
                            <m:r>
                              <a:rPr lang="ar-AE" i="1">
                                <a:solidFill>
                                  <a:srgbClr val="660874"/>
                                </a:solidFill>
                              </a:rPr>
                              <m:t>𝑥</m:t>
                            </m:r>
                          </m:e>
                          <m:sub>
                            <m:r>
                              <a:rPr lang="ar-AE" i="1">
                                <a:solidFill>
                                  <a:srgbClr val="660874"/>
                                </a:solidFill>
                              </a:rPr>
                              <m:t>0</m:t>
                            </m:r>
                          </m:sub>
                        </m:sSub>
                      </m:e>
                    </m:acc>
                    <m:sSub>
                      <m:sSubPr>
                        <m:ctrlPr>
                          <a:rPr lang="ar-AE" i="1">
                            <a:solidFill>
                              <a:srgbClr val="660874"/>
                            </a:solidFill>
                          </a:rPr>
                        </m:ctrlPr>
                      </m:sSubPr>
                      <m:e>
                        <m:r>
                          <a:rPr lang="ar-AE" i="1">
                            <a:solidFill>
                              <a:srgbClr val="660874"/>
                            </a:solidFill>
                          </a:rPr>
                          <m:t>∥</m:t>
                        </m:r>
                      </m:e>
                      <m:sub>
                        <m:r>
                          <a:rPr lang="ar-AE" i="1">
                            <a:solidFill>
                              <a:srgbClr val="660874"/>
                            </a:solidFill>
                          </a:rPr>
                          <m:t>2</m:t>
                        </m:r>
                      </m:sub>
                    </m:sSub>
                  </m:oMath>
                </a14:m>
                <a:r>
                  <a:rPr lang="en-US" i="1" dirty="0">
                    <a:solidFill>
                      <a:srgbClr val="660874"/>
                    </a:solidFill>
                  </a:rPr>
                  <a:t>. But this is also not feasible. </a:t>
                </a:r>
                <a14:m>
                  <m:oMath xmlns:m="http://schemas.openxmlformats.org/officeDocument/2006/math">
                    <m:sSub>
                      <m:sSubPr>
                        <m:ctrlPr>
                          <a:rPr lang="ar-AE" i="1">
                            <a:solidFill>
                              <a:srgbClr val="660874"/>
                            </a:solidFill>
                          </a:rPr>
                        </m:ctrlPr>
                      </m:sSubPr>
                      <m:e>
                        <m:r>
                          <a:rPr lang="ar-AE" i="1">
                            <a:solidFill>
                              <a:srgbClr val="660874"/>
                            </a:solidFill>
                          </a:rPr>
                          <m:t>𝐽</m:t>
                        </m:r>
                      </m:e>
                      <m:sub>
                        <m:r>
                          <a:rPr lang="ar-AE" i="1">
                            <a:solidFill>
                              <a:srgbClr val="660874"/>
                            </a:solidFill>
                          </a:rPr>
                          <m:t>𝜖</m:t>
                        </m:r>
                      </m:sub>
                    </m:sSub>
                  </m:oMath>
                </a14:m>
                <a:r>
                  <a:rPr lang="el-GR" i="1" dirty="0">
                    <a:solidFill>
                      <a:srgbClr val="660874"/>
                    </a:solidFill>
                  </a:rPr>
                  <a:t> </a:t>
                </a:r>
                <a:r>
                  <a:rPr lang="en-US" i="1" dirty="0">
                    <a:solidFill>
                      <a:srgbClr val="660874"/>
                    </a:solidFill>
                  </a:rPr>
                  <a:t>is an m times n matrix where </a:t>
                </a:r>
                <a14:m>
                  <m:oMath xmlns:m="http://schemas.openxmlformats.org/officeDocument/2006/math">
                    <m:sSub>
                      <m:sSubPr>
                        <m:ctrlPr>
                          <a:rPr lang="ar-AE" i="1">
                            <a:solidFill>
                              <a:srgbClr val="660874"/>
                            </a:solidFill>
                          </a:rPr>
                        </m:ctrlPr>
                      </m:sSubPr>
                      <m:e>
                        <m:r>
                          <a:rPr lang="en-US" i="1">
                            <a:solidFill>
                              <a:srgbClr val="660874"/>
                            </a:solidFill>
                          </a:rPr>
                          <m:t>(</m:t>
                        </m:r>
                        <m:r>
                          <a:rPr lang="ar-AE" i="1">
                            <a:solidFill>
                              <a:srgbClr val="660874"/>
                            </a:solidFill>
                          </a:rPr>
                          <m:t>𝐽</m:t>
                        </m:r>
                      </m:e>
                      <m:sub>
                        <m:r>
                          <a:rPr lang="ar-AE" i="1">
                            <a:solidFill>
                              <a:srgbClr val="660874"/>
                            </a:solidFill>
                          </a:rPr>
                          <m:t>𝜖</m:t>
                        </m:r>
                      </m:sub>
                    </m:sSub>
                    <m:sSub>
                      <m:sSubPr>
                        <m:ctrlPr>
                          <a:rPr lang="ar-AE" i="1">
                            <a:solidFill>
                              <a:srgbClr val="660874"/>
                            </a:solidFill>
                          </a:rPr>
                        </m:ctrlPr>
                      </m:sSubPr>
                      <m:e>
                        <m:d>
                          <m:dPr>
                            <m:begChr m:val=""/>
                            <m:endChr m:val=""/>
                            <m:ctrlPr>
                              <a:rPr lang="ar-AE" i="1">
                                <a:solidFill>
                                  <a:srgbClr val="660874"/>
                                </a:solidFill>
                              </a:rPr>
                            </m:ctrlPr>
                          </m:dPr>
                          <m:e>
                            <m:r>
                              <a:rPr lang="ar-AE" i="1">
                                <a:solidFill>
                                  <a:srgbClr val="660874"/>
                                </a:solidFill>
                              </a:rPr>
                              <m:t>)</m:t>
                            </m:r>
                          </m:e>
                        </m:d>
                      </m:e>
                      <m:sub>
                        <m:r>
                          <a:rPr lang="ar-AE" i="1">
                            <a:solidFill>
                              <a:srgbClr val="660874"/>
                            </a:solidFill>
                          </a:rPr>
                          <m:t>𝑖𝑗</m:t>
                        </m:r>
                      </m:sub>
                    </m:sSub>
                    <m:r>
                      <a:rPr lang="ar-AE" i="1">
                        <a:solidFill>
                          <a:srgbClr val="660874"/>
                        </a:solidFill>
                      </a:rPr>
                      <m:t>=</m:t>
                    </m:r>
                    <m:f>
                      <m:fPr>
                        <m:ctrlPr>
                          <a:rPr lang="ar-AE" i="1">
                            <a:solidFill>
                              <a:srgbClr val="660874"/>
                            </a:solidFill>
                          </a:rPr>
                        </m:ctrlPr>
                      </m:fPr>
                      <m:num>
                        <m:r>
                          <a:rPr lang="ar-AE" i="1">
                            <a:solidFill>
                              <a:srgbClr val="660874"/>
                            </a:solidFill>
                          </a:rPr>
                          <m:t>𝜕</m:t>
                        </m:r>
                        <m:r>
                          <a:rPr lang="en-US" b="0" i="1" smtClean="0">
                            <a:solidFill>
                              <a:srgbClr val="660874"/>
                            </a:solidFill>
                            <a:latin typeface="Cambria Math" panose="02040503050406030204" pitchFamily="18" charset="0"/>
                          </a:rPr>
                          <m:t>(</m:t>
                        </m:r>
                        <m:sSub>
                          <m:sSubPr>
                            <m:ctrlPr>
                              <a:rPr lang="ar-AE" i="1">
                                <a:solidFill>
                                  <a:srgbClr val="660874"/>
                                </a:solidFill>
                                <a:latin typeface="Cambria Math" panose="02040503050406030204" pitchFamily="18" charset="0"/>
                              </a:rPr>
                            </m:ctrlPr>
                          </m:sSubPr>
                          <m:e>
                            <m:r>
                              <a:rPr lang="ar-AE" i="1">
                                <a:solidFill>
                                  <a:srgbClr val="660874"/>
                                </a:solidFill>
                                <a:latin typeface="Cambria Math" panose="02040503050406030204" pitchFamily="18" charset="0"/>
                              </a:rPr>
                              <m:t>𝑥</m:t>
                            </m:r>
                          </m:e>
                          <m:sub>
                            <m:r>
                              <a:rPr lang="ar-AE" i="1">
                                <a:solidFill>
                                  <a:srgbClr val="660874"/>
                                </a:solidFill>
                                <a:latin typeface="Cambria Math" panose="02040503050406030204" pitchFamily="18" charset="0"/>
                              </a:rPr>
                              <m:t>0</m:t>
                            </m:r>
                          </m:sub>
                        </m:sSub>
                        <m:sSub>
                          <m:sSubPr>
                            <m:ctrlPr>
                              <a:rPr lang="ar-AE" i="1" smtClean="0">
                                <a:solidFill>
                                  <a:srgbClr val="660874"/>
                                </a:solidFill>
                                <a:latin typeface="Cambria Math" panose="02040503050406030204" pitchFamily="18" charset="0"/>
                              </a:rPr>
                            </m:ctrlPr>
                          </m:sSubPr>
                          <m:e>
                            <m:d>
                              <m:dPr>
                                <m:begChr m:val=""/>
                                <m:endChr m:val=""/>
                                <m:ctrlPr>
                                  <a:rPr lang="ar-AE" i="1">
                                    <a:solidFill>
                                      <a:srgbClr val="660874"/>
                                    </a:solidFill>
                                    <a:latin typeface="Cambria Math" panose="02040503050406030204" pitchFamily="18" charset="0"/>
                                  </a:rPr>
                                </m:ctrlPr>
                              </m:dPr>
                              <m:e>
                                <m:r>
                                  <a:rPr lang="ar-AE" i="1">
                                    <a:solidFill>
                                      <a:srgbClr val="660874"/>
                                    </a:solidFill>
                                    <a:latin typeface="Cambria Math" panose="02040503050406030204" pitchFamily="18" charset="0"/>
                                  </a:rPr>
                                  <m:t>)</m:t>
                                </m:r>
                              </m:e>
                            </m:d>
                          </m:e>
                          <m:sub>
                            <m:r>
                              <a:rPr lang="ar-AE" i="1">
                                <a:solidFill>
                                  <a:srgbClr val="660874"/>
                                </a:solidFill>
                                <a:latin typeface="Cambria Math" panose="02040503050406030204" pitchFamily="18" charset="0"/>
                              </a:rPr>
                              <m:t>𝑖</m:t>
                            </m:r>
                          </m:sub>
                        </m:sSub>
                      </m:num>
                      <m:den>
                        <m:r>
                          <a:rPr lang="ar-AE" i="1">
                            <a:solidFill>
                              <a:srgbClr val="660874"/>
                            </a:solidFill>
                          </a:rPr>
                          <m:t>𝜕</m:t>
                        </m:r>
                        <m:r>
                          <a:rPr lang="ar-AE" i="1" smtClean="0">
                            <a:solidFill>
                              <a:srgbClr val="660874"/>
                            </a:solidFill>
                          </a:rPr>
                          <m:t> </m:t>
                        </m:r>
                        <m:r>
                          <a:rPr lang="en-US" b="0" i="1" smtClean="0">
                            <a:solidFill>
                              <a:srgbClr val="660874"/>
                            </a:solidFill>
                            <a:latin typeface="Cambria Math" panose="02040503050406030204" pitchFamily="18" charset="0"/>
                          </a:rPr>
                          <m:t>(</m:t>
                        </m:r>
                        <m:r>
                          <a:rPr lang="ar-AE" i="1" smtClean="0">
                            <a:solidFill>
                              <a:srgbClr val="660874"/>
                            </a:solidFill>
                            <a:latin typeface="Cambria Math" panose="02040503050406030204" pitchFamily="18" charset="0"/>
                          </a:rPr>
                          <m:t>𝜖</m:t>
                        </m:r>
                        <m:sSub>
                          <m:sSubPr>
                            <m:ctrlPr>
                              <a:rPr lang="ar-AE" i="1" smtClean="0">
                                <a:solidFill>
                                  <a:srgbClr val="660874"/>
                                </a:solidFill>
                                <a:latin typeface="Cambria Math" panose="02040503050406030204" pitchFamily="18" charset="0"/>
                              </a:rPr>
                            </m:ctrlPr>
                          </m:sSubPr>
                          <m:e>
                            <m:d>
                              <m:dPr>
                                <m:begChr m:val=""/>
                                <m:endChr m:val=""/>
                                <m:ctrlPr>
                                  <a:rPr lang="ar-AE" i="1">
                                    <a:solidFill>
                                      <a:srgbClr val="660874"/>
                                    </a:solidFill>
                                    <a:latin typeface="Cambria Math" panose="02040503050406030204" pitchFamily="18" charset="0"/>
                                  </a:rPr>
                                </m:ctrlPr>
                              </m:dPr>
                              <m:e>
                                <m:r>
                                  <a:rPr lang="ar-AE" i="1">
                                    <a:solidFill>
                                      <a:srgbClr val="660874"/>
                                    </a:solidFill>
                                    <a:latin typeface="Cambria Math" panose="02040503050406030204" pitchFamily="18" charset="0"/>
                                  </a:rPr>
                                  <m:t>)</m:t>
                                </m:r>
                              </m:e>
                            </m:d>
                          </m:e>
                          <m:sub>
                            <m:r>
                              <a:rPr lang="ar-AE" i="1">
                                <a:solidFill>
                                  <a:srgbClr val="660874"/>
                                </a:solidFill>
                                <a:latin typeface="Cambria Math" panose="02040503050406030204" pitchFamily="18" charset="0"/>
                              </a:rPr>
                              <m:t>𝑗</m:t>
                            </m:r>
                          </m:sub>
                        </m:sSub>
                      </m:den>
                    </m:f>
                  </m:oMath>
                </a14:m>
                <a:r>
                  <a:rPr lang="en-US" i="1" dirty="0">
                    <a:solidFill>
                      <a:srgbClr val="660874"/>
                    </a:solidFill>
                  </a:rPr>
                  <a:t>, which means calculating every partial derivative</a:t>
                </a:r>
                <a:endParaRPr lang="ar-AE" i="1" dirty="0">
                  <a:solidFill>
                    <a:srgbClr val="660874"/>
                  </a:solidFill>
                </a:endParaRPr>
              </a:p>
              <a:p>
                <a:r>
                  <a:rPr lang="en-US" i="1" dirty="0">
                    <a:solidFill>
                      <a:srgbClr val="660874"/>
                    </a:solidFill>
                  </a:rPr>
                  <a:t>In practice we use </a:t>
                </a:r>
                <a14:m>
                  <m:oMath xmlns:m="http://schemas.openxmlformats.org/officeDocument/2006/math">
                    <m:r>
                      <a:rPr lang="ar-AE" i="1" smtClean="0">
                        <a:solidFill>
                          <a:srgbClr val="660874"/>
                        </a:solidFill>
                        <a:latin typeface="Cambria Math" panose="02040503050406030204" pitchFamily="18" charset="0"/>
                      </a:rPr>
                      <m:t>∥</m:t>
                    </m:r>
                    <m:sSub>
                      <m:sSubPr>
                        <m:ctrlPr>
                          <a:rPr lang="ar-AE" i="1">
                            <a:solidFill>
                              <a:srgbClr val="660874"/>
                            </a:solidFill>
                            <a:latin typeface="Cambria Math" panose="02040503050406030204" pitchFamily="18" charset="0"/>
                          </a:rPr>
                        </m:ctrlPr>
                      </m:sSubPr>
                      <m:e>
                        <m:r>
                          <m:rPr>
                            <m:sty m:val="p"/>
                          </m:rPr>
                          <a:rPr lang="ar-AE" i="1">
                            <a:solidFill>
                              <a:srgbClr val="660874"/>
                            </a:solidFill>
                            <a:latin typeface="Cambria Math" panose="02040503050406030204" pitchFamily="18" charset="0"/>
                          </a:rPr>
                          <m:t>∇</m:t>
                        </m:r>
                      </m:e>
                      <m:sub>
                        <m:r>
                          <a:rPr lang="ar-AE" i="1">
                            <a:solidFill>
                              <a:srgbClr val="660874"/>
                            </a:solidFill>
                            <a:latin typeface="Cambria Math" panose="02040503050406030204" pitchFamily="18" charset="0"/>
                          </a:rPr>
                          <m:t>𝜖</m:t>
                        </m:r>
                      </m:sub>
                    </m:sSub>
                    <m:d>
                      <m:dPr>
                        <m:ctrlPr>
                          <a:rPr lang="ar-AE" i="1">
                            <a:solidFill>
                              <a:srgbClr val="660874"/>
                            </a:solidFill>
                            <a:latin typeface="Cambria Math" panose="02040503050406030204" pitchFamily="18" charset="0"/>
                          </a:rPr>
                        </m:ctrlPr>
                      </m:dPr>
                      <m:e>
                        <m:rad>
                          <m:radPr>
                            <m:degHide m:val="on"/>
                            <m:ctrlPr>
                              <a:rPr lang="ar-AE" i="1">
                                <a:solidFill>
                                  <a:srgbClr val="660874"/>
                                </a:solidFill>
                                <a:latin typeface="Cambria Math" panose="02040503050406030204" pitchFamily="18" charset="0"/>
                              </a:rPr>
                            </m:ctrlPr>
                          </m:radPr>
                          <m:deg/>
                          <m:e>
                            <m:r>
                              <a:rPr lang="ar-AE" i="1">
                                <a:solidFill>
                                  <a:srgbClr val="660874"/>
                                </a:solidFill>
                                <a:latin typeface="Cambria Math" panose="02040503050406030204" pitchFamily="18" charset="0"/>
                              </a:rPr>
                              <m:t>1</m:t>
                            </m:r>
                            <m:r>
                              <a:rPr lang="ar-AE" i="1">
                                <a:solidFill>
                                  <a:srgbClr val="660874"/>
                                </a:solidFill>
                                <a:latin typeface="Cambria Math" panose="02040503050406030204" pitchFamily="18" charset="0"/>
                              </a:rPr>
                              <m:t>−</m:t>
                            </m:r>
                            <m:acc>
                              <m:accPr>
                                <m:chr m:val="̅"/>
                                <m:ctrlPr>
                                  <a:rPr lang="ar-AE" i="1">
                                    <a:solidFill>
                                      <a:srgbClr val="660874"/>
                                    </a:solidFill>
                                    <a:latin typeface="Cambria Math" panose="02040503050406030204" pitchFamily="18" charset="0"/>
                                  </a:rPr>
                                </m:ctrlPr>
                              </m:accPr>
                              <m:e>
                                <m:sSub>
                                  <m:sSubPr>
                                    <m:ctrlPr>
                                      <a:rPr lang="ar-AE" i="1">
                                        <a:solidFill>
                                          <a:srgbClr val="660874"/>
                                        </a:solidFill>
                                        <a:latin typeface="Cambria Math" panose="02040503050406030204" pitchFamily="18" charset="0"/>
                                      </a:rPr>
                                    </m:ctrlPr>
                                  </m:sSubPr>
                                  <m:e>
                                    <m:r>
                                      <a:rPr lang="ar-AE" i="1">
                                        <a:solidFill>
                                          <a:srgbClr val="660874"/>
                                        </a:solidFill>
                                        <a:latin typeface="Cambria Math" panose="02040503050406030204" pitchFamily="18" charset="0"/>
                                      </a:rPr>
                                      <m:t>𝛼</m:t>
                                    </m:r>
                                  </m:e>
                                  <m:sub>
                                    <m:r>
                                      <a:rPr lang="ar-AE" i="1">
                                        <a:solidFill>
                                          <a:srgbClr val="660874"/>
                                        </a:solidFill>
                                        <a:latin typeface="Cambria Math" panose="02040503050406030204" pitchFamily="18" charset="0"/>
                                      </a:rPr>
                                      <m:t>𝑡</m:t>
                                    </m:r>
                                  </m:sub>
                                </m:sSub>
                              </m:e>
                            </m:acc>
                          </m:e>
                        </m:rad>
                        <m:r>
                          <m:rPr>
                            <m:nor/>
                          </m:rPr>
                          <a:rPr lang="ar-AE" i="1">
                            <a:solidFill>
                              <a:srgbClr val="660874"/>
                            </a:solidFill>
                          </a:rPr>
                          <m:t> </m:t>
                        </m:r>
                        <m:acc>
                          <m:accPr>
                            <m:chr m:val="̂"/>
                            <m:ctrlPr>
                              <a:rPr lang="el-GR" i="1">
                                <a:solidFill>
                                  <a:srgbClr val="660874"/>
                                </a:solidFill>
                                <a:latin typeface="Cambria Math" panose="02040503050406030204" pitchFamily="18" charset="0"/>
                              </a:rPr>
                            </m:ctrlPr>
                          </m:accPr>
                          <m:e>
                            <m:sSub>
                              <m:sSubPr>
                                <m:ctrlPr>
                                  <a:rPr lang="ar-AE" i="1">
                                    <a:solidFill>
                                      <a:srgbClr val="660874"/>
                                    </a:solidFill>
                                    <a:latin typeface="Cambria Math" panose="02040503050406030204" pitchFamily="18" charset="0"/>
                                  </a:rPr>
                                </m:ctrlPr>
                              </m:sSubPr>
                              <m:e>
                                <m:r>
                                  <a:rPr lang="ar-AE" i="1">
                                    <a:solidFill>
                                      <a:srgbClr val="660874"/>
                                    </a:solidFill>
                                    <a:latin typeface="Cambria Math" panose="02040503050406030204" pitchFamily="18" charset="0"/>
                                  </a:rPr>
                                  <m:t>𝑥</m:t>
                                </m:r>
                              </m:e>
                              <m:sub>
                                <m:r>
                                  <a:rPr lang="ar-AE" i="1">
                                    <a:solidFill>
                                      <a:srgbClr val="660874"/>
                                    </a:solidFill>
                                    <a:latin typeface="Cambria Math" panose="02040503050406030204" pitchFamily="18" charset="0"/>
                                  </a:rPr>
                                  <m:t>0</m:t>
                                </m:r>
                              </m:sub>
                            </m:sSub>
                          </m:e>
                        </m:acc>
                        <m:r>
                          <a:rPr lang="ar-AE" i="1">
                            <a:solidFill>
                              <a:srgbClr val="660874"/>
                            </a:solidFill>
                            <a:latin typeface="Cambria Math" panose="02040503050406030204" pitchFamily="18" charset="0"/>
                          </a:rPr>
                          <m:t>⋅</m:t>
                        </m:r>
                        <m:r>
                          <m:rPr>
                            <m:sty m:val="p"/>
                          </m:rPr>
                          <a:rPr lang="el-GR" i="1">
                            <a:solidFill>
                              <a:srgbClr val="660874"/>
                            </a:solidFill>
                            <a:latin typeface="Cambria Math" panose="02040503050406030204" pitchFamily="18" charset="0"/>
                          </a:rPr>
                          <m:t>Δ</m:t>
                        </m:r>
                        <m:acc>
                          <m:accPr>
                            <m:chr m:val="̂"/>
                            <m:ctrlPr>
                              <a:rPr lang="el-GR" i="1">
                                <a:solidFill>
                                  <a:srgbClr val="660874"/>
                                </a:solidFill>
                                <a:latin typeface="Cambria Math" panose="02040503050406030204" pitchFamily="18" charset="0"/>
                              </a:rPr>
                            </m:ctrlPr>
                          </m:accPr>
                          <m:e>
                            <m:sSub>
                              <m:sSubPr>
                                <m:ctrlPr>
                                  <a:rPr lang="ar-AE" i="1">
                                    <a:solidFill>
                                      <a:srgbClr val="660874"/>
                                    </a:solidFill>
                                    <a:latin typeface="Cambria Math" panose="02040503050406030204" pitchFamily="18" charset="0"/>
                                  </a:rPr>
                                </m:ctrlPr>
                              </m:sSubPr>
                              <m:e>
                                <m:r>
                                  <a:rPr lang="ar-AE" i="1">
                                    <a:solidFill>
                                      <a:srgbClr val="660874"/>
                                    </a:solidFill>
                                    <a:latin typeface="Cambria Math" panose="02040503050406030204" pitchFamily="18" charset="0"/>
                                  </a:rPr>
                                  <m:t>𝑥</m:t>
                                </m:r>
                              </m:e>
                              <m:sub>
                                <m:r>
                                  <a:rPr lang="ar-AE" i="1">
                                    <a:solidFill>
                                      <a:srgbClr val="660874"/>
                                    </a:solidFill>
                                    <a:latin typeface="Cambria Math" panose="02040503050406030204" pitchFamily="18" charset="0"/>
                                  </a:rPr>
                                  <m:t>0</m:t>
                                </m:r>
                              </m:sub>
                            </m:sSub>
                          </m:e>
                        </m:acc>
                      </m:e>
                    </m:d>
                    <m:sSub>
                      <m:sSubPr>
                        <m:ctrlPr>
                          <a:rPr lang="ar-AE" i="1">
                            <a:solidFill>
                              <a:srgbClr val="660874"/>
                            </a:solidFill>
                            <a:latin typeface="Cambria Math" panose="02040503050406030204" pitchFamily="18" charset="0"/>
                          </a:rPr>
                        </m:ctrlPr>
                      </m:sSubPr>
                      <m:e>
                        <m:r>
                          <a:rPr lang="ar-AE" i="1">
                            <a:solidFill>
                              <a:srgbClr val="660874"/>
                            </a:solidFill>
                            <a:latin typeface="Cambria Math" panose="02040503050406030204" pitchFamily="18" charset="0"/>
                          </a:rPr>
                          <m:t>∥</m:t>
                        </m:r>
                      </m:e>
                      <m:sub>
                        <m:r>
                          <a:rPr lang="ar-AE" i="1">
                            <a:solidFill>
                              <a:srgbClr val="660874"/>
                            </a:solidFill>
                            <a:latin typeface="Cambria Math" panose="02040503050406030204" pitchFamily="18" charset="0"/>
                          </a:rPr>
                          <m:t>2</m:t>
                        </m:r>
                      </m:sub>
                    </m:sSub>
                  </m:oMath>
                </a14:m>
                <a:r>
                  <a:rPr lang="en-US" i="1" dirty="0">
                    <a:solidFill>
                      <a:srgbClr val="660874"/>
                    </a:solidFill>
                  </a:rPr>
                  <a:t> because </a:t>
                </a:r>
                <a14:m>
                  <m:oMath xmlns:m="http://schemas.openxmlformats.org/officeDocument/2006/math">
                    <m:rad>
                      <m:radPr>
                        <m:degHide m:val="on"/>
                        <m:ctrlPr>
                          <a:rPr lang="ar-AE" i="1" smtClean="0">
                            <a:solidFill>
                              <a:srgbClr val="660874"/>
                            </a:solidFill>
                            <a:latin typeface="Cambria Math" panose="02040503050406030204" pitchFamily="18" charset="0"/>
                          </a:rPr>
                        </m:ctrlPr>
                      </m:radPr>
                      <m:deg/>
                      <m:e>
                        <m:r>
                          <a:rPr lang="ar-AE" i="1">
                            <a:solidFill>
                              <a:srgbClr val="660874"/>
                            </a:solidFill>
                            <a:latin typeface="Cambria Math" panose="02040503050406030204" pitchFamily="18" charset="0"/>
                          </a:rPr>
                          <m:t>1</m:t>
                        </m:r>
                        <m:r>
                          <a:rPr lang="ar-AE" i="1">
                            <a:solidFill>
                              <a:srgbClr val="660874"/>
                            </a:solidFill>
                            <a:latin typeface="Cambria Math" panose="02040503050406030204" pitchFamily="18" charset="0"/>
                          </a:rPr>
                          <m:t>−</m:t>
                        </m:r>
                        <m:acc>
                          <m:accPr>
                            <m:chr m:val="̅"/>
                            <m:ctrlPr>
                              <a:rPr lang="ar-AE" i="1">
                                <a:solidFill>
                                  <a:srgbClr val="660874"/>
                                </a:solidFill>
                                <a:latin typeface="Cambria Math" panose="02040503050406030204" pitchFamily="18" charset="0"/>
                              </a:rPr>
                            </m:ctrlPr>
                          </m:accPr>
                          <m:e>
                            <m:sSub>
                              <m:sSubPr>
                                <m:ctrlPr>
                                  <a:rPr lang="ar-AE" i="1">
                                    <a:solidFill>
                                      <a:srgbClr val="660874"/>
                                    </a:solidFill>
                                    <a:latin typeface="Cambria Math" panose="02040503050406030204" pitchFamily="18" charset="0"/>
                                  </a:rPr>
                                </m:ctrlPr>
                              </m:sSubPr>
                              <m:e>
                                <m:r>
                                  <a:rPr lang="ar-AE" i="1">
                                    <a:solidFill>
                                      <a:srgbClr val="660874"/>
                                    </a:solidFill>
                                    <a:latin typeface="Cambria Math" panose="02040503050406030204" pitchFamily="18" charset="0"/>
                                  </a:rPr>
                                  <m:t>𝛼</m:t>
                                </m:r>
                              </m:e>
                              <m:sub>
                                <m:r>
                                  <a:rPr lang="ar-AE" i="1">
                                    <a:solidFill>
                                      <a:srgbClr val="660874"/>
                                    </a:solidFill>
                                    <a:latin typeface="Cambria Math" panose="02040503050406030204" pitchFamily="18" charset="0"/>
                                  </a:rPr>
                                  <m:t>𝑡</m:t>
                                </m:r>
                              </m:sub>
                            </m:sSub>
                          </m:e>
                        </m:acc>
                      </m:e>
                    </m:rad>
                    <m:r>
                      <m:rPr>
                        <m:nor/>
                      </m:rPr>
                      <a:rPr lang="ar-AE" i="1">
                        <a:solidFill>
                          <a:srgbClr val="660874"/>
                        </a:solidFill>
                      </a:rPr>
                      <m:t> </m:t>
                    </m:r>
                    <m:r>
                      <a:rPr lang="ar-AE" i="1">
                        <a:solidFill>
                          <a:srgbClr val="660874"/>
                        </a:solidFill>
                        <a:latin typeface="Cambria Math" panose="02040503050406030204" pitchFamily="18" charset="0"/>
                      </a:rPr>
                      <m:t>∥</m:t>
                    </m:r>
                    <m:sSubSup>
                      <m:sSubSupPr>
                        <m:ctrlPr>
                          <a:rPr lang="ar-AE" i="1">
                            <a:solidFill>
                              <a:srgbClr val="660874"/>
                            </a:solidFill>
                            <a:latin typeface="Cambria Math" panose="02040503050406030204" pitchFamily="18" charset="0"/>
                          </a:rPr>
                        </m:ctrlPr>
                      </m:sSubSupPr>
                      <m:e>
                        <m:r>
                          <a:rPr lang="ar-AE" i="1">
                            <a:solidFill>
                              <a:srgbClr val="660874"/>
                            </a:solidFill>
                            <a:latin typeface="Cambria Math" panose="02040503050406030204" pitchFamily="18" charset="0"/>
                          </a:rPr>
                          <m:t>𝐽</m:t>
                        </m:r>
                      </m:e>
                      <m:sub>
                        <m:r>
                          <a:rPr lang="ar-AE" i="1">
                            <a:solidFill>
                              <a:srgbClr val="660874"/>
                            </a:solidFill>
                            <a:latin typeface="Cambria Math" panose="02040503050406030204" pitchFamily="18" charset="0"/>
                          </a:rPr>
                          <m:t>𝜖</m:t>
                        </m:r>
                      </m:sub>
                      <m:sup>
                        <m:r>
                          <a:rPr lang="ar-AE" i="1">
                            <a:solidFill>
                              <a:srgbClr val="660874"/>
                            </a:solidFill>
                            <a:latin typeface="Cambria Math" panose="02040503050406030204" pitchFamily="18" charset="0"/>
                          </a:rPr>
                          <m:t>𝑇</m:t>
                        </m:r>
                      </m:sup>
                    </m:sSubSup>
                    <m:r>
                      <m:rPr>
                        <m:sty m:val="p"/>
                      </m:rPr>
                      <a:rPr lang="el-GR" i="1">
                        <a:solidFill>
                          <a:srgbClr val="660874"/>
                        </a:solidFill>
                        <a:latin typeface="Cambria Math" panose="02040503050406030204" pitchFamily="18" charset="0"/>
                      </a:rPr>
                      <m:t>Δ</m:t>
                    </m:r>
                    <m:acc>
                      <m:accPr>
                        <m:chr m:val="̂"/>
                        <m:ctrlPr>
                          <a:rPr lang="el-GR" i="1">
                            <a:solidFill>
                              <a:srgbClr val="660874"/>
                            </a:solidFill>
                            <a:latin typeface="Cambria Math" panose="02040503050406030204" pitchFamily="18" charset="0"/>
                          </a:rPr>
                        </m:ctrlPr>
                      </m:accPr>
                      <m:e>
                        <m:sSub>
                          <m:sSubPr>
                            <m:ctrlPr>
                              <a:rPr lang="ar-AE" i="1">
                                <a:solidFill>
                                  <a:srgbClr val="660874"/>
                                </a:solidFill>
                                <a:latin typeface="Cambria Math" panose="02040503050406030204" pitchFamily="18" charset="0"/>
                              </a:rPr>
                            </m:ctrlPr>
                          </m:sSubPr>
                          <m:e>
                            <m:r>
                              <a:rPr lang="ar-AE" i="1">
                                <a:solidFill>
                                  <a:srgbClr val="660874"/>
                                </a:solidFill>
                                <a:latin typeface="Cambria Math" panose="02040503050406030204" pitchFamily="18" charset="0"/>
                              </a:rPr>
                              <m:t>𝑥</m:t>
                            </m:r>
                          </m:e>
                          <m:sub>
                            <m:r>
                              <a:rPr lang="ar-AE" i="1">
                                <a:solidFill>
                                  <a:srgbClr val="660874"/>
                                </a:solidFill>
                                <a:latin typeface="Cambria Math" panose="02040503050406030204" pitchFamily="18" charset="0"/>
                              </a:rPr>
                              <m:t>0</m:t>
                            </m:r>
                          </m:sub>
                        </m:sSub>
                      </m:e>
                    </m:acc>
                    <m:sSub>
                      <m:sSubPr>
                        <m:ctrlPr>
                          <a:rPr lang="ar-AE" i="1">
                            <a:solidFill>
                              <a:srgbClr val="660874"/>
                            </a:solidFill>
                            <a:latin typeface="Cambria Math" panose="02040503050406030204" pitchFamily="18" charset="0"/>
                          </a:rPr>
                        </m:ctrlPr>
                      </m:sSubPr>
                      <m:e>
                        <m:r>
                          <a:rPr lang="ar-AE" i="1">
                            <a:solidFill>
                              <a:srgbClr val="660874"/>
                            </a:solidFill>
                            <a:latin typeface="Cambria Math" panose="02040503050406030204" pitchFamily="18" charset="0"/>
                          </a:rPr>
                          <m:t>∥</m:t>
                        </m:r>
                      </m:e>
                      <m:sub>
                        <m:r>
                          <a:rPr lang="ar-AE" i="1">
                            <a:solidFill>
                              <a:srgbClr val="660874"/>
                            </a:solidFill>
                            <a:latin typeface="Cambria Math" panose="02040503050406030204" pitchFamily="18" charset="0"/>
                          </a:rPr>
                          <m:t>2</m:t>
                        </m:r>
                      </m:sub>
                    </m:sSub>
                    <m:r>
                      <a:rPr lang="en-US" b="0" i="1" smtClean="0">
                        <a:solidFill>
                          <a:srgbClr val="660874"/>
                        </a:solidFill>
                        <a:latin typeface="Cambria Math" panose="02040503050406030204" pitchFamily="18" charset="0"/>
                      </a:rPr>
                      <m:t>=</m:t>
                    </m:r>
                    <m:r>
                      <a:rPr lang="ar-AE" i="1" smtClean="0">
                        <a:solidFill>
                          <a:srgbClr val="660874"/>
                        </a:solidFill>
                        <a:latin typeface="Cambria Math" panose="02040503050406030204" pitchFamily="18" charset="0"/>
                      </a:rPr>
                      <m:t>∥</m:t>
                    </m:r>
                    <m:sSub>
                      <m:sSubPr>
                        <m:ctrlPr>
                          <a:rPr lang="ar-AE" i="1">
                            <a:solidFill>
                              <a:srgbClr val="660874"/>
                            </a:solidFill>
                            <a:latin typeface="Cambria Math" panose="02040503050406030204" pitchFamily="18" charset="0"/>
                          </a:rPr>
                        </m:ctrlPr>
                      </m:sSubPr>
                      <m:e>
                        <m:r>
                          <m:rPr>
                            <m:sty m:val="p"/>
                          </m:rPr>
                          <a:rPr lang="ar-AE" i="1">
                            <a:solidFill>
                              <a:srgbClr val="660874"/>
                            </a:solidFill>
                            <a:latin typeface="Cambria Math" panose="02040503050406030204" pitchFamily="18" charset="0"/>
                          </a:rPr>
                          <m:t>∇</m:t>
                        </m:r>
                      </m:e>
                      <m:sub>
                        <m:r>
                          <a:rPr lang="ar-AE" i="1">
                            <a:solidFill>
                              <a:srgbClr val="660874"/>
                            </a:solidFill>
                            <a:latin typeface="Cambria Math" panose="02040503050406030204" pitchFamily="18" charset="0"/>
                          </a:rPr>
                          <m:t>𝜖</m:t>
                        </m:r>
                      </m:sub>
                    </m:sSub>
                    <m:d>
                      <m:dPr>
                        <m:ctrlPr>
                          <a:rPr lang="ar-AE" i="1">
                            <a:solidFill>
                              <a:srgbClr val="660874"/>
                            </a:solidFill>
                            <a:latin typeface="Cambria Math" panose="02040503050406030204" pitchFamily="18" charset="0"/>
                          </a:rPr>
                        </m:ctrlPr>
                      </m:dPr>
                      <m:e>
                        <m:rad>
                          <m:radPr>
                            <m:degHide m:val="on"/>
                            <m:ctrlPr>
                              <a:rPr lang="ar-AE" i="1">
                                <a:solidFill>
                                  <a:srgbClr val="660874"/>
                                </a:solidFill>
                                <a:latin typeface="Cambria Math" panose="02040503050406030204" pitchFamily="18" charset="0"/>
                              </a:rPr>
                            </m:ctrlPr>
                          </m:radPr>
                          <m:deg/>
                          <m:e>
                            <m:r>
                              <a:rPr lang="ar-AE" i="1">
                                <a:solidFill>
                                  <a:srgbClr val="660874"/>
                                </a:solidFill>
                                <a:latin typeface="Cambria Math" panose="02040503050406030204" pitchFamily="18" charset="0"/>
                              </a:rPr>
                              <m:t>1</m:t>
                            </m:r>
                            <m:r>
                              <a:rPr lang="ar-AE" i="1">
                                <a:solidFill>
                                  <a:srgbClr val="660874"/>
                                </a:solidFill>
                                <a:latin typeface="Cambria Math" panose="02040503050406030204" pitchFamily="18" charset="0"/>
                              </a:rPr>
                              <m:t>−</m:t>
                            </m:r>
                            <m:acc>
                              <m:accPr>
                                <m:chr m:val="̅"/>
                                <m:ctrlPr>
                                  <a:rPr lang="ar-AE" i="1">
                                    <a:solidFill>
                                      <a:srgbClr val="660874"/>
                                    </a:solidFill>
                                    <a:latin typeface="Cambria Math" panose="02040503050406030204" pitchFamily="18" charset="0"/>
                                  </a:rPr>
                                </m:ctrlPr>
                              </m:accPr>
                              <m:e>
                                <m:sSub>
                                  <m:sSubPr>
                                    <m:ctrlPr>
                                      <a:rPr lang="ar-AE" i="1">
                                        <a:solidFill>
                                          <a:srgbClr val="660874"/>
                                        </a:solidFill>
                                        <a:latin typeface="Cambria Math" panose="02040503050406030204" pitchFamily="18" charset="0"/>
                                      </a:rPr>
                                    </m:ctrlPr>
                                  </m:sSubPr>
                                  <m:e>
                                    <m:r>
                                      <a:rPr lang="ar-AE" i="1">
                                        <a:solidFill>
                                          <a:srgbClr val="660874"/>
                                        </a:solidFill>
                                        <a:latin typeface="Cambria Math" panose="02040503050406030204" pitchFamily="18" charset="0"/>
                                      </a:rPr>
                                      <m:t>𝛼</m:t>
                                    </m:r>
                                  </m:e>
                                  <m:sub>
                                    <m:r>
                                      <a:rPr lang="ar-AE" i="1">
                                        <a:solidFill>
                                          <a:srgbClr val="660874"/>
                                        </a:solidFill>
                                        <a:latin typeface="Cambria Math" panose="02040503050406030204" pitchFamily="18" charset="0"/>
                                      </a:rPr>
                                      <m:t>𝑡</m:t>
                                    </m:r>
                                  </m:sub>
                                </m:sSub>
                              </m:e>
                            </m:acc>
                          </m:e>
                        </m:rad>
                        <m:r>
                          <m:rPr>
                            <m:nor/>
                          </m:rPr>
                          <a:rPr lang="ar-AE" i="1">
                            <a:solidFill>
                              <a:srgbClr val="660874"/>
                            </a:solidFill>
                          </a:rPr>
                          <m:t> </m:t>
                        </m:r>
                        <m:acc>
                          <m:accPr>
                            <m:chr m:val="̂"/>
                            <m:ctrlPr>
                              <a:rPr lang="el-GR" i="1">
                                <a:solidFill>
                                  <a:srgbClr val="660874"/>
                                </a:solidFill>
                                <a:latin typeface="Cambria Math" panose="02040503050406030204" pitchFamily="18" charset="0"/>
                              </a:rPr>
                            </m:ctrlPr>
                          </m:accPr>
                          <m:e>
                            <m:sSub>
                              <m:sSubPr>
                                <m:ctrlPr>
                                  <a:rPr lang="ar-AE" i="1">
                                    <a:solidFill>
                                      <a:srgbClr val="660874"/>
                                    </a:solidFill>
                                    <a:latin typeface="Cambria Math" panose="02040503050406030204" pitchFamily="18" charset="0"/>
                                  </a:rPr>
                                </m:ctrlPr>
                              </m:sSubPr>
                              <m:e>
                                <m:r>
                                  <a:rPr lang="ar-AE" i="1">
                                    <a:solidFill>
                                      <a:srgbClr val="660874"/>
                                    </a:solidFill>
                                    <a:latin typeface="Cambria Math" panose="02040503050406030204" pitchFamily="18" charset="0"/>
                                  </a:rPr>
                                  <m:t>𝑥</m:t>
                                </m:r>
                              </m:e>
                              <m:sub>
                                <m:r>
                                  <a:rPr lang="ar-AE" i="1">
                                    <a:solidFill>
                                      <a:srgbClr val="660874"/>
                                    </a:solidFill>
                                    <a:latin typeface="Cambria Math" panose="02040503050406030204" pitchFamily="18" charset="0"/>
                                  </a:rPr>
                                  <m:t>0</m:t>
                                </m:r>
                              </m:sub>
                            </m:sSub>
                          </m:e>
                        </m:acc>
                        <m:r>
                          <a:rPr lang="ar-AE" i="1">
                            <a:solidFill>
                              <a:srgbClr val="660874"/>
                            </a:solidFill>
                            <a:latin typeface="Cambria Math" panose="02040503050406030204" pitchFamily="18" charset="0"/>
                          </a:rPr>
                          <m:t>⋅</m:t>
                        </m:r>
                        <m:r>
                          <m:rPr>
                            <m:sty m:val="p"/>
                          </m:rPr>
                          <a:rPr lang="el-GR" i="1">
                            <a:solidFill>
                              <a:srgbClr val="660874"/>
                            </a:solidFill>
                            <a:latin typeface="Cambria Math" panose="02040503050406030204" pitchFamily="18" charset="0"/>
                          </a:rPr>
                          <m:t>Δ</m:t>
                        </m:r>
                        <m:acc>
                          <m:accPr>
                            <m:chr m:val="̂"/>
                            <m:ctrlPr>
                              <a:rPr lang="el-GR" i="1">
                                <a:solidFill>
                                  <a:srgbClr val="660874"/>
                                </a:solidFill>
                                <a:latin typeface="Cambria Math" panose="02040503050406030204" pitchFamily="18" charset="0"/>
                              </a:rPr>
                            </m:ctrlPr>
                          </m:accPr>
                          <m:e>
                            <m:sSub>
                              <m:sSubPr>
                                <m:ctrlPr>
                                  <a:rPr lang="ar-AE" i="1">
                                    <a:solidFill>
                                      <a:srgbClr val="660874"/>
                                    </a:solidFill>
                                    <a:latin typeface="Cambria Math" panose="02040503050406030204" pitchFamily="18" charset="0"/>
                                  </a:rPr>
                                </m:ctrlPr>
                              </m:sSubPr>
                              <m:e>
                                <m:r>
                                  <a:rPr lang="ar-AE" i="1">
                                    <a:solidFill>
                                      <a:srgbClr val="660874"/>
                                    </a:solidFill>
                                    <a:latin typeface="Cambria Math" panose="02040503050406030204" pitchFamily="18" charset="0"/>
                                  </a:rPr>
                                  <m:t>𝑥</m:t>
                                </m:r>
                              </m:e>
                              <m:sub>
                                <m:r>
                                  <a:rPr lang="ar-AE" i="1">
                                    <a:solidFill>
                                      <a:srgbClr val="660874"/>
                                    </a:solidFill>
                                    <a:latin typeface="Cambria Math" panose="02040503050406030204" pitchFamily="18" charset="0"/>
                                  </a:rPr>
                                  <m:t>0</m:t>
                                </m:r>
                              </m:sub>
                            </m:sSub>
                          </m:e>
                        </m:acc>
                      </m:e>
                    </m:d>
                    <m:sSub>
                      <m:sSubPr>
                        <m:ctrlPr>
                          <a:rPr lang="ar-AE" i="1">
                            <a:solidFill>
                              <a:srgbClr val="660874"/>
                            </a:solidFill>
                            <a:latin typeface="Cambria Math" panose="02040503050406030204" pitchFamily="18" charset="0"/>
                          </a:rPr>
                        </m:ctrlPr>
                      </m:sSubPr>
                      <m:e>
                        <m:r>
                          <a:rPr lang="ar-AE" i="1">
                            <a:solidFill>
                              <a:srgbClr val="660874"/>
                            </a:solidFill>
                            <a:latin typeface="Cambria Math" panose="02040503050406030204" pitchFamily="18" charset="0"/>
                          </a:rPr>
                          <m:t>∥</m:t>
                        </m:r>
                      </m:e>
                      <m:sub>
                        <m:r>
                          <a:rPr lang="ar-AE" i="1">
                            <a:solidFill>
                              <a:srgbClr val="660874"/>
                            </a:solidFill>
                            <a:latin typeface="Cambria Math" panose="02040503050406030204" pitchFamily="18" charset="0"/>
                          </a:rPr>
                          <m:t>2</m:t>
                        </m:r>
                      </m:sub>
                    </m:sSub>
                  </m:oMath>
                </a14:m>
                <a:endParaRPr lang="en-US" i="1" dirty="0">
                  <a:solidFill>
                    <a:srgbClr val="660874"/>
                  </a:solidFill>
                </a:endParaRPr>
              </a:p>
              <a:p>
                <a:r>
                  <a:rPr lang="en-US" i="1" dirty="0">
                    <a:solidFill>
                      <a:srgbClr val="660874"/>
                    </a:solidFill>
                  </a:rPr>
                  <a:t>The gradient can be then be obtained using backpropagation, because deep learning frameworks (</a:t>
                </a:r>
                <a:r>
                  <a:rPr lang="en-US" i="1" dirty="0" err="1">
                    <a:solidFill>
                      <a:srgbClr val="660874"/>
                    </a:solidFill>
                  </a:rPr>
                  <a:t>PyTorch</a:t>
                </a:r>
                <a:r>
                  <a:rPr lang="en-US" i="1" dirty="0">
                    <a:solidFill>
                      <a:srgbClr val="660874"/>
                    </a:solidFill>
                  </a:rPr>
                  <a:t>, TensorFlow) already compute ∇ easily.</a:t>
                </a:r>
              </a:p>
              <a:p>
                <a:endParaRPr lang="en-US" i="1" dirty="0">
                  <a:solidFill>
                    <a:srgbClr val="660874"/>
                  </a:solidFill>
                </a:endParaRPr>
              </a:p>
              <a:p>
                <a:r>
                  <a:rPr lang="en-US" i="1" dirty="0">
                    <a:solidFill>
                      <a:srgbClr val="660874"/>
                    </a:solidFill>
                  </a:rPr>
                  <a:t>(explanation continues on next page)</a:t>
                </a:r>
                <a:endParaRPr lang="ar-AE" i="1" dirty="0">
                  <a:solidFill>
                    <a:srgbClr val="660874"/>
                  </a:solidFill>
                </a:endParaRPr>
              </a:p>
              <a:p>
                <a:endParaRPr lang="ar-AE" dirty="0"/>
              </a:p>
              <a:p>
                <a:pPr>
                  <a:lnSpc>
                    <a:spcPct val="200000"/>
                  </a:lnSpc>
                </a:pPr>
                <a:r>
                  <a:rPr lang="en-US" dirty="0">
                    <a:solidFill>
                      <a:srgbClr val="660874"/>
                    </a:solidFill>
                  </a:rPr>
                  <a:t> </a:t>
                </a:r>
                <a:endParaRPr lang="ar-AE" dirty="0">
                  <a:solidFill>
                    <a:srgbClr val="660874"/>
                  </a:solidFill>
                </a:endParaRPr>
              </a:p>
              <a:p>
                <a:endParaRPr lang="ar-AE" b="1" dirty="0">
                  <a:solidFill>
                    <a:srgbClr val="660874"/>
                  </a:solidFill>
                </a:endParaRPr>
              </a:p>
              <a:p>
                <a:pPr>
                  <a:lnSpc>
                    <a:spcPct val="200000"/>
                  </a:lnSpc>
                </a:pPr>
                <a:endParaRPr lang="en-US" dirty="0">
                  <a:solidFill>
                    <a:srgbClr val="660874"/>
                  </a:solidFill>
                </a:endParaRPr>
              </a:p>
              <a:p>
                <a:pPr marL="285750" indent="-285750">
                  <a:lnSpc>
                    <a:spcPct val="200000"/>
                  </a:lnSpc>
                  <a:buFont typeface="Wingdings" panose="05000000000000000000" pitchFamily="2" charset="2"/>
                  <a:buChar char="Ø"/>
                </a:pPr>
                <a:endParaRPr lang="en-US" b="1" dirty="0">
                  <a:solidFill>
                    <a:srgbClr val="660874"/>
                  </a:solidFill>
                </a:endParaRPr>
              </a:p>
              <a:p>
                <a:pPr marL="285750" indent="-285750">
                  <a:lnSpc>
                    <a:spcPct val="200000"/>
                  </a:lnSpc>
                  <a:buFont typeface="Wingdings" panose="05000000000000000000" pitchFamily="2" charset="2"/>
                  <a:buChar char="Ø"/>
                </a:pPr>
                <a:endParaRPr lang="en-US" b="1" dirty="0">
                  <a:solidFill>
                    <a:srgbClr val="660874"/>
                  </a:solidFill>
                </a:endParaRPr>
              </a:p>
              <a:p>
                <a:pPr marL="285750" indent="-285750">
                  <a:lnSpc>
                    <a:spcPct val="200000"/>
                  </a:lnSpc>
                  <a:buFont typeface="Wingdings" panose="05000000000000000000" pitchFamily="2" charset="2"/>
                  <a:buChar char="Ø"/>
                </a:pPr>
                <a:endParaRPr lang="en-US" b="1" dirty="0">
                  <a:solidFill>
                    <a:srgbClr val="660874"/>
                  </a:solidFill>
                </a:endParaRPr>
              </a:p>
              <a:p>
                <a:pPr marL="285750" indent="-285750">
                  <a:lnSpc>
                    <a:spcPct val="200000"/>
                  </a:lnSpc>
                  <a:buFont typeface="Wingdings" panose="05000000000000000000" pitchFamily="2" charset="2"/>
                  <a:buChar char="Ø"/>
                </a:pPr>
                <a:endParaRPr lang="en-US" b="1" dirty="0">
                  <a:solidFill>
                    <a:srgbClr val="660874"/>
                  </a:solidFill>
                </a:endParaRPr>
              </a:p>
              <a:p>
                <a:pPr marL="285750" indent="-285750">
                  <a:lnSpc>
                    <a:spcPct val="200000"/>
                  </a:lnSpc>
                  <a:buFont typeface="Wingdings" panose="05000000000000000000" pitchFamily="2" charset="2"/>
                  <a:buChar char="Ø"/>
                </a:pPr>
                <a:endParaRPr lang="en-US" b="1" dirty="0">
                  <a:solidFill>
                    <a:srgbClr val="660874"/>
                  </a:solidFill>
                </a:endParaRPr>
              </a:p>
            </p:txBody>
          </p:sp>
        </mc:Choice>
        <mc:Fallback>
          <p:sp>
            <p:nvSpPr>
              <p:cNvPr id="11" name="TextBox 10">
                <a:extLst>
                  <a:ext uri="{FF2B5EF4-FFF2-40B4-BE49-F238E27FC236}">
                    <a16:creationId xmlns:a16="http://schemas.microsoft.com/office/drawing/2014/main" id="{F7765B4E-3F4A-58C0-AC31-CCDCFBE821D6}"/>
                  </a:ext>
                </a:extLst>
              </p:cNvPr>
              <p:cNvSpPr txBox="1">
                <a:spLocks noRot="1" noChangeAspect="1" noMove="1" noResize="1" noEditPoints="1" noAdjustHandles="1" noChangeArrowheads="1" noChangeShapeType="1" noTextEdit="1"/>
              </p:cNvSpPr>
              <p:nvPr/>
            </p:nvSpPr>
            <p:spPr>
              <a:xfrm>
                <a:off x="1017437" y="1715585"/>
                <a:ext cx="9941508" cy="8529002"/>
              </a:xfrm>
              <a:prstGeom prst="rect">
                <a:avLst/>
              </a:prstGeom>
              <a:blipFill>
                <a:blip r:embed="rId2"/>
                <a:stretch>
                  <a:fillRect l="-552" r="-1655"/>
                </a:stretch>
              </a:blipFill>
            </p:spPr>
            <p:txBody>
              <a:bodyPr/>
              <a:lstStyle/>
              <a:p>
                <a:r>
                  <a:rPr lang="en-US">
                    <a:noFill/>
                  </a:rPr>
                  <a:t> </a:t>
                </a:r>
              </a:p>
            </p:txBody>
          </p:sp>
        </mc:Fallback>
      </mc:AlternateContent>
    </p:spTree>
    <p:extLst>
      <p:ext uri="{BB962C8B-B14F-4D97-AF65-F5344CB8AC3E}">
        <p14:creationId xmlns:p14="http://schemas.microsoft.com/office/powerpoint/2010/main" val="9618924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1E1BCB-0E32-120C-AF58-A7F43B071979}"/>
            </a:ext>
          </a:extLst>
        </p:cNvPr>
        <p:cNvGrpSpPr/>
        <p:nvPr/>
      </p:nvGrpSpPr>
      <p:grpSpPr>
        <a:xfrm>
          <a:off x="0" y="0"/>
          <a:ext cx="0" cy="0"/>
          <a:chOff x="0" y="0"/>
          <a:chExt cx="0" cy="0"/>
        </a:xfrm>
      </p:grpSpPr>
      <p:sp>
        <p:nvSpPr>
          <p:cNvPr id="4" name="Arrow: Chevron 3">
            <a:extLst>
              <a:ext uri="{FF2B5EF4-FFF2-40B4-BE49-F238E27FC236}">
                <a16:creationId xmlns:a16="http://schemas.microsoft.com/office/drawing/2014/main" id="{66AB82BB-B6C5-F65C-A36E-2B47783ACC85}"/>
              </a:ext>
            </a:extLst>
          </p:cNvPr>
          <p:cNvSpPr/>
          <p:nvPr/>
        </p:nvSpPr>
        <p:spPr>
          <a:xfrm>
            <a:off x="892601" y="488935"/>
            <a:ext cx="5896126" cy="694742"/>
          </a:xfrm>
          <a:prstGeom prst="chevron">
            <a:avLst/>
          </a:prstGeom>
          <a:solidFill>
            <a:schemeClr val="bg1">
              <a:lumMod val="85000"/>
              <a:alpha val="67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 name="Arrow: Chevron 4">
            <a:extLst>
              <a:ext uri="{FF2B5EF4-FFF2-40B4-BE49-F238E27FC236}">
                <a16:creationId xmlns:a16="http://schemas.microsoft.com/office/drawing/2014/main" id="{146AA1CB-DA5A-9AA7-C092-C44B16D37BDB}"/>
              </a:ext>
            </a:extLst>
          </p:cNvPr>
          <p:cNvSpPr/>
          <p:nvPr/>
        </p:nvSpPr>
        <p:spPr>
          <a:xfrm>
            <a:off x="393087" y="488936"/>
            <a:ext cx="817404" cy="694742"/>
          </a:xfrm>
          <a:prstGeom prst="chevron">
            <a:avLst/>
          </a:prstGeom>
          <a:gradFill>
            <a:gsLst>
              <a:gs pos="0">
                <a:srgbClr val="660874"/>
              </a:gs>
              <a:gs pos="50000">
                <a:srgbClr val="7030A0"/>
              </a:gs>
              <a:gs pos="100000">
                <a:srgbClr val="660874"/>
              </a:gs>
            </a:gsLst>
            <a:lin ang="5400000" scaled="0"/>
          </a:gra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 name="Title 1">
            <a:extLst>
              <a:ext uri="{FF2B5EF4-FFF2-40B4-BE49-F238E27FC236}">
                <a16:creationId xmlns:a16="http://schemas.microsoft.com/office/drawing/2014/main" id="{56CC0CDD-2D62-FFD7-F05E-5209D96B45D7}"/>
              </a:ext>
            </a:extLst>
          </p:cNvPr>
          <p:cNvSpPr>
            <a:spLocks noGrp="1"/>
          </p:cNvSpPr>
          <p:nvPr>
            <p:ph type="title"/>
          </p:nvPr>
        </p:nvSpPr>
        <p:spPr>
          <a:xfrm>
            <a:off x="1248477" y="190942"/>
            <a:ext cx="10515600" cy="1325563"/>
          </a:xfrm>
          <a:effectLst/>
        </p:spPr>
        <p:txBody>
          <a:bodyPr>
            <a:normAutofit/>
          </a:bodyPr>
          <a:lstStyle/>
          <a:p>
            <a:r>
              <a:rPr lang="en-US" altLang="zh-CN" sz="2800" dirty="0">
                <a:solidFill>
                  <a:srgbClr val="660874"/>
                </a:solidFill>
              </a:rPr>
              <a:t>Smooth Diffusion (Guo et. al 2023)</a:t>
            </a:r>
            <a:endParaRPr lang="zh-CN" altLang="en-US" sz="2800" dirty="0">
              <a:solidFill>
                <a:srgbClr val="660874"/>
              </a:solidFill>
            </a:endParaRPr>
          </a:p>
        </p:txBody>
      </p:sp>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08BC7A6C-FD1E-3157-868C-BAC290FBE764}"/>
                  </a:ext>
                </a:extLst>
              </p:cNvPr>
              <p:cNvSpPr txBox="1"/>
              <p:nvPr/>
            </p:nvSpPr>
            <p:spPr>
              <a:xfrm>
                <a:off x="1017437" y="1715585"/>
                <a:ext cx="9941508" cy="7892866"/>
              </a:xfrm>
              <a:prstGeom prst="rect">
                <a:avLst/>
              </a:prstGeom>
              <a:noFill/>
            </p:spPr>
            <p:txBody>
              <a:bodyPr wrap="square" rtlCol="0">
                <a:spAutoFit/>
              </a:bodyPr>
              <a:lstStyle/>
              <a:p>
                <a:pPr marL="285750" indent="-285750">
                  <a:lnSpc>
                    <a:spcPct val="200000"/>
                  </a:lnSpc>
                  <a:buFont typeface="Wingdings" panose="05000000000000000000" pitchFamily="2" charset="2"/>
                  <a:buChar char="Ø"/>
                </a:pPr>
                <a:r>
                  <a:rPr lang="en-US" b="1" dirty="0">
                    <a:solidFill>
                      <a:srgbClr val="660874"/>
                    </a:solidFill>
                  </a:rPr>
                  <a:t>Step-wise Variation Regularization (continued)</a:t>
                </a:r>
              </a:p>
              <a:p>
                <a:pPr marL="285750" indent="-285750">
                  <a:buFontTx/>
                  <a:buChar char="-"/>
                </a:pPr>
                <a:r>
                  <a:rPr lang="en-US" dirty="0">
                    <a:solidFill>
                      <a:srgbClr val="660874"/>
                    </a:solidFill>
                  </a:rPr>
                  <a:t>For </a:t>
                </a:r>
                <a14:m>
                  <m:oMath xmlns:m="http://schemas.openxmlformats.org/officeDocument/2006/math">
                    <m:sSub>
                      <m:sSubPr>
                        <m:ctrlPr>
                          <a:rPr lang="ar-AE" i="1">
                            <a:solidFill>
                              <a:srgbClr val="660874"/>
                            </a:solidFill>
                            <a:latin typeface="Cambria Math" panose="02040503050406030204" pitchFamily="18" charset="0"/>
                          </a:rPr>
                        </m:ctrlPr>
                      </m:sSubPr>
                      <m:e>
                        <m:r>
                          <a:rPr lang="ar-AE">
                            <a:solidFill>
                              <a:srgbClr val="660874"/>
                            </a:solidFill>
                            <a:latin typeface="Cambria Math" panose="02040503050406030204" pitchFamily="18" charset="0"/>
                          </a:rPr>
                          <m:t>𝐿</m:t>
                        </m:r>
                      </m:e>
                      <m:sub>
                        <m:r>
                          <a:rPr lang="ar-AE">
                            <a:solidFill>
                              <a:srgbClr val="660874"/>
                            </a:solidFill>
                            <a:latin typeface="Cambria Math" panose="02040503050406030204" pitchFamily="18" charset="0"/>
                          </a:rPr>
                          <m:t>𝑟𝑒𝑔</m:t>
                        </m:r>
                      </m:sub>
                    </m:sSub>
                    <m:r>
                      <a:rPr lang="ar-AE">
                        <a:solidFill>
                          <a:srgbClr val="660874"/>
                        </a:solidFill>
                        <a:latin typeface="Cambria Math" panose="02040503050406030204" pitchFamily="18" charset="0"/>
                      </a:rPr>
                      <m:t>=</m:t>
                    </m:r>
                    <m:sSub>
                      <m:sSubPr>
                        <m:ctrlPr>
                          <a:rPr lang="ar-AE" i="1">
                            <a:solidFill>
                              <a:srgbClr val="660874"/>
                            </a:solidFill>
                            <a:latin typeface="Cambria Math" panose="02040503050406030204" pitchFamily="18" charset="0"/>
                          </a:rPr>
                        </m:ctrlPr>
                      </m:sSubPr>
                      <m:e>
                        <m:r>
                          <a:rPr lang="ar-AE">
                            <a:solidFill>
                              <a:srgbClr val="660874"/>
                            </a:solidFill>
                            <a:latin typeface="Cambria Math" panose="02040503050406030204" pitchFamily="18" charset="0"/>
                          </a:rPr>
                          <m:t>𝔼</m:t>
                        </m:r>
                      </m:e>
                      <m:sub>
                        <m:r>
                          <m:rPr>
                            <m:sty m:val="p"/>
                          </m:rPr>
                          <a:rPr lang="el-GR">
                            <a:solidFill>
                              <a:srgbClr val="660874"/>
                            </a:solidFill>
                            <a:latin typeface="Cambria Math" panose="02040503050406030204" pitchFamily="18" charset="0"/>
                          </a:rPr>
                          <m:t>Δ</m:t>
                        </m:r>
                        <m:acc>
                          <m:accPr>
                            <m:chr m:val="̂"/>
                            <m:ctrlPr>
                              <a:rPr lang="el-GR" i="1" smtClean="0">
                                <a:solidFill>
                                  <a:srgbClr val="660874"/>
                                </a:solidFill>
                                <a:latin typeface="Cambria Math" panose="02040503050406030204" pitchFamily="18" charset="0"/>
                              </a:rPr>
                            </m:ctrlPr>
                          </m:accPr>
                          <m:e>
                            <m:sSub>
                              <m:sSubPr>
                                <m:ctrlPr>
                                  <a:rPr lang="ar-AE" i="1" smtClean="0">
                                    <a:solidFill>
                                      <a:srgbClr val="660874"/>
                                    </a:solidFill>
                                    <a:latin typeface="Cambria Math" panose="02040503050406030204" pitchFamily="18" charset="0"/>
                                  </a:rPr>
                                </m:ctrlPr>
                              </m:sSubPr>
                              <m:e>
                                <m:r>
                                  <a:rPr lang="ar-AE">
                                    <a:solidFill>
                                      <a:srgbClr val="660874"/>
                                    </a:solidFill>
                                    <a:latin typeface="Cambria Math" panose="02040503050406030204" pitchFamily="18" charset="0"/>
                                  </a:rPr>
                                  <m:t>𝑥</m:t>
                                </m:r>
                              </m:e>
                              <m:sub>
                                <m:r>
                                  <a:rPr lang="ar-AE">
                                    <a:solidFill>
                                      <a:srgbClr val="660874"/>
                                    </a:solidFill>
                                    <a:latin typeface="Cambria Math" panose="02040503050406030204" pitchFamily="18" charset="0"/>
                                  </a:rPr>
                                  <m:t>0</m:t>
                                </m:r>
                              </m:sub>
                            </m:sSub>
                          </m:e>
                        </m:acc>
                        <m:r>
                          <a:rPr lang="ar-AE">
                            <a:solidFill>
                              <a:srgbClr val="660874"/>
                            </a:solidFill>
                            <a:latin typeface="Cambria Math" panose="02040503050406030204" pitchFamily="18" charset="0"/>
                          </a:rPr>
                          <m:t>,</m:t>
                        </m:r>
                        <m:r>
                          <a:rPr lang="ar-AE">
                            <a:solidFill>
                              <a:srgbClr val="660874"/>
                            </a:solidFill>
                            <a:latin typeface="Cambria Math" panose="02040503050406030204" pitchFamily="18" charset="0"/>
                          </a:rPr>
                          <m:t>𝜖</m:t>
                        </m:r>
                      </m:sub>
                    </m:sSub>
                    <m:r>
                      <a:rPr lang="ar-AE">
                        <a:solidFill>
                          <a:srgbClr val="660874"/>
                        </a:solidFill>
                        <a:latin typeface="Cambria Math" panose="02040503050406030204" pitchFamily="18" charset="0"/>
                      </a:rPr>
                      <m:t>[</m:t>
                    </m:r>
                    <m:rad>
                      <m:radPr>
                        <m:degHide m:val="on"/>
                        <m:ctrlPr>
                          <a:rPr lang="ar-AE" i="1">
                            <a:solidFill>
                              <a:srgbClr val="660874"/>
                            </a:solidFill>
                            <a:latin typeface="Cambria Math" panose="02040503050406030204" pitchFamily="18" charset="0"/>
                          </a:rPr>
                        </m:ctrlPr>
                      </m:radPr>
                      <m:deg/>
                      <m:e>
                        <m:r>
                          <a:rPr lang="ar-AE">
                            <a:solidFill>
                              <a:srgbClr val="660874"/>
                            </a:solidFill>
                            <a:latin typeface="Cambria Math" panose="02040503050406030204" pitchFamily="18" charset="0"/>
                          </a:rPr>
                          <m:t>1</m:t>
                        </m:r>
                        <m:r>
                          <a:rPr lang="ar-AE">
                            <a:solidFill>
                              <a:srgbClr val="660874"/>
                            </a:solidFill>
                            <a:latin typeface="Cambria Math" panose="02040503050406030204" pitchFamily="18" charset="0"/>
                          </a:rPr>
                          <m:t>−</m:t>
                        </m:r>
                        <m:acc>
                          <m:accPr>
                            <m:chr m:val="̅"/>
                            <m:ctrlPr>
                              <a:rPr lang="ar-AE" i="1" smtClean="0">
                                <a:solidFill>
                                  <a:srgbClr val="660874"/>
                                </a:solidFill>
                                <a:latin typeface="Cambria Math" panose="02040503050406030204" pitchFamily="18" charset="0"/>
                              </a:rPr>
                            </m:ctrlPr>
                          </m:accPr>
                          <m:e>
                            <m:sSub>
                              <m:sSubPr>
                                <m:ctrlPr>
                                  <a:rPr lang="ar-AE" i="1" smtClean="0">
                                    <a:solidFill>
                                      <a:srgbClr val="660874"/>
                                    </a:solidFill>
                                    <a:latin typeface="Cambria Math" panose="02040503050406030204" pitchFamily="18" charset="0"/>
                                  </a:rPr>
                                </m:ctrlPr>
                              </m:sSubPr>
                              <m:e>
                                <m:r>
                                  <a:rPr lang="ar-AE">
                                    <a:solidFill>
                                      <a:srgbClr val="660874"/>
                                    </a:solidFill>
                                    <a:latin typeface="Cambria Math" panose="02040503050406030204" pitchFamily="18" charset="0"/>
                                  </a:rPr>
                                  <m:t>𝛼</m:t>
                                </m:r>
                              </m:e>
                              <m:sub>
                                <m:r>
                                  <a:rPr lang="ar-AE">
                                    <a:solidFill>
                                      <a:srgbClr val="660874"/>
                                    </a:solidFill>
                                    <a:latin typeface="Cambria Math" panose="02040503050406030204" pitchFamily="18" charset="0"/>
                                  </a:rPr>
                                  <m:t>𝑡</m:t>
                                </m:r>
                              </m:sub>
                            </m:sSub>
                          </m:e>
                        </m:acc>
                      </m:e>
                    </m:rad>
                    <m:r>
                      <m:rPr>
                        <m:nor/>
                      </m:rPr>
                      <a:rPr lang="ar-AE">
                        <a:solidFill>
                          <a:srgbClr val="660874"/>
                        </a:solidFill>
                      </a:rPr>
                      <m:t> </m:t>
                    </m:r>
                    <m:r>
                      <a:rPr lang="ar-AE">
                        <a:solidFill>
                          <a:srgbClr val="660874"/>
                        </a:solidFill>
                        <a:latin typeface="Cambria Math" panose="02040503050406030204" pitchFamily="18" charset="0"/>
                      </a:rPr>
                      <m:t>∥</m:t>
                    </m:r>
                    <m:sSubSup>
                      <m:sSubSupPr>
                        <m:ctrlPr>
                          <a:rPr lang="ar-AE" i="1">
                            <a:solidFill>
                              <a:srgbClr val="660874"/>
                            </a:solidFill>
                            <a:latin typeface="Cambria Math" panose="02040503050406030204" pitchFamily="18" charset="0"/>
                          </a:rPr>
                        </m:ctrlPr>
                      </m:sSubSupPr>
                      <m:e>
                        <m:r>
                          <a:rPr lang="ar-AE">
                            <a:solidFill>
                              <a:srgbClr val="660874"/>
                            </a:solidFill>
                            <a:latin typeface="Cambria Math" panose="02040503050406030204" pitchFamily="18" charset="0"/>
                          </a:rPr>
                          <m:t>𝐽</m:t>
                        </m:r>
                      </m:e>
                      <m:sub>
                        <m:r>
                          <a:rPr lang="ar-AE">
                            <a:solidFill>
                              <a:srgbClr val="660874"/>
                            </a:solidFill>
                            <a:latin typeface="Cambria Math" panose="02040503050406030204" pitchFamily="18" charset="0"/>
                          </a:rPr>
                          <m:t>𝜖</m:t>
                        </m:r>
                      </m:sub>
                      <m:sup>
                        <m:r>
                          <a:rPr lang="ar-AE">
                            <a:solidFill>
                              <a:srgbClr val="660874"/>
                            </a:solidFill>
                            <a:latin typeface="Cambria Math" panose="02040503050406030204" pitchFamily="18" charset="0"/>
                          </a:rPr>
                          <m:t>𝑇</m:t>
                        </m:r>
                      </m:sup>
                    </m:sSubSup>
                    <m:r>
                      <m:rPr>
                        <m:sty m:val="p"/>
                      </m:rPr>
                      <a:rPr lang="el-GR">
                        <a:solidFill>
                          <a:srgbClr val="660874"/>
                        </a:solidFill>
                        <a:latin typeface="Cambria Math" panose="02040503050406030204" pitchFamily="18" charset="0"/>
                      </a:rPr>
                      <m:t>Δ</m:t>
                    </m:r>
                    <m:acc>
                      <m:accPr>
                        <m:chr m:val="̂"/>
                        <m:ctrlPr>
                          <a:rPr lang="el-GR" i="1" smtClean="0">
                            <a:solidFill>
                              <a:srgbClr val="660874"/>
                            </a:solidFill>
                            <a:latin typeface="Cambria Math" panose="02040503050406030204" pitchFamily="18" charset="0"/>
                          </a:rPr>
                        </m:ctrlPr>
                      </m:accPr>
                      <m:e>
                        <m:sSub>
                          <m:sSubPr>
                            <m:ctrlPr>
                              <a:rPr lang="ar-AE" i="1" smtClean="0">
                                <a:solidFill>
                                  <a:srgbClr val="660874"/>
                                </a:solidFill>
                                <a:latin typeface="Cambria Math" panose="02040503050406030204" pitchFamily="18" charset="0"/>
                              </a:rPr>
                            </m:ctrlPr>
                          </m:sSubPr>
                          <m:e>
                            <m:r>
                              <a:rPr lang="ar-AE">
                                <a:solidFill>
                                  <a:srgbClr val="660874"/>
                                </a:solidFill>
                                <a:latin typeface="Cambria Math" panose="02040503050406030204" pitchFamily="18" charset="0"/>
                              </a:rPr>
                              <m:t>𝑥</m:t>
                            </m:r>
                          </m:e>
                          <m:sub>
                            <m:r>
                              <a:rPr lang="ar-AE">
                                <a:solidFill>
                                  <a:srgbClr val="660874"/>
                                </a:solidFill>
                                <a:latin typeface="Cambria Math" panose="02040503050406030204" pitchFamily="18" charset="0"/>
                              </a:rPr>
                              <m:t>0</m:t>
                            </m:r>
                          </m:sub>
                        </m:sSub>
                      </m:e>
                    </m:acc>
                    <m:sSub>
                      <m:sSubPr>
                        <m:ctrlPr>
                          <a:rPr lang="ar-AE" i="1">
                            <a:solidFill>
                              <a:srgbClr val="660874"/>
                            </a:solidFill>
                            <a:latin typeface="Cambria Math" panose="02040503050406030204" pitchFamily="18" charset="0"/>
                          </a:rPr>
                        </m:ctrlPr>
                      </m:sSubPr>
                      <m:e>
                        <m:r>
                          <a:rPr lang="ar-AE">
                            <a:solidFill>
                              <a:srgbClr val="660874"/>
                            </a:solidFill>
                            <a:latin typeface="Cambria Math" panose="02040503050406030204" pitchFamily="18" charset="0"/>
                          </a:rPr>
                          <m:t>∥</m:t>
                        </m:r>
                      </m:e>
                      <m:sub>
                        <m:r>
                          <a:rPr lang="ar-AE">
                            <a:solidFill>
                              <a:srgbClr val="660874"/>
                            </a:solidFill>
                            <a:latin typeface="Cambria Math" panose="02040503050406030204" pitchFamily="18" charset="0"/>
                          </a:rPr>
                          <m:t>2</m:t>
                        </m:r>
                      </m:sub>
                    </m:sSub>
                    <m:r>
                      <a:rPr lang="ar-AE">
                        <a:solidFill>
                          <a:srgbClr val="660874"/>
                        </a:solidFill>
                        <a:latin typeface="Cambria Math" panose="02040503050406030204" pitchFamily="18" charset="0"/>
                      </a:rPr>
                      <m:t>−</m:t>
                    </m:r>
                    <m:r>
                      <a:rPr lang="en-US" b="0" i="0" smtClean="0">
                        <a:solidFill>
                          <a:srgbClr val="660874"/>
                        </a:solidFill>
                        <a:latin typeface="Cambria Math" panose="02040503050406030204" pitchFamily="18" charset="0"/>
                      </a:rPr>
                      <m:t> </m:t>
                    </m:r>
                    <m:r>
                      <a:rPr lang="ar-AE">
                        <a:solidFill>
                          <a:srgbClr val="660874"/>
                        </a:solidFill>
                        <a:latin typeface="Cambria Math" panose="02040503050406030204" pitchFamily="18" charset="0"/>
                      </a:rPr>
                      <m:t>𝑎</m:t>
                    </m:r>
                    <m:sSup>
                      <m:sSupPr>
                        <m:ctrlPr>
                          <a:rPr lang="ar-AE" i="1">
                            <a:solidFill>
                              <a:srgbClr val="660874"/>
                            </a:solidFill>
                            <a:latin typeface="Cambria Math" panose="02040503050406030204" pitchFamily="18" charset="0"/>
                          </a:rPr>
                        </m:ctrlPr>
                      </m:sSupPr>
                      <m:e>
                        <m:r>
                          <a:rPr lang="ar-AE">
                            <a:solidFill>
                              <a:srgbClr val="660874"/>
                            </a:solidFill>
                            <a:latin typeface="Cambria Math" panose="02040503050406030204" pitchFamily="18" charset="0"/>
                          </a:rPr>
                          <m:t>]</m:t>
                        </m:r>
                      </m:e>
                      <m:sup>
                        <m:r>
                          <a:rPr lang="ar-AE">
                            <a:solidFill>
                              <a:srgbClr val="660874"/>
                            </a:solidFill>
                            <a:latin typeface="Cambria Math" panose="02040503050406030204" pitchFamily="18" charset="0"/>
                          </a:rPr>
                          <m:t>2</m:t>
                        </m:r>
                      </m:sup>
                    </m:sSup>
                  </m:oMath>
                </a14:m>
                <a:r>
                  <a:rPr lang="en-US" dirty="0">
                    <a:solidFill>
                      <a:srgbClr val="660874"/>
                    </a:solidFill>
                  </a:rPr>
                  <a:t>, the intuition lies in the term </a:t>
                </a:r>
                <a14:m>
                  <m:oMath xmlns:m="http://schemas.openxmlformats.org/officeDocument/2006/math">
                    <m:r>
                      <a:rPr lang="ar-AE" smtClean="0">
                        <a:solidFill>
                          <a:srgbClr val="660874"/>
                        </a:solidFill>
                        <a:latin typeface="Cambria Math" panose="02040503050406030204" pitchFamily="18" charset="0"/>
                      </a:rPr>
                      <m:t>∥</m:t>
                    </m:r>
                    <m:sSubSup>
                      <m:sSubSupPr>
                        <m:ctrlPr>
                          <a:rPr lang="ar-AE" i="1">
                            <a:solidFill>
                              <a:srgbClr val="660874"/>
                            </a:solidFill>
                            <a:latin typeface="Cambria Math" panose="02040503050406030204" pitchFamily="18" charset="0"/>
                          </a:rPr>
                        </m:ctrlPr>
                      </m:sSubSupPr>
                      <m:e>
                        <m:r>
                          <a:rPr lang="ar-AE">
                            <a:solidFill>
                              <a:srgbClr val="660874"/>
                            </a:solidFill>
                            <a:latin typeface="Cambria Math" panose="02040503050406030204" pitchFamily="18" charset="0"/>
                          </a:rPr>
                          <m:t>𝐽</m:t>
                        </m:r>
                      </m:e>
                      <m:sub>
                        <m:r>
                          <a:rPr lang="ar-AE">
                            <a:solidFill>
                              <a:srgbClr val="660874"/>
                            </a:solidFill>
                            <a:latin typeface="Cambria Math" panose="02040503050406030204" pitchFamily="18" charset="0"/>
                          </a:rPr>
                          <m:t>𝜖</m:t>
                        </m:r>
                      </m:sub>
                      <m:sup>
                        <m:r>
                          <a:rPr lang="ar-AE">
                            <a:solidFill>
                              <a:srgbClr val="660874"/>
                            </a:solidFill>
                            <a:latin typeface="Cambria Math" panose="02040503050406030204" pitchFamily="18" charset="0"/>
                          </a:rPr>
                          <m:t>𝑇</m:t>
                        </m:r>
                      </m:sup>
                    </m:sSubSup>
                    <m:r>
                      <m:rPr>
                        <m:sty m:val="p"/>
                      </m:rPr>
                      <a:rPr lang="el-GR">
                        <a:solidFill>
                          <a:srgbClr val="660874"/>
                        </a:solidFill>
                        <a:latin typeface="Cambria Math" panose="02040503050406030204" pitchFamily="18" charset="0"/>
                      </a:rPr>
                      <m:t>Δ</m:t>
                    </m:r>
                    <m:acc>
                      <m:accPr>
                        <m:chr m:val="̂"/>
                        <m:ctrlPr>
                          <a:rPr lang="el-GR" i="1" smtClean="0">
                            <a:solidFill>
                              <a:srgbClr val="660874"/>
                            </a:solidFill>
                            <a:latin typeface="Cambria Math" panose="02040503050406030204" pitchFamily="18" charset="0"/>
                          </a:rPr>
                        </m:ctrlPr>
                      </m:accPr>
                      <m:e>
                        <m:sSub>
                          <m:sSubPr>
                            <m:ctrlPr>
                              <a:rPr lang="ar-AE" i="1" smtClean="0">
                                <a:solidFill>
                                  <a:srgbClr val="660874"/>
                                </a:solidFill>
                                <a:latin typeface="Cambria Math" panose="02040503050406030204" pitchFamily="18" charset="0"/>
                              </a:rPr>
                            </m:ctrlPr>
                          </m:sSubPr>
                          <m:e>
                            <m:r>
                              <a:rPr lang="ar-AE">
                                <a:solidFill>
                                  <a:srgbClr val="660874"/>
                                </a:solidFill>
                                <a:latin typeface="Cambria Math" panose="02040503050406030204" pitchFamily="18" charset="0"/>
                              </a:rPr>
                              <m:t>𝑥</m:t>
                            </m:r>
                          </m:e>
                          <m:sub>
                            <m:r>
                              <a:rPr lang="ar-AE">
                                <a:solidFill>
                                  <a:srgbClr val="660874"/>
                                </a:solidFill>
                                <a:latin typeface="Cambria Math" panose="02040503050406030204" pitchFamily="18" charset="0"/>
                              </a:rPr>
                              <m:t>0</m:t>
                            </m:r>
                          </m:sub>
                        </m:sSub>
                      </m:e>
                    </m:acc>
                    <m:sSub>
                      <m:sSubPr>
                        <m:ctrlPr>
                          <a:rPr lang="ar-AE" i="1">
                            <a:solidFill>
                              <a:srgbClr val="660874"/>
                            </a:solidFill>
                            <a:latin typeface="Cambria Math" panose="02040503050406030204" pitchFamily="18" charset="0"/>
                          </a:rPr>
                        </m:ctrlPr>
                      </m:sSubPr>
                      <m:e>
                        <m:r>
                          <a:rPr lang="ar-AE">
                            <a:solidFill>
                              <a:srgbClr val="660874"/>
                            </a:solidFill>
                            <a:latin typeface="Cambria Math" panose="02040503050406030204" pitchFamily="18" charset="0"/>
                          </a:rPr>
                          <m:t>∥</m:t>
                        </m:r>
                      </m:e>
                      <m:sub>
                        <m:r>
                          <a:rPr lang="ar-AE">
                            <a:solidFill>
                              <a:srgbClr val="660874"/>
                            </a:solidFill>
                            <a:latin typeface="Cambria Math" panose="02040503050406030204" pitchFamily="18" charset="0"/>
                          </a:rPr>
                          <m:t>2</m:t>
                        </m:r>
                      </m:sub>
                    </m:sSub>
                  </m:oMath>
                </a14:m>
                <a:r>
                  <a:rPr lang="en-US" b="1" dirty="0">
                    <a:solidFill>
                      <a:srgbClr val="660874"/>
                    </a:solidFill>
                  </a:rPr>
                  <a:t>. </a:t>
                </a:r>
                <a:endParaRPr lang="en-US" dirty="0"/>
              </a:p>
              <a:p>
                <a:r>
                  <a:rPr lang="en-US" dirty="0">
                    <a:solidFill>
                      <a:srgbClr val="660874"/>
                    </a:solidFill>
                  </a:rPr>
                  <a:t>- </a:t>
                </a:r>
                <a14:m>
                  <m:oMath xmlns:m="http://schemas.openxmlformats.org/officeDocument/2006/math">
                    <m:r>
                      <m:rPr>
                        <m:sty m:val="p"/>
                      </m:rPr>
                      <a:rPr lang="el-GR">
                        <a:solidFill>
                          <a:srgbClr val="660874"/>
                        </a:solidFill>
                      </a:rPr>
                      <m:t>Δ</m:t>
                    </m:r>
                    <m:acc>
                      <m:accPr>
                        <m:chr m:val="̂"/>
                        <m:ctrlPr>
                          <a:rPr lang="el-GR" i="1" smtClean="0">
                            <a:solidFill>
                              <a:srgbClr val="660874"/>
                            </a:solidFill>
                            <a:latin typeface="Cambria Math" panose="02040503050406030204" pitchFamily="18" charset="0"/>
                          </a:rPr>
                        </m:ctrlPr>
                      </m:accPr>
                      <m:e>
                        <m:sSub>
                          <m:sSubPr>
                            <m:ctrlPr>
                              <a:rPr lang="ar-AE" i="1" smtClean="0">
                                <a:solidFill>
                                  <a:srgbClr val="660874"/>
                                </a:solidFill>
                                <a:latin typeface="Cambria Math" panose="02040503050406030204" pitchFamily="18" charset="0"/>
                              </a:rPr>
                            </m:ctrlPr>
                          </m:sSubPr>
                          <m:e>
                            <m:r>
                              <a:rPr lang="ar-AE">
                                <a:solidFill>
                                  <a:srgbClr val="660874"/>
                                </a:solidFill>
                                <a:latin typeface="Cambria Math" panose="02040503050406030204" pitchFamily="18" charset="0"/>
                              </a:rPr>
                              <m:t>𝑥</m:t>
                            </m:r>
                          </m:e>
                          <m:sub>
                            <m:r>
                              <a:rPr lang="ar-AE">
                                <a:solidFill>
                                  <a:srgbClr val="660874"/>
                                </a:solidFill>
                                <a:latin typeface="Cambria Math" panose="02040503050406030204" pitchFamily="18" charset="0"/>
                              </a:rPr>
                              <m:t>0</m:t>
                            </m:r>
                          </m:sub>
                        </m:sSub>
                      </m:e>
                    </m:acc>
                  </m:oMath>
                </a14:m>
                <a:r>
                  <a:rPr lang="en-US" dirty="0">
                    <a:solidFill>
                      <a:srgbClr val="660874"/>
                    </a:solidFill>
                  </a:rPr>
                  <a:t>can be understood as a random direction in image space. </a:t>
                </a:r>
                <a14:m>
                  <m:oMath xmlns:m="http://schemas.openxmlformats.org/officeDocument/2006/math">
                    <m:sSubSup>
                      <m:sSubSupPr>
                        <m:ctrlPr>
                          <a:rPr lang="ar-AE">
                            <a:solidFill>
                              <a:srgbClr val="660874"/>
                            </a:solidFill>
                          </a:rPr>
                        </m:ctrlPr>
                      </m:sSubSupPr>
                      <m:e>
                        <m:r>
                          <a:rPr lang="ar-AE">
                            <a:solidFill>
                              <a:srgbClr val="660874"/>
                            </a:solidFill>
                          </a:rPr>
                          <m:t>𝐽</m:t>
                        </m:r>
                      </m:e>
                      <m:sub>
                        <m:r>
                          <a:rPr lang="ar-AE">
                            <a:solidFill>
                              <a:srgbClr val="660874"/>
                            </a:solidFill>
                          </a:rPr>
                          <m:t>𝜖</m:t>
                        </m:r>
                      </m:sub>
                      <m:sup>
                        <m:r>
                          <a:rPr lang="ar-AE">
                            <a:solidFill>
                              <a:srgbClr val="660874"/>
                            </a:solidFill>
                          </a:rPr>
                          <m:t>𝑇</m:t>
                        </m:r>
                      </m:sup>
                    </m:sSubSup>
                    <m:r>
                      <m:rPr>
                        <m:sty m:val="p"/>
                      </m:rPr>
                      <a:rPr lang="el-GR">
                        <a:solidFill>
                          <a:srgbClr val="660874"/>
                        </a:solidFill>
                      </a:rPr>
                      <m:t>Δ</m:t>
                    </m:r>
                    <m:acc>
                      <m:accPr>
                        <m:chr m:val="̂"/>
                        <m:ctrlPr>
                          <a:rPr lang="el-GR" i="1" smtClean="0">
                            <a:solidFill>
                              <a:srgbClr val="660874"/>
                            </a:solidFill>
                            <a:latin typeface="Cambria Math" panose="02040503050406030204" pitchFamily="18" charset="0"/>
                          </a:rPr>
                        </m:ctrlPr>
                      </m:accPr>
                      <m:e>
                        <m:sSub>
                          <m:sSubPr>
                            <m:ctrlPr>
                              <a:rPr lang="ar-AE" i="1" smtClean="0">
                                <a:solidFill>
                                  <a:srgbClr val="660874"/>
                                </a:solidFill>
                                <a:latin typeface="Cambria Math" panose="02040503050406030204" pitchFamily="18" charset="0"/>
                              </a:rPr>
                            </m:ctrlPr>
                          </m:sSubPr>
                          <m:e>
                            <m:r>
                              <a:rPr lang="ar-AE">
                                <a:solidFill>
                                  <a:srgbClr val="660874"/>
                                </a:solidFill>
                                <a:latin typeface="Cambria Math" panose="02040503050406030204" pitchFamily="18" charset="0"/>
                              </a:rPr>
                              <m:t>𝑥</m:t>
                            </m:r>
                          </m:e>
                          <m:sub>
                            <m:r>
                              <a:rPr lang="ar-AE">
                                <a:solidFill>
                                  <a:srgbClr val="660874"/>
                                </a:solidFill>
                                <a:latin typeface="Cambria Math" panose="02040503050406030204" pitchFamily="18" charset="0"/>
                              </a:rPr>
                              <m:t>0</m:t>
                            </m:r>
                          </m:sub>
                        </m:sSub>
                      </m:e>
                    </m:acc>
                  </m:oMath>
                </a14:m>
                <a:r>
                  <a:rPr lang="en-US" dirty="0">
                    <a:solidFill>
                      <a:srgbClr val="660874"/>
                    </a:solidFill>
                  </a:rPr>
                  <a:t> gives the effect in noise space of moving along that image direction. So </a:t>
                </a:r>
                <a14:m>
                  <m:oMath xmlns:m="http://schemas.openxmlformats.org/officeDocument/2006/math">
                    <m:r>
                      <a:rPr lang="en-US">
                        <a:solidFill>
                          <a:srgbClr val="660874"/>
                        </a:solidFill>
                      </a:rPr>
                      <m:t>∥</m:t>
                    </m:r>
                    <m:sSubSup>
                      <m:sSubSupPr>
                        <m:ctrlPr>
                          <a:rPr lang="ar-AE">
                            <a:solidFill>
                              <a:srgbClr val="660874"/>
                            </a:solidFill>
                          </a:rPr>
                        </m:ctrlPr>
                      </m:sSubSupPr>
                      <m:e>
                        <m:r>
                          <a:rPr lang="ar-AE">
                            <a:solidFill>
                              <a:srgbClr val="660874"/>
                            </a:solidFill>
                          </a:rPr>
                          <m:t>𝐽</m:t>
                        </m:r>
                      </m:e>
                      <m:sub>
                        <m:r>
                          <a:rPr lang="ar-AE">
                            <a:solidFill>
                              <a:srgbClr val="660874"/>
                            </a:solidFill>
                          </a:rPr>
                          <m:t>𝜖</m:t>
                        </m:r>
                      </m:sub>
                      <m:sup>
                        <m:r>
                          <a:rPr lang="ar-AE">
                            <a:solidFill>
                              <a:srgbClr val="660874"/>
                            </a:solidFill>
                          </a:rPr>
                          <m:t>𝑇</m:t>
                        </m:r>
                      </m:sup>
                    </m:sSubSup>
                    <m:r>
                      <m:rPr>
                        <m:sty m:val="p"/>
                      </m:rPr>
                      <a:rPr lang="el-GR">
                        <a:solidFill>
                          <a:srgbClr val="660874"/>
                        </a:solidFill>
                      </a:rPr>
                      <m:t>Δ</m:t>
                    </m:r>
                    <m:sSub>
                      <m:sSubPr>
                        <m:ctrlPr>
                          <a:rPr lang="ar-AE">
                            <a:solidFill>
                              <a:srgbClr val="660874"/>
                            </a:solidFill>
                          </a:rPr>
                        </m:ctrlPr>
                      </m:sSubPr>
                      <m:e>
                        <m:r>
                          <a:rPr lang="ar-AE">
                            <a:solidFill>
                              <a:srgbClr val="660874"/>
                            </a:solidFill>
                          </a:rPr>
                          <m:t>𝑥</m:t>
                        </m:r>
                      </m:e>
                      <m:sub>
                        <m:r>
                          <a:rPr lang="ar-AE">
                            <a:solidFill>
                              <a:srgbClr val="660874"/>
                            </a:solidFill>
                          </a:rPr>
                          <m:t>0</m:t>
                        </m:r>
                      </m:sub>
                    </m:sSub>
                    <m:sSub>
                      <m:sSubPr>
                        <m:ctrlPr>
                          <a:rPr lang="ar-AE">
                            <a:solidFill>
                              <a:srgbClr val="660874"/>
                            </a:solidFill>
                          </a:rPr>
                        </m:ctrlPr>
                      </m:sSubPr>
                      <m:e>
                        <m:r>
                          <a:rPr lang="ar-AE">
                            <a:solidFill>
                              <a:srgbClr val="660874"/>
                            </a:solidFill>
                          </a:rPr>
                          <m:t>∥</m:t>
                        </m:r>
                      </m:e>
                      <m:sub>
                        <m:r>
                          <a:rPr lang="ar-AE">
                            <a:solidFill>
                              <a:srgbClr val="660874"/>
                            </a:solidFill>
                          </a:rPr>
                          <m:t>2</m:t>
                        </m:r>
                      </m:sub>
                    </m:sSub>
                  </m:oMath>
                </a14:m>
                <a:r>
                  <a:rPr lang="en-US" dirty="0">
                    <a:solidFill>
                      <a:srgbClr val="660874"/>
                    </a:solidFill>
                  </a:rPr>
                  <a:t>measures how large the change in </a:t>
                </a:r>
                <a14:m>
                  <m:oMath xmlns:m="http://schemas.openxmlformats.org/officeDocument/2006/math">
                    <m:r>
                      <a:rPr lang="ar-AE" smtClean="0">
                        <a:solidFill>
                          <a:srgbClr val="660874"/>
                        </a:solidFill>
                        <a:latin typeface="Cambria Math" panose="02040503050406030204" pitchFamily="18" charset="0"/>
                      </a:rPr>
                      <m:t>𝜖</m:t>
                    </m:r>
                  </m:oMath>
                </a14:m>
                <a:r>
                  <a:rPr lang="el-GR" dirty="0">
                    <a:solidFill>
                      <a:srgbClr val="660874"/>
                    </a:solidFill>
                  </a:rPr>
                  <a:t> </a:t>
                </a:r>
                <a:r>
                  <a:rPr lang="en-US" dirty="0">
                    <a:solidFill>
                      <a:srgbClr val="660874"/>
                    </a:solidFill>
                  </a:rPr>
                  <a:t>space is, for a unit change in a random direction of </a:t>
                </a:r>
                <a14:m>
                  <m:oMath xmlns:m="http://schemas.openxmlformats.org/officeDocument/2006/math">
                    <m:acc>
                      <m:accPr>
                        <m:chr m:val="̂"/>
                        <m:ctrlPr>
                          <a:rPr lang="el-GR" i="1" smtClean="0">
                            <a:solidFill>
                              <a:srgbClr val="660874"/>
                            </a:solidFill>
                            <a:latin typeface="Cambria Math" panose="02040503050406030204" pitchFamily="18" charset="0"/>
                          </a:rPr>
                        </m:ctrlPr>
                      </m:accPr>
                      <m:e>
                        <m:sSub>
                          <m:sSubPr>
                            <m:ctrlPr>
                              <a:rPr lang="ar-AE" i="1" smtClean="0">
                                <a:solidFill>
                                  <a:srgbClr val="660874"/>
                                </a:solidFill>
                                <a:latin typeface="Cambria Math" panose="02040503050406030204" pitchFamily="18" charset="0"/>
                              </a:rPr>
                            </m:ctrlPr>
                          </m:sSubPr>
                          <m:e>
                            <m:r>
                              <a:rPr lang="ar-AE">
                                <a:solidFill>
                                  <a:srgbClr val="660874"/>
                                </a:solidFill>
                                <a:latin typeface="Cambria Math" panose="02040503050406030204" pitchFamily="18" charset="0"/>
                              </a:rPr>
                              <m:t>𝑥</m:t>
                            </m:r>
                          </m:e>
                          <m:sub>
                            <m:r>
                              <a:rPr lang="ar-AE">
                                <a:solidFill>
                                  <a:srgbClr val="660874"/>
                                </a:solidFill>
                                <a:latin typeface="Cambria Math" panose="02040503050406030204" pitchFamily="18" charset="0"/>
                              </a:rPr>
                              <m:t>0</m:t>
                            </m:r>
                          </m:sub>
                        </m:sSub>
                      </m:e>
                    </m:acc>
                  </m:oMath>
                </a14:m>
                <a:r>
                  <a:rPr lang="en-US" dirty="0">
                    <a:solidFill>
                      <a:srgbClr val="660874"/>
                    </a:solidFill>
                  </a:rPr>
                  <a:t> space.</a:t>
                </a:r>
                <a:endParaRPr lang="en-US" b="1" dirty="0">
                  <a:solidFill>
                    <a:srgbClr val="660874"/>
                  </a:solidFill>
                </a:endParaRPr>
              </a:p>
              <a:p>
                <a:pPr marL="285750" indent="-285750">
                  <a:lnSpc>
                    <a:spcPct val="200000"/>
                  </a:lnSpc>
                  <a:buFontTx/>
                  <a:buChar char="-"/>
                </a:pPr>
                <a14:m>
                  <m:oMath xmlns:m="http://schemas.openxmlformats.org/officeDocument/2006/math">
                    <m:rad>
                      <m:radPr>
                        <m:degHide m:val="on"/>
                        <m:ctrlPr>
                          <a:rPr lang="ar-AE" i="1" smtClean="0">
                            <a:solidFill>
                              <a:srgbClr val="660874"/>
                            </a:solidFill>
                            <a:latin typeface="Cambria Math" panose="02040503050406030204" pitchFamily="18" charset="0"/>
                          </a:rPr>
                        </m:ctrlPr>
                      </m:radPr>
                      <m:deg/>
                      <m:e>
                        <m:r>
                          <a:rPr lang="ar-AE" i="1">
                            <a:solidFill>
                              <a:srgbClr val="660874"/>
                            </a:solidFill>
                            <a:latin typeface="Cambria Math" panose="02040503050406030204" pitchFamily="18" charset="0"/>
                          </a:rPr>
                          <m:t>1</m:t>
                        </m:r>
                        <m:r>
                          <a:rPr lang="ar-AE" i="1">
                            <a:solidFill>
                              <a:srgbClr val="660874"/>
                            </a:solidFill>
                            <a:latin typeface="Cambria Math" panose="02040503050406030204" pitchFamily="18" charset="0"/>
                          </a:rPr>
                          <m:t>−</m:t>
                        </m:r>
                        <m:acc>
                          <m:accPr>
                            <m:chr m:val="̅"/>
                            <m:ctrlPr>
                              <a:rPr lang="ar-AE" i="1">
                                <a:solidFill>
                                  <a:srgbClr val="660874"/>
                                </a:solidFill>
                                <a:latin typeface="Cambria Math" panose="02040503050406030204" pitchFamily="18" charset="0"/>
                              </a:rPr>
                            </m:ctrlPr>
                          </m:accPr>
                          <m:e>
                            <m:sSub>
                              <m:sSubPr>
                                <m:ctrlPr>
                                  <a:rPr lang="ar-AE" i="1">
                                    <a:solidFill>
                                      <a:srgbClr val="660874"/>
                                    </a:solidFill>
                                    <a:latin typeface="Cambria Math" panose="02040503050406030204" pitchFamily="18" charset="0"/>
                                  </a:rPr>
                                </m:ctrlPr>
                              </m:sSubPr>
                              <m:e>
                                <m:r>
                                  <a:rPr lang="ar-AE" i="1">
                                    <a:solidFill>
                                      <a:srgbClr val="660874"/>
                                    </a:solidFill>
                                    <a:latin typeface="Cambria Math" panose="02040503050406030204" pitchFamily="18" charset="0"/>
                                  </a:rPr>
                                  <m:t>𝛼</m:t>
                                </m:r>
                              </m:e>
                              <m:sub>
                                <m:r>
                                  <a:rPr lang="ar-AE" i="1">
                                    <a:solidFill>
                                      <a:srgbClr val="660874"/>
                                    </a:solidFill>
                                    <a:latin typeface="Cambria Math" panose="02040503050406030204" pitchFamily="18" charset="0"/>
                                  </a:rPr>
                                  <m:t>𝑡</m:t>
                                </m:r>
                              </m:sub>
                            </m:sSub>
                          </m:e>
                        </m:acc>
                      </m:e>
                    </m:rad>
                    <m:r>
                      <m:rPr>
                        <m:nor/>
                      </m:rPr>
                      <a:rPr lang="ar-AE" i="1">
                        <a:solidFill>
                          <a:srgbClr val="660874"/>
                        </a:solidFill>
                      </a:rPr>
                      <m:t> </m:t>
                    </m:r>
                    <m:r>
                      <a:rPr lang="ar-AE" i="1">
                        <a:solidFill>
                          <a:srgbClr val="660874"/>
                        </a:solidFill>
                        <a:latin typeface="Cambria Math" panose="02040503050406030204" pitchFamily="18" charset="0"/>
                      </a:rPr>
                      <m:t>∥</m:t>
                    </m:r>
                    <m:sSubSup>
                      <m:sSubSupPr>
                        <m:ctrlPr>
                          <a:rPr lang="ar-AE" i="1">
                            <a:solidFill>
                              <a:srgbClr val="660874"/>
                            </a:solidFill>
                            <a:latin typeface="Cambria Math" panose="02040503050406030204" pitchFamily="18" charset="0"/>
                          </a:rPr>
                        </m:ctrlPr>
                      </m:sSubSupPr>
                      <m:e>
                        <m:r>
                          <a:rPr lang="ar-AE" i="1">
                            <a:solidFill>
                              <a:srgbClr val="660874"/>
                            </a:solidFill>
                            <a:latin typeface="Cambria Math" panose="02040503050406030204" pitchFamily="18" charset="0"/>
                          </a:rPr>
                          <m:t>𝐽</m:t>
                        </m:r>
                      </m:e>
                      <m:sub>
                        <m:r>
                          <a:rPr lang="ar-AE" i="1">
                            <a:solidFill>
                              <a:srgbClr val="660874"/>
                            </a:solidFill>
                            <a:latin typeface="Cambria Math" panose="02040503050406030204" pitchFamily="18" charset="0"/>
                          </a:rPr>
                          <m:t>𝜖</m:t>
                        </m:r>
                      </m:sub>
                      <m:sup>
                        <m:r>
                          <a:rPr lang="ar-AE" i="1">
                            <a:solidFill>
                              <a:srgbClr val="660874"/>
                            </a:solidFill>
                            <a:latin typeface="Cambria Math" panose="02040503050406030204" pitchFamily="18" charset="0"/>
                          </a:rPr>
                          <m:t>𝑇</m:t>
                        </m:r>
                      </m:sup>
                    </m:sSubSup>
                    <m:r>
                      <m:rPr>
                        <m:sty m:val="p"/>
                      </m:rPr>
                      <a:rPr lang="el-GR" i="1">
                        <a:solidFill>
                          <a:srgbClr val="660874"/>
                        </a:solidFill>
                        <a:latin typeface="Cambria Math" panose="02040503050406030204" pitchFamily="18" charset="0"/>
                      </a:rPr>
                      <m:t>Δ</m:t>
                    </m:r>
                    <m:acc>
                      <m:accPr>
                        <m:chr m:val="̂"/>
                        <m:ctrlPr>
                          <a:rPr lang="el-GR" i="1">
                            <a:solidFill>
                              <a:srgbClr val="660874"/>
                            </a:solidFill>
                            <a:latin typeface="Cambria Math" panose="02040503050406030204" pitchFamily="18" charset="0"/>
                          </a:rPr>
                        </m:ctrlPr>
                      </m:accPr>
                      <m:e>
                        <m:sSub>
                          <m:sSubPr>
                            <m:ctrlPr>
                              <a:rPr lang="ar-AE" i="1">
                                <a:solidFill>
                                  <a:srgbClr val="660874"/>
                                </a:solidFill>
                                <a:latin typeface="Cambria Math" panose="02040503050406030204" pitchFamily="18" charset="0"/>
                              </a:rPr>
                            </m:ctrlPr>
                          </m:sSubPr>
                          <m:e>
                            <m:r>
                              <a:rPr lang="ar-AE" i="1">
                                <a:solidFill>
                                  <a:srgbClr val="660874"/>
                                </a:solidFill>
                                <a:latin typeface="Cambria Math" panose="02040503050406030204" pitchFamily="18" charset="0"/>
                              </a:rPr>
                              <m:t>𝑥</m:t>
                            </m:r>
                          </m:e>
                          <m:sub>
                            <m:r>
                              <a:rPr lang="ar-AE" i="1">
                                <a:solidFill>
                                  <a:srgbClr val="660874"/>
                                </a:solidFill>
                                <a:latin typeface="Cambria Math" panose="02040503050406030204" pitchFamily="18" charset="0"/>
                              </a:rPr>
                              <m:t>0</m:t>
                            </m:r>
                          </m:sub>
                        </m:sSub>
                      </m:e>
                    </m:acc>
                    <m:sSub>
                      <m:sSubPr>
                        <m:ctrlPr>
                          <a:rPr lang="ar-AE" i="1">
                            <a:solidFill>
                              <a:srgbClr val="660874"/>
                            </a:solidFill>
                            <a:latin typeface="Cambria Math" panose="02040503050406030204" pitchFamily="18" charset="0"/>
                          </a:rPr>
                        </m:ctrlPr>
                      </m:sSubPr>
                      <m:e>
                        <m:r>
                          <a:rPr lang="ar-AE" i="1">
                            <a:solidFill>
                              <a:srgbClr val="660874"/>
                            </a:solidFill>
                            <a:latin typeface="Cambria Math" panose="02040503050406030204" pitchFamily="18" charset="0"/>
                          </a:rPr>
                          <m:t>∥</m:t>
                        </m:r>
                      </m:e>
                      <m:sub>
                        <m:r>
                          <a:rPr lang="ar-AE" i="1">
                            <a:solidFill>
                              <a:srgbClr val="660874"/>
                            </a:solidFill>
                            <a:latin typeface="Cambria Math" panose="02040503050406030204" pitchFamily="18" charset="0"/>
                          </a:rPr>
                          <m:t>2</m:t>
                        </m:r>
                      </m:sub>
                    </m:sSub>
                    <m:r>
                      <a:rPr lang="en-US" b="0" i="1" smtClean="0">
                        <a:solidFill>
                          <a:srgbClr val="660874"/>
                        </a:solidFill>
                        <a:latin typeface="Cambria Math" panose="02040503050406030204" pitchFamily="18" charset="0"/>
                      </a:rPr>
                      <m:t>=</m:t>
                    </m:r>
                    <m:r>
                      <a:rPr lang="ar-AE" i="1" smtClean="0">
                        <a:solidFill>
                          <a:srgbClr val="660874"/>
                        </a:solidFill>
                        <a:latin typeface="Cambria Math" panose="02040503050406030204" pitchFamily="18" charset="0"/>
                      </a:rPr>
                      <m:t>∥</m:t>
                    </m:r>
                    <m:sSub>
                      <m:sSubPr>
                        <m:ctrlPr>
                          <a:rPr lang="ar-AE" i="1">
                            <a:solidFill>
                              <a:srgbClr val="660874"/>
                            </a:solidFill>
                            <a:latin typeface="Cambria Math" panose="02040503050406030204" pitchFamily="18" charset="0"/>
                          </a:rPr>
                        </m:ctrlPr>
                      </m:sSubPr>
                      <m:e>
                        <m:r>
                          <m:rPr>
                            <m:sty m:val="p"/>
                          </m:rPr>
                          <a:rPr lang="ar-AE" i="1">
                            <a:solidFill>
                              <a:srgbClr val="660874"/>
                            </a:solidFill>
                            <a:latin typeface="Cambria Math" panose="02040503050406030204" pitchFamily="18" charset="0"/>
                          </a:rPr>
                          <m:t>∇</m:t>
                        </m:r>
                      </m:e>
                      <m:sub>
                        <m:r>
                          <a:rPr lang="ar-AE" i="1">
                            <a:solidFill>
                              <a:srgbClr val="660874"/>
                            </a:solidFill>
                            <a:latin typeface="Cambria Math" panose="02040503050406030204" pitchFamily="18" charset="0"/>
                          </a:rPr>
                          <m:t>𝜖</m:t>
                        </m:r>
                      </m:sub>
                    </m:sSub>
                    <m:d>
                      <m:dPr>
                        <m:ctrlPr>
                          <a:rPr lang="ar-AE" i="1">
                            <a:solidFill>
                              <a:srgbClr val="660874"/>
                            </a:solidFill>
                            <a:latin typeface="Cambria Math" panose="02040503050406030204" pitchFamily="18" charset="0"/>
                          </a:rPr>
                        </m:ctrlPr>
                      </m:dPr>
                      <m:e>
                        <m:rad>
                          <m:radPr>
                            <m:degHide m:val="on"/>
                            <m:ctrlPr>
                              <a:rPr lang="ar-AE" i="1">
                                <a:solidFill>
                                  <a:srgbClr val="660874"/>
                                </a:solidFill>
                                <a:latin typeface="Cambria Math" panose="02040503050406030204" pitchFamily="18" charset="0"/>
                              </a:rPr>
                            </m:ctrlPr>
                          </m:radPr>
                          <m:deg/>
                          <m:e>
                            <m:r>
                              <a:rPr lang="ar-AE" i="1">
                                <a:solidFill>
                                  <a:srgbClr val="660874"/>
                                </a:solidFill>
                                <a:latin typeface="Cambria Math" panose="02040503050406030204" pitchFamily="18" charset="0"/>
                              </a:rPr>
                              <m:t>1</m:t>
                            </m:r>
                            <m:r>
                              <a:rPr lang="ar-AE" i="1">
                                <a:solidFill>
                                  <a:srgbClr val="660874"/>
                                </a:solidFill>
                                <a:latin typeface="Cambria Math" panose="02040503050406030204" pitchFamily="18" charset="0"/>
                              </a:rPr>
                              <m:t>−</m:t>
                            </m:r>
                            <m:acc>
                              <m:accPr>
                                <m:chr m:val="̅"/>
                                <m:ctrlPr>
                                  <a:rPr lang="ar-AE" i="1">
                                    <a:solidFill>
                                      <a:srgbClr val="660874"/>
                                    </a:solidFill>
                                    <a:latin typeface="Cambria Math" panose="02040503050406030204" pitchFamily="18" charset="0"/>
                                  </a:rPr>
                                </m:ctrlPr>
                              </m:accPr>
                              <m:e>
                                <m:sSub>
                                  <m:sSubPr>
                                    <m:ctrlPr>
                                      <a:rPr lang="ar-AE" i="1">
                                        <a:solidFill>
                                          <a:srgbClr val="660874"/>
                                        </a:solidFill>
                                        <a:latin typeface="Cambria Math" panose="02040503050406030204" pitchFamily="18" charset="0"/>
                                      </a:rPr>
                                    </m:ctrlPr>
                                  </m:sSubPr>
                                  <m:e>
                                    <m:r>
                                      <a:rPr lang="ar-AE" i="1">
                                        <a:solidFill>
                                          <a:srgbClr val="660874"/>
                                        </a:solidFill>
                                        <a:latin typeface="Cambria Math" panose="02040503050406030204" pitchFamily="18" charset="0"/>
                                      </a:rPr>
                                      <m:t>𝛼</m:t>
                                    </m:r>
                                  </m:e>
                                  <m:sub>
                                    <m:r>
                                      <a:rPr lang="ar-AE" i="1">
                                        <a:solidFill>
                                          <a:srgbClr val="660874"/>
                                        </a:solidFill>
                                        <a:latin typeface="Cambria Math" panose="02040503050406030204" pitchFamily="18" charset="0"/>
                                      </a:rPr>
                                      <m:t>𝑡</m:t>
                                    </m:r>
                                  </m:sub>
                                </m:sSub>
                              </m:e>
                            </m:acc>
                          </m:e>
                        </m:rad>
                        <m:r>
                          <m:rPr>
                            <m:nor/>
                          </m:rPr>
                          <a:rPr lang="ar-AE" i="1">
                            <a:solidFill>
                              <a:srgbClr val="660874"/>
                            </a:solidFill>
                          </a:rPr>
                          <m:t> </m:t>
                        </m:r>
                        <m:acc>
                          <m:accPr>
                            <m:chr m:val="̂"/>
                            <m:ctrlPr>
                              <a:rPr lang="el-GR" i="1">
                                <a:solidFill>
                                  <a:srgbClr val="660874"/>
                                </a:solidFill>
                                <a:latin typeface="Cambria Math" panose="02040503050406030204" pitchFamily="18" charset="0"/>
                              </a:rPr>
                            </m:ctrlPr>
                          </m:accPr>
                          <m:e>
                            <m:sSub>
                              <m:sSubPr>
                                <m:ctrlPr>
                                  <a:rPr lang="ar-AE" i="1">
                                    <a:solidFill>
                                      <a:srgbClr val="660874"/>
                                    </a:solidFill>
                                    <a:latin typeface="Cambria Math" panose="02040503050406030204" pitchFamily="18" charset="0"/>
                                  </a:rPr>
                                </m:ctrlPr>
                              </m:sSubPr>
                              <m:e>
                                <m:r>
                                  <a:rPr lang="ar-AE" i="1">
                                    <a:solidFill>
                                      <a:srgbClr val="660874"/>
                                    </a:solidFill>
                                    <a:latin typeface="Cambria Math" panose="02040503050406030204" pitchFamily="18" charset="0"/>
                                  </a:rPr>
                                  <m:t>𝑥</m:t>
                                </m:r>
                              </m:e>
                              <m:sub>
                                <m:r>
                                  <a:rPr lang="ar-AE" i="1">
                                    <a:solidFill>
                                      <a:srgbClr val="660874"/>
                                    </a:solidFill>
                                    <a:latin typeface="Cambria Math" panose="02040503050406030204" pitchFamily="18" charset="0"/>
                                  </a:rPr>
                                  <m:t>0</m:t>
                                </m:r>
                              </m:sub>
                            </m:sSub>
                          </m:e>
                        </m:acc>
                        <m:r>
                          <a:rPr lang="ar-AE" i="1">
                            <a:solidFill>
                              <a:srgbClr val="660874"/>
                            </a:solidFill>
                            <a:latin typeface="Cambria Math" panose="02040503050406030204" pitchFamily="18" charset="0"/>
                          </a:rPr>
                          <m:t>⋅</m:t>
                        </m:r>
                        <m:r>
                          <m:rPr>
                            <m:sty m:val="p"/>
                          </m:rPr>
                          <a:rPr lang="el-GR" i="1">
                            <a:solidFill>
                              <a:srgbClr val="660874"/>
                            </a:solidFill>
                            <a:latin typeface="Cambria Math" panose="02040503050406030204" pitchFamily="18" charset="0"/>
                          </a:rPr>
                          <m:t>Δ</m:t>
                        </m:r>
                        <m:acc>
                          <m:accPr>
                            <m:chr m:val="̂"/>
                            <m:ctrlPr>
                              <a:rPr lang="el-GR" i="1">
                                <a:solidFill>
                                  <a:srgbClr val="660874"/>
                                </a:solidFill>
                                <a:latin typeface="Cambria Math" panose="02040503050406030204" pitchFamily="18" charset="0"/>
                              </a:rPr>
                            </m:ctrlPr>
                          </m:accPr>
                          <m:e>
                            <m:sSub>
                              <m:sSubPr>
                                <m:ctrlPr>
                                  <a:rPr lang="ar-AE" i="1">
                                    <a:solidFill>
                                      <a:srgbClr val="660874"/>
                                    </a:solidFill>
                                    <a:latin typeface="Cambria Math" panose="02040503050406030204" pitchFamily="18" charset="0"/>
                                  </a:rPr>
                                </m:ctrlPr>
                              </m:sSubPr>
                              <m:e>
                                <m:r>
                                  <a:rPr lang="ar-AE" i="1">
                                    <a:solidFill>
                                      <a:srgbClr val="660874"/>
                                    </a:solidFill>
                                    <a:latin typeface="Cambria Math" panose="02040503050406030204" pitchFamily="18" charset="0"/>
                                  </a:rPr>
                                  <m:t>𝑥</m:t>
                                </m:r>
                              </m:e>
                              <m:sub>
                                <m:r>
                                  <a:rPr lang="ar-AE" i="1">
                                    <a:solidFill>
                                      <a:srgbClr val="660874"/>
                                    </a:solidFill>
                                    <a:latin typeface="Cambria Math" panose="02040503050406030204" pitchFamily="18" charset="0"/>
                                  </a:rPr>
                                  <m:t>0</m:t>
                                </m:r>
                              </m:sub>
                            </m:sSub>
                          </m:e>
                        </m:acc>
                      </m:e>
                    </m:d>
                    <m:sSub>
                      <m:sSubPr>
                        <m:ctrlPr>
                          <a:rPr lang="ar-AE" i="1">
                            <a:solidFill>
                              <a:srgbClr val="660874"/>
                            </a:solidFill>
                            <a:latin typeface="Cambria Math" panose="02040503050406030204" pitchFamily="18" charset="0"/>
                          </a:rPr>
                        </m:ctrlPr>
                      </m:sSubPr>
                      <m:e>
                        <m:r>
                          <a:rPr lang="ar-AE" i="1">
                            <a:solidFill>
                              <a:srgbClr val="660874"/>
                            </a:solidFill>
                            <a:latin typeface="Cambria Math" panose="02040503050406030204" pitchFamily="18" charset="0"/>
                          </a:rPr>
                          <m:t>∥</m:t>
                        </m:r>
                      </m:e>
                      <m:sub>
                        <m:r>
                          <a:rPr lang="ar-AE" i="1">
                            <a:solidFill>
                              <a:srgbClr val="660874"/>
                            </a:solidFill>
                            <a:latin typeface="Cambria Math" panose="02040503050406030204" pitchFamily="18" charset="0"/>
                          </a:rPr>
                          <m:t>2</m:t>
                        </m:r>
                      </m:sub>
                    </m:sSub>
                  </m:oMath>
                </a14:m>
                <a:r>
                  <a:rPr lang="en-US" dirty="0">
                    <a:solidFill>
                      <a:srgbClr val="660874"/>
                    </a:solidFill>
                  </a:rPr>
                  <a:t>, why?</a:t>
                </a:r>
              </a:p>
              <a:p>
                <a:r>
                  <a:rPr lang="en-US" dirty="0">
                    <a:solidFill>
                      <a:srgbClr val="660874"/>
                    </a:solidFill>
                  </a:rPr>
                  <a:t>This is because the following equation holds, and by scaling and taking the L2 norm we get the original.</a:t>
                </a:r>
                <a:endParaRPr lang="en-US" dirty="0"/>
              </a:p>
              <a:p>
                <a:pPr algn="ctr"/>
                <a14:m>
                  <m:oMath xmlns:m="http://schemas.openxmlformats.org/officeDocument/2006/math">
                    <m:sSub>
                      <m:sSubPr>
                        <m:ctrlPr>
                          <a:rPr lang="ar-AE">
                            <a:solidFill>
                              <a:srgbClr val="660874"/>
                            </a:solidFill>
                          </a:rPr>
                        </m:ctrlPr>
                      </m:sSubPr>
                      <m:e>
                        <m:r>
                          <m:rPr>
                            <m:sty m:val="p"/>
                          </m:rPr>
                          <a:rPr lang="ar-AE">
                            <a:solidFill>
                              <a:srgbClr val="660874"/>
                            </a:solidFill>
                          </a:rPr>
                          <m:t>∇</m:t>
                        </m:r>
                      </m:e>
                      <m:sub>
                        <m:r>
                          <a:rPr lang="ar-AE">
                            <a:solidFill>
                              <a:srgbClr val="660874"/>
                            </a:solidFill>
                          </a:rPr>
                          <m:t>𝜖</m:t>
                        </m:r>
                      </m:sub>
                    </m:sSub>
                    <m:d>
                      <m:dPr>
                        <m:ctrlPr>
                          <a:rPr lang="ar-AE">
                            <a:solidFill>
                              <a:srgbClr val="660874"/>
                            </a:solidFill>
                          </a:rPr>
                        </m:ctrlPr>
                      </m:dPr>
                      <m:e>
                        <m:acc>
                          <m:accPr>
                            <m:chr m:val="̂"/>
                            <m:ctrlPr>
                              <a:rPr lang="el-GR">
                                <a:solidFill>
                                  <a:srgbClr val="660874"/>
                                </a:solidFill>
                              </a:rPr>
                            </m:ctrlPr>
                          </m:accPr>
                          <m:e>
                            <m:sSub>
                              <m:sSubPr>
                                <m:ctrlPr>
                                  <a:rPr lang="ar-AE">
                                    <a:solidFill>
                                      <a:srgbClr val="660874"/>
                                    </a:solidFill>
                                  </a:rPr>
                                </m:ctrlPr>
                              </m:sSubPr>
                              <m:e>
                                <m:r>
                                  <a:rPr lang="ar-AE">
                                    <a:solidFill>
                                      <a:srgbClr val="660874"/>
                                    </a:solidFill>
                                  </a:rPr>
                                  <m:t>𝑥</m:t>
                                </m:r>
                              </m:e>
                              <m:sub>
                                <m:r>
                                  <a:rPr lang="ar-AE">
                                    <a:solidFill>
                                      <a:srgbClr val="660874"/>
                                    </a:solidFill>
                                  </a:rPr>
                                  <m:t>0</m:t>
                                </m:r>
                              </m:sub>
                            </m:sSub>
                          </m:e>
                        </m:acc>
                        <m:r>
                          <a:rPr lang="ar-AE">
                            <a:solidFill>
                              <a:srgbClr val="660874"/>
                            </a:solidFill>
                          </a:rPr>
                          <m:t>⋅</m:t>
                        </m:r>
                        <m:r>
                          <m:rPr>
                            <m:sty m:val="p"/>
                          </m:rPr>
                          <a:rPr lang="el-GR">
                            <a:solidFill>
                              <a:srgbClr val="660874"/>
                            </a:solidFill>
                          </a:rPr>
                          <m:t>Δ</m:t>
                        </m:r>
                        <m:acc>
                          <m:accPr>
                            <m:chr m:val="̂"/>
                            <m:ctrlPr>
                              <a:rPr lang="el-GR">
                                <a:solidFill>
                                  <a:srgbClr val="660874"/>
                                </a:solidFill>
                              </a:rPr>
                            </m:ctrlPr>
                          </m:accPr>
                          <m:e>
                            <m:sSub>
                              <m:sSubPr>
                                <m:ctrlPr>
                                  <a:rPr lang="ar-AE">
                                    <a:solidFill>
                                      <a:srgbClr val="660874"/>
                                    </a:solidFill>
                                  </a:rPr>
                                </m:ctrlPr>
                              </m:sSubPr>
                              <m:e>
                                <m:r>
                                  <a:rPr lang="ar-AE">
                                    <a:solidFill>
                                      <a:srgbClr val="660874"/>
                                    </a:solidFill>
                                  </a:rPr>
                                  <m:t>𝑥</m:t>
                                </m:r>
                              </m:e>
                              <m:sub>
                                <m:r>
                                  <a:rPr lang="ar-AE">
                                    <a:solidFill>
                                      <a:srgbClr val="660874"/>
                                    </a:solidFill>
                                  </a:rPr>
                                  <m:t>0</m:t>
                                </m:r>
                              </m:sub>
                            </m:sSub>
                          </m:e>
                        </m:acc>
                      </m:e>
                    </m:d>
                    <m:r>
                      <a:rPr lang="ar-AE">
                        <a:solidFill>
                          <a:srgbClr val="660874"/>
                        </a:solidFill>
                      </a:rPr>
                      <m:t>=</m:t>
                    </m:r>
                    <m:sSubSup>
                      <m:sSubSupPr>
                        <m:ctrlPr>
                          <a:rPr lang="ar-AE">
                            <a:solidFill>
                              <a:srgbClr val="660874"/>
                            </a:solidFill>
                          </a:rPr>
                        </m:ctrlPr>
                      </m:sSubSupPr>
                      <m:e>
                        <m:r>
                          <a:rPr lang="ar-AE">
                            <a:solidFill>
                              <a:srgbClr val="660874"/>
                            </a:solidFill>
                          </a:rPr>
                          <m:t>𝐽</m:t>
                        </m:r>
                      </m:e>
                      <m:sub>
                        <m:r>
                          <a:rPr lang="ar-AE">
                            <a:solidFill>
                              <a:srgbClr val="660874"/>
                            </a:solidFill>
                          </a:rPr>
                          <m:t>𝜖</m:t>
                        </m:r>
                      </m:sub>
                      <m:sup>
                        <m:r>
                          <a:rPr lang="ar-AE">
                            <a:solidFill>
                              <a:srgbClr val="660874"/>
                            </a:solidFill>
                          </a:rPr>
                          <m:t>𝑇</m:t>
                        </m:r>
                      </m:sup>
                    </m:sSubSup>
                    <m:r>
                      <m:rPr>
                        <m:sty m:val="p"/>
                      </m:rPr>
                      <a:rPr lang="el-GR">
                        <a:solidFill>
                          <a:srgbClr val="660874"/>
                        </a:solidFill>
                      </a:rPr>
                      <m:t>Δ</m:t>
                    </m:r>
                    <m:acc>
                      <m:accPr>
                        <m:chr m:val="̂"/>
                        <m:ctrlPr>
                          <a:rPr lang="el-GR">
                            <a:solidFill>
                              <a:srgbClr val="660874"/>
                            </a:solidFill>
                          </a:rPr>
                        </m:ctrlPr>
                      </m:accPr>
                      <m:e>
                        <m:sSub>
                          <m:sSubPr>
                            <m:ctrlPr>
                              <a:rPr lang="ar-AE">
                                <a:solidFill>
                                  <a:srgbClr val="660874"/>
                                </a:solidFill>
                              </a:rPr>
                            </m:ctrlPr>
                          </m:sSubPr>
                          <m:e>
                            <m:r>
                              <a:rPr lang="ar-AE">
                                <a:solidFill>
                                  <a:srgbClr val="660874"/>
                                </a:solidFill>
                              </a:rPr>
                              <m:t>𝑥</m:t>
                            </m:r>
                          </m:e>
                          <m:sub>
                            <m:r>
                              <a:rPr lang="ar-AE">
                                <a:solidFill>
                                  <a:srgbClr val="660874"/>
                                </a:solidFill>
                              </a:rPr>
                              <m:t>0</m:t>
                            </m:r>
                          </m:sub>
                        </m:sSub>
                      </m:e>
                    </m:acc>
                  </m:oMath>
                </a14:m>
                <a:r>
                  <a:rPr lang="en-US" dirty="0">
                    <a:solidFill>
                      <a:srgbClr val="660874"/>
                    </a:solidFill>
                  </a:rPr>
                  <a:t>,</a:t>
                </a:r>
              </a:p>
              <a:p>
                <a:endParaRPr lang="ar-AE" dirty="0">
                  <a:solidFill>
                    <a:srgbClr val="660874"/>
                  </a:solidFill>
                </a:endParaRPr>
              </a:p>
              <a:p>
                <a:pPr marL="285750" indent="-285750">
                  <a:buFontTx/>
                  <a:buChar char="-"/>
                </a:pPr>
                <a:r>
                  <a:rPr lang="en-US" dirty="0">
                    <a:solidFill>
                      <a:srgbClr val="660874"/>
                    </a:solidFill>
                  </a:rPr>
                  <a:t>We can show that </a:t>
                </a:r>
                <a14:m>
                  <m:oMath xmlns:m="http://schemas.openxmlformats.org/officeDocument/2006/math">
                    <m:sSub>
                      <m:sSubPr>
                        <m:ctrlPr>
                          <a:rPr lang="ar-AE">
                            <a:solidFill>
                              <a:srgbClr val="660874"/>
                            </a:solidFill>
                          </a:rPr>
                        </m:ctrlPr>
                      </m:sSubPr>
                      <m:e>
                        <m:r>
                          <m:rPr>
                            <m:sty m:val="p"/>
                          </m:rPr>
                          <a:rPr lang="ar-AE">
                            <a:solidFill>
                              <a:srgbClr val="660874"/>
                            </a:solidFill>
                          </a:rPr>
                          <m:t>∇</m:t>
                        </m:r>
                      </m:e>
                      <m:sub>
                        <m:r>
                          <a:rPr lang="ar-AE">
                            <a:solidFill>
                              <a:srgbClr val="660874"/>
                            </a:solidFill>
                          </a:rPr>
                          <m:t>𝜖</m:t>
                        </m:r>
                      </m:sub>
                    </m:sSub>
                    <m:d>
                      <m:dPr>
                        <m:ctrlPr>
                          <a:rPr lang="ar-AE">
                            <a:solidFill>
                              <a:srgbClr val="660874"/>
                            </a:solidFill>
                          </a:rPr>
                        </m:ctrlPr>
                      </m:dPr>
                      <m:e>
                        <m:acc>
                          <m:accPr>
                            <m:chr m:val="̂"/>
                            <m:ctrlPr>
                              <a:rPr lang="el-GR">
                                <a:solidFill>
                                  <a:srgbClr val="660874"/>
                                </a:solidFill>
                              </a:rPr>
                            </m:ctrlPr>
                          </m:accPr>
                          <m:e>
                            <m:sSub>
                              <m:sSubPr>
                                <m:ctrlPr>
                                  <a:rPr lang="ar-AE">
                                    <a:solidFill>
                                      <a:srgbClr val="660874"/>
                                    </a:solidFill>
                                  </a:rPr>
                                </m:ctrlPr>
                              </m:sSubPr>
                              <m:e>
                                <m:r>
                                  <a:rPr lang="ar-AE">
                                    <a:solidFill>
                                      <a:srgbClr val="660874"/>
                                    </a:solidFill>
                                  </a:rPr>
                                  <m:t>𝑥</m:t>
                                </m:r>
                              </m:e>
                              <m:sub>
                                <m:r>
                                  <a:rPr lang="ar-AE">
                                    <a:solidFill>
                                      <a:srgbClr val="660874"/>
                                    </a:solidFill>
                                  </a:rPr>
                                  <m:t>0</m:t>
                                </m:r>
                              </m:sub>
                            </m:sSub>
                          </m:e>
                        </m:acc>
                        <m:r>
                          <a:rPr lang="ar-AE">
                            <a:solidFill>
                              <a:srgbClr val="660874"/>
                            </a:solidFill>
                          </a:rPr>
                          <m:t>⋅</m:t>
                        </m:r>
                        <m:r>
                          <m:rPr>
                            <m:sty m:val="p"/>
                          </m:rPr>
                          <a:rPr lang="el-GR">
                            <a:solidFill>
                              <a:srgbClr val="660874"/>
                            </a:solidFill>
                          </a:rPr>
                          <m:t>Δ</m:t>
                        </m:r>
                        <m:acc>
                          <m:accPr>
                            <m:chr m:val="̂"/>
                            <m:ctrlPr>
                              <a:rPr lang="el-GR">
                                <a:solidFill>
                                  <a:srgbClr val="660874"/>
                                </a:solidFill>
                              </a:rPr>
                            </m:ctrlPr>
                          </m:accPr>
                          <m:e>
                            <m:sSub>
                              <m:sSubPr>
                                <m:ctrlPr>
                                  <a:rPr lang="ar-AE">
                                    <a:solidFill>
                                      <a:srgbClr val="660874"/>
                                    </a:solidFill>
                                  </a:rPr>
                                </m:ctrlPr>
                              </m:sSubPr>
                              <m:e>
                                <m:r>
                                  <a:rPr lang="ar-AE">
                                    <a:solidFill>
                                      <a:srgbClr val="660874"/>
                                    </a:solidFill>
                                  </a:rPr>
                                  <m:t>𝑥</m:t>
                                </m:r>
                              </m:e>
                              <m:sub>
                                <m:r>
                                  <a:rPr lang="ar-AE">
                                    <a:solidFill>
                                      <a:srgbClr val="660874"/>
                                    </a:solidFill>
                                  </a:rPr>
                                  <m:t>0</m:t>
                                </m:r>
                              </m:sub>
                            </m:sSub>
                          </m:e>
                        </m:acc>
                      </m:e>
                    </m:d>
                    <m:r>
                      <a:rPr lang="en-US">
                        <a:solidFill>
                          <a:srgbClr val="660874"/>
                        </a:solidFill>
                      </a:rPr>
                      <m:t>=</m:t>
                    </m:r>
                    <m:sSub>
                      <m:sSubPr>
                        <m:ctrlPr>
                          <a:rPr lang="ar-AE">
                            <a:solidFill>
                              <a:srgbClr val="660874"/>
                            </a:solidFill>
                          </a:rPr>
                        </m:ctrlPr>
                      </m:sSubPr>
                      <m:e>
                        <m:r>
                          <m:rPr>
                            <m:sty m:val="p"/>
                          </m:rPr>
                          <a:rPr lang="ar-AE">
                            <a:solidFill>
                              <a:srgbClr val="660874"/>
                            </a:solidFill>
                          </a:rPr>
                          <m:t>∇</m:t>
                        </m:r>
                      </m:e>
                      <m:sub>
                        <m:r>
                          <a:rPr lang="ar-AE">
                            <a:solidFill>
                              <a:srgbClr val="660874"/>
                            </a:solidFill>
                          </a:rPr>
                          <m:t>𝜖</m:t>
                        </m:r>
                      </m:sub>
                    </m:sSub>
                    <m:r>
                      <a:rPr lang="en-US">
                        <a:solidFill>
                          <a:srgbClr val="660874"/>
                        </a:solidFill>
                      </a:rPr>
                      <m:t>(</m:t>
                    </m:r>
                    <m:nary>
                      <m:naryPr>
                        <m:chr m:val="∑"/>
                        <m:grow m:val="on"/>
                        <m:ctrlPr>
                          <a:rPr lang="ar-AE">
                            <a:solidFill>
                              <a:srgbClr val="660874"/>
                            </a:solidFill>
                          </a:rPr>
                        </m:ctrlPr>
                      </m:naryPr>
                      <m:sub>
                        <m:r>
                          <a:rPr lang="ar-AE">
                            <a:solidFill>
                              <a:srgbClr val="660874"/>
                            </a:solidFill>
                          </a:rPr>
                          <m:t>𝑖</m:t>
                        </m:r>
                        <m:r>
                          <a:rPr lang="ar-AE">
                            <a:solidFill>
                              <a:srgbClr val="660874"/>
                            </a:solidFill>
                          </a:rPr>
                          <m:t>=</m:t>
                        </m:r>
                        <m:r>
                          <a:rPr lang="ar-AE">
                            <a:solidFill>
                              <a:srgbClr val="660874"/>
                            </a:solidFill>
                          </a:rPr>
                          <m:t>1</m:t>
                        </m:r>
                      </m:sub>
                      <m:sup>
                        <m:r>
                          <a:rPr lang="ar-AE">
                            <a:solidFill>
                              <a:srgbClr val="660874"/>
                            </a:solidFill>
                          </a:rPr>
                          <m:t>𝑚</m:t>
                        </m:r>
                      </m:sup>
                      <m:e>
                        <m:sSub>
                          <m:sSubPr>
                            <m:ctrlPr>
                              <a:rPr lang="ar-AE">
                                <a:solidFill>
                                  <a:srgbClr val="660874"/>
                                </a:solidFill>
                              </a:rPr>
                            </m:ctrlPr>
                          </m:sSubPr>
                          <m:e>
                            <m:r>
                              <a:rPr lang="ar-AE">
                                <a:solidFill>
                                  <a:srgbClr val="660874"/>
                                </a:solidFill>
                              </a:rPr>
                              <m:t>𝑓</m:t>
                            </m:r>
                          </m:e>
                          <m:sub>
                            <m:r>
                              <a:rPr lang="ar-AE">
                                <a:solidFill>
                                  <a:srgbClr val="660874"/>
                                </a:solidFill>
                              </a:rPr>
                              <m:t>𝜃</m:t>
                            </m:r>
                            <m:r>
                              <a:rPr lang="ar-AE">
                                <a:solidFill>
                                  <a:srgbClr val="660874"/>
                                </a:solidFill>
                              </a:rPr>
                              <m:t>,</m:t>
                            </m:r>
                            <m:r>
                              <a:rPr lang="ar-AE">
                                <a:solidFill>
                                  <a:srgbClr val="660874"/>
                                </a:solidFill>
                              </a:rPr>
                              <m:t>𝑖</m:t>
                            </m:r>
                          </m:sub>
                        </m:sSub>
                      </m:e>
                    </m:nary>
                    <m:d>
                      <m:dPr>
                        <m:ctrlPr>
                          <a:rPr lang="ar-AE">
                            <a:solidFill>
                              <a:srgbClr val="660874"/>
                            </a:solidFill>
                          </a:rPr>
                        </m:ctrlPr>
                      </m:dPr>
                      <m:e>
                        <m:r>
                          <a:rPr lang="ar-AE">
                            <a:solidFill>
                              <a:srgbClr val="660874"/>
                            </a:solidFill>
                          </a:rPr>
                          <m:t>𝜖</m:t>
                        </m:r>
                      </m:e>
                    </m:d>
                    <m:r>
                      <m:rPr>
                        <m:nor/>
                      </m:rPr>
                      <a:rPr lang="ar-AE">
                        <a:solidFill>
                          <a:srgbClr val="660874"/>
                        </a:solidFill>
                      </a:rPr>
                      <m:t> </m:t>
                    </m:r>
                    <m:r>
                      <a:rPr lang="en-US">
                        <a:solidFill>
                          <a:srgbClr val="660874"/>
                        </a:solidFill>
                      </a:rPr>
                      <m:t>(</m:t>
                    </m:r>
                    <m:r>
                      <m:rPr>
                        <m:sty m:val="p"/>
                      </m:rPr>
                      <a:rPr lang="el-GR">
                        <a:solidFill>
                          <a:srgbClr val="660874"/>
                        </a:solidFill>
                      </a:rPr>
                      <m:t>Δ</m:t>
                    </m:r>
                    <m:acc>
                      <m:accPr>
                        <m:chr m:val="̂"/>
                        <m:ctrlPr>
                          <a:rPr lang="el-GR" i="1" smtClean="0">
                            <a:solidFill>
                              <a:srgbClr val="660874"/>
                            </a:solidFill>
                            <a:latin typeface="Cambria Math" panose="02040503050406030204" pitchFamily="18" charset="0"/>
                          </a:rPr>
                        </m:ctrlPr>
                      </m:accPr>
                      <m:e>
                        <m:sSub>
                          <m:sSubPr>
                            <m:ctrlPr>
                              <a:rPr lang="ar-AE" i="1">
                                <a:solidFill>
                                  <a:srgbClr val="660874"/>
                                </a:solidFill>
                                <a:latin typeface="Cambria Math" panose="02040503050406030204" pitchFamily="18" charset="0"/>
                              </a:rPr>
                            </m:ctrlPr>
                          </m:sSubPr>
                          <m:e>
                            <m:r>
                              <a:rPr lang="ar-AE">
                                <a:solidFill>
                                  <a:srgbClr val="660874"/>
                                </a:solidFill>
                                <a:latin typeface="Cambria Math" panose="02040503050406030204" pitchFamily="18" charset="0"/>
                              </a:rPr>
                              <m:t>𝑥</m:t>
                            </m:r>
                          </m:e>
                          <m:sub>
                            <m:r>
                              <a:rPr lang="ar-AE">
                                <a:solidFill>
                                  <a:srgbClr val="660874"/>
                                </a:solidFill>
                                <a:latin typeface="Cambria Math" panose="02040503050406030204" pitchFamily="18" charset="0"/>
                              </a:rPr>
                              <m:t>0</m:t>
                            </m:r>
                          </m:sub>
                        </m:sSub>
                      </m:e>
                    </m:acc>
                    <m:sSub>
                      <m:sSubPr>
                        <m:ctrlPr>
                          <a:rPr lang="ar-AE">
                            <a:solidFill>
                              <a:srgbClr val="660874"/>
                            </a:solidFill>
                          </a:rPr>
                        </m:ctrlPr>
                      </m:sSubPr>
                      <m:e>
                        <m:d>
                          <m:dPr>
                            <m:begChr m:val=""/>
                            <m:endChr m:val=""/>
                            <m:ctrlPr>
                              <a:rPr lang="ar-AE">
                                <a:solidFill>
                                  <a:srgbClr val="660874"/>
                                </a:solidFill>
                              </a:rPr>
                            </m:ctrlPr>
                          </m:dPr>
                          <m:e>
                            <m:r>
                              <a:rPr lang="ar-AE">
                                <a:solidFill>
                                  <a:srgbClr val="660874"/>
                                </a:solidFill>
                              </a:rPr>
                              <m:t>)</m:t>
                            </m:r>
                          </m:e>
                        </m:d>
                      </m:e>
                      <m:sub>
                        <m:r>
                          <a:rPr lang="ar-AE">
                            <a:solidFill>
                              <a:srgbClr val="660874"/>
                            </a:solidFill>
                          </a:rPr>
                          <m:t>𝑖</m:t>
                        </m:r>
                      </m:sub>
                    </m:sSub>
                    <m:r>
                      <a:rPr lang="en-US">
                        <a:solidFill>
                          <a:srgbClr val="660874"/>
                        </a:solidFill>
                      </a:rPr>
                      <m:t>)</m:t>
                    </m:r>
                  </m:oMath>
                </a14:m>
                <a:r>
                  <a:rPr lang="en-US" dirty="0">
                    <a:solidFill>
                      <a:srgbClr val="660874"/>
                    </a:solidFill>
                  </a:rPr>
                  <a:t> = </a:t>
                </a:r>
                <a14:m>
                  <m:oMath xmlns:m="http://schemas.openxmlformats.org/officeDocument/2006/math">
                    <m:nary>
                      <m:naryPr>
                        <m:chr m:val="∑"/>
                        <m:grow m:val="on"/>
                        <m:ctrlPr>
                          <a:rPr lang="ar-AE">
                            <a:solidFill>
                              <a:srgbClr val="660874"/>
                            </a:solidFill>
                          </a:rPr>
                        </m:ctrlPr>
                      </m:naryPr>
                      <m:sub>
                        <m:r>
                          <a:rPr lang="ar-AE">
                            <a:solidFill>
                              <a:srgbClr val="660874"/>
                            </a:solidFill>
                          </a:rPr>
                          <m:t>𝑖</m:t>
                        </m:r>
                        <m:r>
                          <a:rPr lang="ar-AE">
                            <a:solidFill>
                              <a:srgbClr val="660874"/>
                            </a:solidFill>
                          </a:rPr>
                          <m:t>=</m:t>
                        </m:r>
                        <m:r>
                          <a:rPr lang="ar-AE">
                            <a:solidFill>
                              <a:srgbClr val="660874"/>
                            </a:solidFill>
                          </a:rPr>
                          <m:t>1</m:t>
                        </m:r>
                      </m:sub>
                      <m:sup>
                        <m:r>
                          <a:rPr lang="ar-AE">
                            <a:solidFill>
                              <a:srgbClr val="660874"/>
                            </a:solidFill>
                          </a:rPr>
                          <m:t>𝑚</m:t>
                        </m:r>
                      </m:sup>
                      <m:e>
                        <m:f>
                          <m:fPr>
                            <m:ctrlPr>
                              <a:rPr lang="ar-AE">
                                <a:solidFill>
                                  <a:srgbClr val="660874"/>
                                </a:solidFill>
                              </a:rPr>
                            </m:ctrlPr>
                          </m:fPr>
                          <m:num>
                            <m:r>
                              <a:rPr lang="ar-AE">
                                <a:solidFill>
                                  <a:srgbClr val="660874"/>
                                </a:solidFill>
                              </a:rPr>
                              <m:t>𝜕</m:t>
                            </m:r>
                            <m:sSub>
                              <m:sSubPr>
                                <m:ctrlPr>
                                  <a:rPr lang="ar-AE">
                                    <a:solidFill>
                                      <a:srgbClr val="660874"/>
                                    </a:solidFill>
                                  </a:rPr>
                                </m:ctrlPr>
                              </m:sSubPr>
                              <m:e>
                                <m:r>
                                  <a:rPr lang="ar-AE">
                                    <a:solidFill>
                                      <a:srgbClr val="660874"/>
                                    </a:solidFill>
                                  </a:rPr>
                                  <m:t>𝑓</m:t>
                                </m:r>
                              </m:e>
                              <m:sub>
                                <m:r>
                                  <a:rPr lang="ar-AE">
                                    <a:solidFill>
                                      <a:srgbClr val="660874"/>
                                    </a:solidFill>
                                  </a:rPr>
                                  <m:t>𝜃</m:t>
                                </m:r>
                                <m:r>
                                  <a:rPr lang="ar-AE">
                                    <a:solidFill>
                                      <a:srgbClr val="660874"/>
                                    </a:solidFill>
                                  </a:rPr>
                                  <m:t>,</m:t>
                                </m:r>
                                <m:r>
                                  <a:rPr lang="ar-AE">
                                    <a:solidFill>
                                      <a:srgbClr val="660874"/>
                                    </a:solidFill>
                                  </a:rPr>
                                  <m:t>𝑖</m:t>
                                </m:r>
                              </m:sub>
                            </m:sSub>
                            <m:r>
                              <a:rPr lang="en-US">
                                <a:solidFill>
                                  <a:srgbClr val="660874"/>
                                </a:solidFill>
                              </a:rPr>
                              <m:t>(</m:t>
                            </m:r>
                            <m:r>
                              <a:rPr lang="ar-AE">
                                <a:solidFill>
                                  <a:srgbClr val="660874"/>
                                </a:solidFill>
                              </a:rPr>
                              <m:t>𝜖</m:t>
                            </m:r>
                            <m:r>
                              <a:rPr lang="en-US">
                                <a:solidFill>
                                  <a:srgbClr val="660874"/>
                                </a:solidFill>
                              </a:rPr>
                              <m:t>)</m:t>
                            </m:r>
                          </m:num>
                          <m:den>
                            <m:r>
                              <a:rPr lang="ar-AE">
                                <a:solidFill>
                                  <a:srgbClr val="660874"/>
                                </a:solidFill>
                              </a:rPr>
                              <m:t>𝜕</m:t>
                            </m:r>
                            <m:sSub>
                              <m:sSubPr>
                                <m:ctrlPr>
                                  <a:rPr lang="ar-AE">
                                    <a:solidFill>
                                      <a:srgbClr val="660874"/>
                                    </a:solidFill>
                                  </a:rPr>
                                </m:ctrlPr>
                              </m:sSubPr>
                              <m:e>
                                <m:r>
                                  <a:rPr lang="ar-AE">
                                    <a:solidFill>
                                      <a:srgbClr val="660874"/>
                                    </a:solidFill>
                                  </a:rPr>
                                  <m:t>𝜖</m:t>
                                </m:r>
                              </m:e>
                              <m:sub>
                                <m:r>
                                  <a:rPr lang="en-US">
                                    <a:solidFill>
                                      <a:srgbClr val="660874"/>
                                    </a:solidFill>
                                  </a:rPr>
                                  <m:t>𝑗</m:t>
                                </m:r>
                              </m:sub>
                            </m:sSub>
                          </m:den>
                        </m:f>
                        <m:r>
                          <a:rPr lang="en-US">
                            <a:solidFill>
                              <a:srgbClr val="660874"/>
                            </a:solidFill>
                          </a:rPr>
                          <m:t>(</m:t>
                        </m:r>
                        <m:r>
                          <m:rPr>
                            <m:sty m:val="p"/>
                          </m:rPr>
                          <a:rPr lang="el-GR">
                            <a:solidFill>
                              <a:srgbClr val="660874"/>
                            </a:solidFill>
                          </a:rPr>
                          <m:t>Δ</m:t>
                        </m:r>
                        <m:acc>
                          <m:accPr>
                            <m:chr m:val="̂"/>
                            <m:ctrlPr>
                              <a:rPr lang="el-GR" i="1" smtClean="0">
                                <a:solidFill>
                                  <a:srgbClr val="660874"/>
                                </a:solidFill>
                                <a:latin typeface="Cambria Math" panose="02040503050406030204" pitchFamily="18" charset="0"/>
                              </a:rPr>
                            </m:ctrlPr>
                          </m:accPr>
                          <m:e>
                            <m:sSub>
                              <m:sSubPr>
                                <m:ctrlPr>
                                  <a:rPr lang="ar-AE" i="1">
                                    <a:solidFill>
                                      <a:srgbClr val="660874"/>
                                    </a:solidFill>
                                    <a:latin typeface="Cambria Math" panose="02040503050406030204" pitchFamily="18" charset="0"/>
                                  </a:rPr>
                                </m:ctrlPr>
                              </m:sSubPr>
                              <m:e>
                                <m:r>
                                  <a:rPr lang="ar-AE">
                                    <a:solidFill>
                                      <a:srgbClr val="660874"/>
                                    </a:solidFill>
                                    <a:latin typeface="Cambria Math" panose="02040503050406030204" pitchFamily="18" charset="0"/>
                                  </a:rPr>
                                  <m:t>𝑥</m:t>
                                </m:r>
                              </m:e>
                              <m:sub>
                                <m:r>
                                  <a:rPr lang="ar-AE">
                                    <a:solidFill>
                                      <a:srgbClr val="660874"/>
                                    </a:solidFill>
                                    <a:latin typeface="Cambria Math" panose="02040503050406030204" pitchFamily="18" charset="0"/>
                                  </a:rPr>
                                  <m:t>0</m:t>
                                </m:r>
                              </m:sub>
                            </m:sSub>
                          </m:e>
                        </m:acc>
                        <m:sSub>
                          <m:sSubPr>
                            <m:ctrlPr>
                              <a:rPr lang="ar-AE">
                                <a:solidFill>
                                  <a:srgbClr val="660874"/>
                                </a:solidFill>
                              </a:rPr>
                            </m:ctrlPr>
                          </m:sSubPr>
                          <m:e>
                            <m:d>
                              <m:dPr>
                                <m:begChr m:val=""/>
                                <m:endChr m:val=""/>
                                <m:ctrlPr>
                                  <a:rPr lang="ar-AE">
                                    <a:solidFill>
                                      <a:srgbClr val="660874"/>
                                    </a:solidFill>
                                  </a:rPr>
                                </m:ctrlPr>
                              </m:dPr>
                              <m:e>
                                <m:r>
                                  <a:rPr lang="ar-AE">
                                    <a:solidFill>
                                      <a:srgbClr val="660874"/>
                                    </a:solidFill>
                                  </a:rPr>
                                  <m:t>)</m:t>
                                </m:r>
                              </m:e>
                            </m:d>
                          </m:e>
                          <m:sub>
                            <m:r>
                              <a:rPr lang="ar-AE">
                                <a:solidFill>
                                  <a:srgbClr val="660874"/>
                                </a:solidFill>
                              </a:rPr>
                              <m:t>𝑖</m:t>
                            </m:r>
                          </m:sub>
                        </m:sSub>
                      </m:e>
                    </m:nary>
                  </m:oMath>
                </a14:m>
                <a:r>
                  <a:rPr lang="en-US" dirty="0">
                    <a:solidFill>
                      <a:srgbClr val="660874"/>
                    </a:solidFill>
                  </a:rPr>
                  <a:t> = </a:t>
                </a:r>
                <a14:m>
                  <m:oMath xmlns:m="http://schemas.openxmlformats.org/officeDocument/2006/math">
                    <m:sSubSup>
                      <m:sSubSupPr>
                        <m:ctrlPr>
                          <a:rPr lang="ar-AE">
                            <a:solidFill>
                              <a:srgbClr val="660874"/>
                            </a:solidFill>
                          </a:rPr>
                        </m:ctrlPr>
                      </m:sSubSupPr>
                      <m:e>
                        <m:r>
                          <a:rPr lang="ar-AE">
                            <a:solidFill>
                              <a:srgbClr val="660874"/>
                            </a:solidFill>
                          </a:rPr>
                          <m:t>𝐽</m:t>
                        </m:r>
                      </m:e>
                      <m:sub>
                        <m:r>
                          <a:rPr lang="ar-AE">
                            <a:solidFill>
                              <a:srgbClr val="660874"/>
                            </a:solidFill>
                          </a:rPr>
                          <m:t>𝜖</m:t>
                        </m:r>
                      </m:sub>
                      <m:sup>
                        <m:r>
                          <a:rPr lang="ar-AE">
                            <a:solidFill>
                              <a:srgbClr val="660874"/>
                            </a:solidFill>
                          </a:rPr>
                          <m:t>𝑇</m:t>
                        </m:r>
                      </m:sup>
                    </m:sSubSup>
                    <m:r>
                      <m:rPr>
                        <m:sty m:val="p"/>
                      </m:rPr>
                      <a:rPr lang="el-GR">
                        <a:solidFill>
                          <a:srgbClr val="660874"/>
                        </a:solidFill>
                      </a:rPr>
                      <m:t>Δ</m:t>
                    </m:r>
                    <m:acc>
                      <m:accPr>
                        <m:chr m:val="̂"/>
                        <m:ctrlPr>
                          <a:rPr lang="el-GR">
                            <a:solidFill>
                              <a:srgbClr val="660874"/>
                            </a:solidFill>
                          </a:rPr>
                        </m:ctrlPr>
                      </m:accPr>
                      <m:e>
                        <m:sSub>
                          <m:sSubPr>
                            <m:ctrlPr>
                              <a:rPr lang="ar-AE">
                                <a:solidFill>
                                  <a:srgbClr val="660874"/>
                                </a:solidFill>
                              </a:rPr>
                            </m:ctrlPr>
                          </m:sSubPr>
                          <m:e>
                            <m:r>
                              <a:rPr lang="ar-AE">
                                <a:solidFill>
                                  <a:srgbClr val="660874"/>
                                </a:solidFill>
                              </a:rPr>
                              <m:t>𝑥</m:t>
                            </m:r>
                          </m:e>
                          <m:sub>
                            <m:r>
                              <a:rPr lang="ar-AE">
                                <a:solidFill>
                                  <a:srgbClr val="660874"/>
                                </a:solidFill>
                              </a:rPr>
                              <m:t>0</m:t>
                            </m:r>
                          </m:sub>
                        </m:sSub>
                      </m:e>
                    </m:acc>
                  </m:oMath>
                </a14:m>
                <a:endParaRPr lang="en-US" dirty="0">
                  <a:solidFill>
                    <a:srgbClr val="660874"/>
                  </a:solidFill>
                </a:endParaRPr>
              </a:p>
              <a:p>
                <a:pPr marL="285750" indent="-285750">
                  <a:lnSpc>
                    <a:spcPct val="200000"/>
                  </a:lnSpc>
                  <a:buFontTx/>
                  <a:buChar char="-"/>
                </a:pPr>
                <a:endParaRPr lang="ar-AE" b="1" dirty="0">
                  <a:solidFill>
                    <a:srgbClr val="660874"/>
                  </a:solidFill>
                </a:endParaRPr>
              </a:p>
              <a:p>
                <a:pPr>
                  <a:lnSpc>
                    <a:spcPct val="200000"/>
                  </a:lnSpc>
                </a:pPr>
                <a:endParaRPr lang="en-US" dirty="0">
                  <a:solidFill>
                    <a:srgbClr val="660874"/>
                  </a:solidFill>
                </a:endParaRPr>
              </a:p>
              <a:p>
                <a:pPr marL="285750" indent="-285750">
                  <a:lnSpc>
                    <a:spcPct val="200000"/>
                  </a:lnSpc>
                  <a:buFont typeface="Wingdings" panose="05000000000000000000" pitchFamily="2" charset="2"/>
                  <a:buChar char="Ø"/>
                </a:pPr>
                <a:endParaRPr lang="en-US" b="1" dirty="0">
                  <a:solidFill>
                    <a:srgbClr val="660874"/>
                  </a:solidFill>
                </a:endParaRPr>
              </a:p>
              <a:p>
                <a:pPr marL="285750" indent="-285750">
                  <a:lnSpc>
                    <a:spcPct val="200000"/>
                  </a:lnSpc>
                  <a:buFont typeface="Wingdings" panose="05000000000000000000" pitchFamily="2" charset="2"/>
                  <a:buChar char="Ø"/>
                </a:pPr>
                <a:endParaRPr lang="en-US" b="1" dirty="0">
                  <a:solidFill>
                    <a:srgbClr val="660874"/>
                  </a:solidFill>
                </a:endParaRPr>
              </a:p>
              <a:p>
                <a:pPr marL="285750" indent="-285750">
                  <a:lnSpc>
                    <a:spcPct val="200000"/>
                  </a:lnSpc>
                  <a:buFont typeface="Wingdings" panose="05000000000000000000" pitchFamily="2" charset="2"/>
                  <a:buChar char="Ø"/>
                </a:pPr>
                <a:endParaRPr lang="en-US" b="1" dirty="0">
                  <a:solidFill>
                    <a:srgbClr val="660874"/>
                  </a:solidFill>
                </a:endParaRPr>
              </a:p>
              <a:p>
                <a:pPr marL="285750" indent="-285750">
                  <a:lnSpc>
                    <a:spcPct val="200000"/>
                  </a:lnSpc>
                  <a:buFont typeface="Wingdings" panose="05000000000000000000" pitchFamily="2" charset="2"/>
                  <a:buChar char="Ø"/>
                </a:pPr>
                <a:endParaRPr lang="en-US" b="1" dirty="0">
                  <a:solidFill>
                    <a:srgbClr val="660874"/>
                  </a:solidFill>
                </a:endParaRPr>
              </a:p>
              <a:p>
                <a:pPr marL="285750" indent="-285750">
                  <a:lnSpc>
                    <a:spcPct val="200000"/>
                  </a:lnSpc>
                  <a:buFont typeface="Wingdings" panose="05000000000000000000" pitchFamily="2" charset="2"/>
                  <a:buChar char="Ø"/>
                </a:pPr>
                <a:endParaRPr lang="en-US" b="1" dirty="0">
                  <a:solidFill>
                    <a:srgbClr val="660874"/>
                  </a:solidFill>
                </a:endParaRPr>
              </a:p>
            </p:txBody>
          </p:sp>
        </mc:Choice>
        <mc:Fallback>
          <p:sp>
            <p:nvSpPr>
              <p:cNvPr id="11" name="TextBox 10">
                <a:extLst>
                  <a:ext uri="{FF2B5EF4-FFF2-40B4-BE49-F238E27FC236}">
                    <a16:creationId xmlns:a16="http://schemas.microsoft.com/office/drawing/2014/main" id="{08BC7A6C-FD1E-3157-868C-BAC290FBE764}"/>
                  </a:ext>
                </a:extLst>
              </p:cNvPr>
              <p:cNvSpPr txBox="1">
                <a:spLocks noRot="1" noChangeAspect="1" noMove="1" noResize="1" noEditPoints="1" noAdjustHandles="1" noChangeArrowheads="1" noChangeShapeType="1" noTextEdit="1"/>
              </p:cNvSpPr>
              <p:nvPr/>
            </p:nvSpPr>
            <p:spPr>
              <a:xfrm>
                <a:off x="1017437" y="1715585"/>
                <a:ext cx="9941508" cy="7892866"/>
              </a:xfrm>
              <a:prstGeom prst="rect">
                <a:avLst/>
              </a:prstGeom>
              <a:blipFill>
                <a:blip r:embed="rId2"/>
                <a:stretch>
                  <a:fillRect l="-55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1CC27EC5-AE89-957D-7DFA-F05A05DF6571}"/>
                  </a:ext>
                </a:extLst>
              </p:cNvPr>
              <p:cNvSpPr txBox="1"/>
              <p:nvPr/>
            </p:nvSpPr>
            <p:spPr>
              <a:xfrm>
                <a:off x="3907855" y="5849298"/>
                <a:ext cx="6096000" cy="369332"/>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r>
                        <a:rPr lang="en-US" b="0" i="0" smtClean="0">
                          <a:latin typeface="Cambria Math" panose="02040503050406030204" pitchFamily="18" charset="0"/>
                        </a:rPr>
                        <m:t>(</m:t>
                      </m:r>
                      <m:r>
                        <m:rPr>
                          <m:sty m:val="p"/>
                        </m:rPr>
                        <a:rPr lang="en-US" b="0" i="0" smtClean="0">
                          <a:latin typeface="Cambria Math" panose="02040503050406030204" pitchFamily="18" charset="0"/>
                        </a:rPr>
                        <m:t>since</m:t>
                      </m:r>
                      <m:r>
                        <a:rPr lang="en-US" b="0" i="0" smtClean="0">
                          <a:latin typeface="Cambria Math" panose="02040503050406030204" pitchFamily="18" charset="0"/>
                        </a:rPr>
                        <m:t> </m:t>
                      </m:r>
                      <m:r>
                        <m:rPr>
                          <m:sty m:val="p"/>
                        </m:rPr>
                        <a:rPr lang="el-GR">
                          <a:latin typeface="Cambria Math" panose="02040503050406030204" pitchFamily="18" charset="0"/>
                        </a:rPr>
                        <m:t>Δ</m:t>
                      </m:r>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a:latin typeface="Cambria Math" panose="02040503050406030204" pitchFamily="18" charset="0"/>
                            </a:rPr>
                            <m:t>0</m:t>
                          </m:r>
                        </m:sub>
                      </m:sSub>
                      <m:r>
                        <a:rPr lang="ar-AE">
                          <a:latin typeface="Cambria Math" panose="02040503050406030204" pitchFamily="18" charset="0"/>
                        </a:rPr>
                        <m:t>∈</m:t>
                      </m:r>
                      <m:sSup>
                        <m:sSupPr>
                          <m:ctrlPr>
                            <a:rPr lang="ar-AE" i="1">
                              <a:latin typeface="Cambria Math" panose="02040503050406030204" pitchFamily="18" charset="0"/>
                            </a:rPr>
                          </m:ctrlPr>
                        </m:sSupPr>
                        <m:e>
                          <m:r>
                            <a:rPr lang="ar-AE">
                              <a:latin typeface="Cambria Math" panose="02040503050406030204" pitchFamily="18" charset="0"/>
                            </a:rPr>
                            <m:t>ℝ</m:t>
                          </m:r>
                        </m:e>
                        <m:sup>
                          <m:r>
                            <a:rPr lang="ar-AE" i="1">
                              <a:latin typeface="Cambria Math" panose="02040503050406030204" pitchFamily="18" charset="0"/>
                            </a:rPr>
                            <m:t>𝑚</m:t>
                          </m:r>
                        </m:sup>
                      </m:sSup>
                      <m:r>
                        <a:rPr lang="en-US" b="0" i="1" smtClean="0">
                          <a:latin typeface="Cambria Math" panose="02040503050406030204" pitchFamily="18" charset="0"/>
                        </a:rPr>
                        <m:t>)</m:t>
                      </m:r>
                    </m:oMath>
                  </m:oMathPara>
                </a14:m>
                <a:endParaRPr lang="ar-AE" dirty="0"/>
              </a:p>
            </p:txBody>
          </p:sp>
        </mc:Choice>
        <mc:Fallback>
          <p:sp>
            <p:nvSpPr>
              <p:cNvPr id="10" name="TextBox 9">
                <a:extLst>
                  <a:ext uri="{FF2B5EF4-FFF2-40B4-BE49-F238E27FC236}">
                    <a16:creationId xmlns:a16="http://schemas.microsoft.com/office/drawing/2014/main" id="{1CC27EC5-AE89-957D-7DFA-F05A05DF6571}"/>
                  </a:ext>
                </a:extLst>
              </p:cNvPr>
              <p:cNvSpPr txBox="1">
                <a:spLocks noRot="1" noChangeAspect="1" noMove="1" noResize="1" noEditPoints="1" noAdjustHandles="1" noChangeArrowheads="1" noChangeShapeType="1" noTextEdit="1"/>
              </p:cNvSpPr>
              <p:nvPr/>
            </p:nvSpPr>
            <p:spPr>
              <a:xfrm>
                <a:off x="3907855" y="5849298"/>
                <a:ext cx="6096000" cy="369332"/>
              </a:xfrm>
              <a:prstGeom prst="rect">
                <a:avLst/>
              </a:prstGeom>
              <a:blipFill>
                <a:blip r:embed="rId3"/>
                <a:stretch>
                  <a:fillRect b="-15000"/>
                </a:stretch>
              </a:blipFill>
            </p:spPr>
            <p:txBody>
              <a:bodyPr/>
              <a:lstStyle/>
              <a:p>
                <a:r>
                  <a:rPr lang="en-US">
                    <a:noFill/>
                  </a:rPr>
                  <a:t> </a:t>
                </a:r>
              </a:p>
            </p:txBody>
          </p:sp>
        </mc:Fallback>
      </mc:AlternateContent>
      <p:sp>
        <p:nvSpPr>
          <p:cNvPr id="19" name="TextBox 18">
            <a:extLst>
              <a:ext uri="{FF2B5EF4-FFF2-40B4-BE49-F238E27FC236}">
                <a16:creationId xmlns:a16="http://schemas.microsoft.com/office/drawing/2014/main" id="{ED14C69F-75AA-354A-F898-5231B2B20CF1}"/>
              </a:ext>
            </a:extLst>
          </p:cNvPr>
          <p:cNvSpPr txBox="1"/>
          <p:nvPr/>
        </p:nvSpPr>
        <p:spPr>
          <a:xfrm>
            <a:off x="5878575" y="249302"/>
            <a:ext cx="6795654" cy="369332"/>
          </a:xfrm>
          <a:prstGeom prst="rect">
            <a:avLst/>
          </a:prstGeom>
          <a:noFill/>
        </p:spPr>
        <p:txBody>
          <a:bodyPr wrap="square">
            <a:spAutoFit/>
          </a:bodyPr>
          <a:lstStyle/>
          <a:p>
            <a:pPr>
              <a:buNone/>
            </a:pPr>
            <a:endParaRPr lang="en-US" dirty="0"/>
          </a:p>
        </p:txBody>
      </p:sp>
      <mc:AlternateContent xmlns:mc="http://schemas.openxmlformats.org/markup-compatibility/2006">
        <mc:Choice xmlns:a14="http://schemas.microsoft.com/office/drawing/2010/main" Requires="a14">
          <p:sp>
            <p:nvSpPr>
              <p:cNvPr id="21" name="TextBox 20">
                <a:extLst>
                  <a:ext uri="{FF2B5EF4-FFF2-40B4-BE49-F238E27FC236}">
                    <a16:creationId xmlns:a16="http://schemas.microsoft.com/office/drawing/2014/main" id="{B231C4B5-AECF-6D37-64B9-4712B7B6BE53}"/>
                  </a:ext>
                </a:extLst>
              </p:cNvPr>
              <p:cNvSpPr txBox="1"/>
              <p:nvPr/>
            </p:nvSpPr>
            <p:spPr>
              <a:xfrm>
                <a:off x="1298863" y="5479966"/>
                <a:ext cx="6338454" cy="369332"/>
              </a:xfrm>
              <a:prstGeom prst="rect">
                <a:avLst/>
              </a:prstGeom>
              <a:noFill/>
            </p:spPr>
            <p:txBody>
              <a:bodyPr wrap="square">
                <a:spAutoFit/>
              </a:bodyPr>
              <a:lstStyle/>
              <a:p>
                <a:r>
                  <a:rPr lang="en-US" dirty="0">
                    <a:solidFill>
                      <a:srgbClr val="660874"/>
                    </a:solidFill>
                  </a:rPr>
                  <a:t>This holds only if </a:t>
                </a:r>
                <a14:m>
                  <m:oMath xmlns:m="http://schemas.openxmlformats.org/officeDocument/2006/math">
                    <m:r>
                      <m:rPr>
                        <m:sty m:val="p"/>
                      </m:rPr>
                      <a:rPr lang="el-GR">
                        <a:solidFill>
                          <a:srgbClr val="660874"/>
                        </a:solidFill>
                      </a:rPr>
                      <m:t>Δ</m:t>
                    </m:r>
                    <m:sSub>
                      <m:sSubPr>
                        <m:ctrlPr>
                          <a:rPr lang="ar-AE">
                            <a:solidFill>
                              <a:srgbClr val="660874"/>
                            </a:solidFill>
                          </a:rPr>
                        </m:ctrlPr>
                      </m:sSubPr>
                      <m:e>
                        <m:r>
                          <a:rPr lang="ar-AE">
                            <a:solidFill>
                              <a:srgbClr val="660874"/>
                            </a:solidFill>
                          </a:rPr>
                          <m:t>𝑥</m:t>
                        </m:r>
                      </m:e>
                      <m:sub>
                        <m:r>
                          <a:rPr lang="ar-AE">
                            <a:solidFill>
                              <a:srgbClr val="660874"/>
                            </a:solidFill>
                          </a:rPr>
                          <m:t>0</m:t>
                        </m:r>
                      </m:sub>
                    </m:sSub>
                  </m:oMath>
                </a14:m>
                <a:r>
                  <a:rPr lang="en-US" dirty="0">
                    <a:solidFill>
                      <a:srgbClr val="660874"/>
                    </a:solidFill>
                  </a:rPr>
                  <a:t> is independent of </a:t>
                </a:r>
                <a14:m>
                  <m:oMath xmlns:m="http://schemas.openxmlformats.org/officeDocument/2006/math">
                    <m:r>
                      <a:rPr lang="ar-AE">
                        <a:solidFill>
                          <a:srgbClr val="660874"/>
                        </a:solidFill>
                      </a:rPr>
                      <m:t>𝜖</m:t>
                    </m:r>
                    <m:r>
                      <a:rPr lang="en-US">
                        <a:solidFill>
                          <a:srgbClr val="660874"/>
                        </a:solidFill>
                      </a:rPr>
                      <m:t>.</m:t>
                    </m:r>
                  </m:oMath>
                </a14:m>
                <a:r>
                  <a:rPr lang="en-US" dirty="0">
                    <a:solidFill>
                      <a:srgbClr val="660874"/>
                    </a:solidFill>
                  </a:rPr>
                  <a:t> </a:t>
                </a:r>
              </a:p>
            </p:txBody>
          </p:sp>
        </mc:Choice>
        <mc:Fallback>
          <p:sp>
            <p:nvSpPr>
              <p:cNvPr id="21" name="TextBox 20">
                <a:extLst>
                  <a:ext uri="{FF2B5EF4-FFF2-40B4-BE49-F238E27FC236}">
                    <a16:creationId xmlns:a16="http://schemas.microsoft.com/office/drawing/2014/main" id="{B231C4B5-AECF-6D37-64B9-4712B7B6BE53}"/>
                  </a:ext>
                </a:extLst>
              </p:cNvPr>
              <p:cNvSpPr txBox="1">
                <a:spLocks noRot="1" noChangeAspect="1" noMove="1" noResize="1" noEditPoints="1" noAdjustHandles="1" noChangeArrowheads="1" noChangeShapeType="1" noTextEdit="1"/>
              </p:cNvSpPr>
              <p:nvPr/>
            </p:nvSpPr>
            <p:spPr>
              <a:xfrm>
                <a:off x="1298863" y="5479966"/>
                <a:ext cx="6338454" cy="369332"/>
              </a:xfrm>
              <a:prstGeom prst="rect">
                <a:avLst/>
              </a:prstGeom>
              <a:blipFill>
                <a:blip r:embed="rId4"/>
                <a:stretch>
                  <a:fillRect l="-769" t="-9836" b="-24590"/>
                </a:stretch>
              </a:blipFill>
            </p:spPr>
            <p:txBody>
              <a:bodyPr/>
              <a:lstStyle/>
              <a:p>
                <a:r>
                  <a:rPr lang="en-US">
                    <a:noFill/>
                  </a:rPr>
                  <a:t> </a:t>
                </a:r>
              </a:p>
            </p:txBody>
          </p:sp>
        </mc:Fallback>
      </mc:AlternateContent>
    </p:spTree>
    <p:extLst>
      <p:ext uri="{BB962C8B-B14F-4D97-AF65-F5344CB8AC3E}">
        <p14:creationId xmlns:p14="http://schemas.microsoft.com/office/powerpoint/2010/main" val="24120139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rrow: Chevron 3">
            <a:extLst>
              <a:ext uri="{FF2B5EF4-FFF2-40B4-BE49-F238E27FC236}">
                <a16:creationId xmlns:a16="http://schemas.microsoft.com/office/drawing/2014/main" id="{FDDD74A5-8470-52A2-62C5-A511DFB51E97}"/>
              </a:ext>
            </a:extLst>
          </p:cNvPr>
          <p:cNvSpPr/>
          <p:nvPr/>
        </p:nvSpPr>
        <p:spPr>
          <a:xfrm>
            <a:off x="892601" y="488935"/>
            <a:ext cx="5896126" cy="694742"/>
          </a:xfrm>
          <a:prstGeom prst="chevron">
            <a:avLst/>
          </a:prstGeom>
          <a:solidFill>
            <a:schemeClr val="bg1">
              <a:lumMod val="85000"/>
              <a:alpha val="67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 name="Arrow: Chevron 4">
            <a:extLst>
              <a:ext uri="{FF2B5EF4-FFF2-40B4-BE49-F238E27FC236}">
                <a16:creationId xmlns:a16="http://schemas.microsoft.com/office/drawing/2014/main" id="{BEA7BC06-7DA4-730F-10E3-593A6B229CB3}"/>
              </a:ext>
            </a:extLst>
          </p:cNvPr>
          <p:cNvSpPr/>
          <p:nvPr/>
        </p:nvSpPr>
        <p:spPr>
          <a:xfrm>
            <a:off x="393087" y="488936"/>
            <a:ext cx="817404" cy="694742"/>
          </a:xfrm>
          <a:prstGeom prst="chevron">
            <a:avLst/>
          </a:prstGeom>
          <a:gradFill>
            <a:gsLst>
              <a:gs pos="0">
                <a:srgbClr val="660874"/>
              </a:gs>
              <a:gs pos="50000">
                <a:srgbClr val="7030A0"/>
              </a:gs>
              <a:gs pos="100000">
                <a:srgbClr val="660874"/>
              </a:gs>
            </a:gsLst>
            <a:lin ang="5400000" scaled="0"/>
          </a:gra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 name="Title 1">
            <a:extLst>
              <a:ext uri="{FF2B5EF4-FFF2-40B4-BE49-F238E27FC236}">
                <a16:creationId xmlns:a16="http://schemas.microsoft.com/office/drawing/2014/main" id="{D9AD0228-FC3D-F29D-A92B-0D74DDC3442E}"/>
              </a:ext>
            </a:extLst>
          </p:cNvPr>
          <p:cNvSpPr txBox="1">
            <a:spLocks/>
          </p:cNvSpPr>
          <p:nvPr/>
        </p:nvSpPr>
        <p:spPr>
          <a:xfrm>
            <a:off x="1248477" y="190942"/>
            <a:ext cx="10515600" cy="1325563"/>
          </a:xfrm>
          <a:prstGeom prst="rect">
            <a:avLst/>
          </a:prstGeom>
          <a:effectLst/>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a:solidFill>
                  <a:srgbClr val="660874"/>
                </a:solidFill>
              </a:rPr>
              <a:t>Smooth Diffusion (Guo et. al 2023)</a:t>
            </a:r>
            <a:endParaRPr lang="zh-CN" altLang="en-US" sz="2800" dirty="0">
              <a:solidFill>
                <a:srgbClr val="660874"/>
              </a:solidFill>
            </a:endParaRPr>
          </a:p>
        </p:txBody>
      </p:sp>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FA9FA8DD-8790-7311-933D-108A6641F9CD}"/>
                  </a:ext>
                </a:extLst>
              </p:cNvPr>
              <p:cNvSpPr txBox="1"/>
              <p:nvPr/>
            </p:nvSpPr>
            <p:spPr>
              <a:xfrm>
                <a:off x="1017437" y="1715585"/>
                <a:ext cx="9449672" cy="5915978"/>
              </a:xfrm>
              <a:prstGeom prst="rect">
                <a:avLst/>
              </a:prstGeom>
              <a:noFill/>
            </p:spPr>
            <p:txBody>
              <a:bodyPr wrap="square" rtlCol="0">
                <a:spAutoFit/>
              </a:bodyPr>
              <a:lstStyle/>
              <a:p>
                <a:pPr marL="285750" indent="-285750">
                  <a:lnSpc>
                    <a:spcPct val="200000"/>
                  </a:lnSpc>
                  <a:buFont typeface="Wingdings" panose="05000000000000000000" pitchFamily="2" charset="2"/>
                  <a:buChar char="Ø"/>
                </a:pPr>
                <a:r>
                  <a:rPr lang="en-US" b="1" dirty="0">
                    <a:solidFill>
                      <a:srgbClr val="660874"/>
                    </a:solidFill>
                  </a:rPr>
                  <a:t>Step-wise Variation Regularization (continued)</a:t>
                </a:r>
                <a:endParaRPr lang="en-US" dirty="0">
                  <a:solidFill>
                    <a:srgbClr val="660874"/>
                  </a:solidFill>
                </a:endParaRPr>
              </a:p>
              <a:p>
                <a:r>
                  <a:rPr lang="en-US" dirty="0">
                    <a:solidFill>
                      <a:srgbClr val="660874"/>
                    </a:solidFill>
                  </a:rPr>
                  <a:t>- Using the preliminary that </a:t>
                </a:r>
                <a14:m>
                  <m:oMath xmlns:m="http://schemas.openxmlformats.org/officeDocument/2006/math">
                    <m:sSubSup>
                      <m:sSubSupPr>
                        <m:ctrlPr>
                          <a:rPr lang="ar-AE" i="1" smtClean="0">
                            <a:solidFill>
                              <a:srgbClr val="660874"/>
                            </a:solidFill>
                            <a:latin typeface="Cambria Math" panose="02040503050406030204" pitchFamily="18" charset="0"/>
                          </a:rPr>
                        </m:ctrlPr>
                      </m:sSubSupPr>
                      <m:e>
                        <m:sSubSup>
                          <m:sSubSupPr>
                            <m:ctrlPr>
                              <a:rPr lang="ar-AE" i="1" smtClean="0">
                                <a:solidFill>
                                  <a:srgbClr val="660874"/>
                                </a:solidFill>
                                <a:latin typeface="Cambria Math" panose="02040503050406030204" pitchFamily="18" charset="0"/>
                              </a:rPr>
                            </m:ctrlPr>
                          </m:sSubSupPr>
                          <m:e>
                            <m:r>
                              <a:rPr lang="en-US" b="0" i="1" smtClean="0">
                                <a:solidFill>
                                  <a:srgbClr val="660874"/>
                                </a:solidFill>
                                <a:latin typeface="Cambria Math" panose="02040503050406030204" pitchFamily="18" charset="0"/>
                              </a:rPr>
                              <m:t>(</m:t>
                            </m:r>
                            <m:r>
                              <m:rPr>
                                <m:sty m:val="p"/>
                              </m:rPr>
                              <a:rPr lang="ar-AE" b="0" i="1">
                                <a:solidFill>
                                  <a:srgbClr val="660874"/>
                                </a:solidFill>
                                <a:latin typeface="Cambria Math" panose="02040503050406030204" pitchFamily="18" charset="0"/>
                              </a:rPr>
                              <m:t>J</m:t>
                            </m:r>
                          </m:e>
                          <m:sub>
                            <m:r>
                              <m:rPr>
                                <m:sty m:val="p"/>
                              </m:rPr>
                              <a:rPr lang="ar-AE" b="0" i="1">
                                <a:solidFill>
                                  <a:srgbClr val="660874"/>
                                </a:solidFill>
                                <a:latin typeface="Cambria Math" panose="02040503050406030204" pitchFamily="18" charset="0"/>
                              </a:rPr>
                              <m:t>ϵ</m:t>
                            </m:r>
                          </m:sub>
                          <m:sup/>
                        </m:sSubSup>
                        <m:r>
                          <a:rPr lang="ar-AE" b="0" smtClean="0">
                            <a:solidFill>
                              <a:srgbClr val="660874"/>
                            </a:solidFill>
                            <a:latin typeface="Cambria Math" panose="02040503050406030204" pitchFamily="18" charset="0"/>
                          </a:rPr>
                          <m:t>⋅</m:t>
                        </m:r>
                        <m:r>
                          <m:rPr>
                            <m:sty m:val="p"/>
                          </m:rPr>
                          <a:rPr lang="ar-AE" b="0" i="1">
                            <a:solidFill>
                              <a:srgbClr val="660874"/>
                            </a:solidFill>
                            <a:latin typeface="Cambria Math" panose="02040503050406030204" pitchFamily="18" charset="0"/>
                          </a:rPr>
                          <m:t>J</m:t>
                        </m:r>
                      </m:e>
                      <m:sub>
                        <m:r>
                          <m:rPr>
                            <m:sty m:val="p"/>
                          </m:rPr>
                          <a:rPr lang="ar-AE" b="0" i="1">
                            <a:solidFill>
                              <a:srgbClr val="660874"/>
                            </a:solidFill>
                            <a:latin typeface="Cambria Math" panose="02040503050406030204" pitchFamily="18" charset="0"/>
                          </a:rPr>
                          <m:t>ϵ</m:t>
                        </m:r>
                      </m:sub>
                      <m:sup>
                        <m:r>
                          <m:rPr>
                            <m:sty m:val="p"/>
                          </m:rPr>
                          <a:rPr lang="en-US" b="0">
                            <a:solidFill>
                              <a:srgbClr val="660874"/>
                            </a:solidFill>
                            <a:latin typeface="Cambria Math" panose="02040503050406030204" pitchFamily="18" charset="0"/>
                          </a:rPr>
                          <m:t>T</m:t>
                        </m:r>
                      </m:sup>
                    </m:sSubSup>
                    <m:r>
                      <a:rPr lang="en-US" b="0" i="1" smtClean="0">
                        <a:solidFill>
                          <a:srgbClr val="660874"/>
                        </a:solidFill>
                        <a:latin typeface="Cambria Math" panose="02040503050406030204" pitchFamily="18" charset="0"/>
                      </a:rPr>
                      <m:t>=</m:t>
                    </m:r>
                    <m:r>
                      <a:rPr lang="ar-AE" b="0" smtClean="0">
                        <a:solidFill>
                          <a:srgbClr val="660874"/>
                        </a:solidFill>
                        <a:latin typeface="Cambria Math" panose="02040503050406030204" pitchFamily="18" charset="0"/>
                      </a:rPr>
                      <m:t>𝒦</m:t>
                    </m:r>
                    <m:r>
                      <a:rPr lang="ar-AE" b="0" smtClean="0">
                        <a:solidFill>
                          <a:srgbClr val="660874"/>
                        </a:solidFill>
                        <a:latin typeface="Cambria Math" panose="02040503050406030204" pitchFamily="18" charset="0"/>
                      </a:rPr>
                      <m:t>⋅</m:t>
                    </m:r>
                    <m:r>
                      <m:rPr>
                        <m:sty m:val="p"/>
                      </m:rPr>
                      <a:rPr lang="en-US" b="0" i="0" smtClean="0">
                        <a:solidFill>
                          <a:srgbClr val="660874"/>
                        </a:solidFill>
                        <a:latin typeface="Cambria Math" panose="02040503050406030204" pitchFamily="18" charset="0"/>
                      </a:rPr>
                      <m:t>I</m:t>
                    </m:r>
                    <m:r>
                      <a:rPr lang="en-US" b="0" i="0" smtClean="0">
                        <a:solidFill>
                          <a:srgbClr val="660874"/>
                        </a:solidFill>
                        <a:latin typeface="Cambria Math" panose="02040503050406030204" pitchFamily="18" charset="0"/>
                      </a:rPr>
                      <m:t>) </m:t>
                    </m:r>
                  </m:oMath>
                </a14:m>
                <a:r>
                  <a:rPr lang="en-US" dirty="0">
                    <a:solidFill>
                      <a:srgbClr val="660874"/>
                    </a:solidFill>
                  </a:rPr>
                  <a:t>minimizes </a:t>
                </a:r>
                <a14:m>
                  <m:oMath xmlns:m="http://schemas.openxmlformats.org/officeDocument/2006/math">
                    <m:sSub>
                      <m:sSubPr>
                        <m:ctrlPr>
                          <a:rPr lang="ar-AE" i="1" smtClean="0">
                            <a:solidFill>
                              <a:srgbClr val="660874"/>
                            </a:solidFill>
                            <a:latin typeface="Cambria Math" panose="02040503050406030204" pitchFamily="18" charset="0"/>
                          </a:rPr>
                        </m:ctrlPr>
                      </m:sSubPr>
                      <m:e>
                        <m:r>
                          <a:rPr lang="ar-AE">
                            <a:solidFill>
                              <a:srgbClr val="660874"/>
                            </a:solidFill>
                            <a:latin typeface="Cambria Math" panose="02040503050406030204" pitchFamily="18" charset="0"/>
                          </a:rPr>
                          <m:t>𝐿</m:t>
                        </m:r>
                      </m:e>
                      <m:sub>
                        <m:r>
                          <a:rPr lang="ar-AE">
                            <a:solidFill>
                              <a:srgbClr val="660874"/>
                            </a:solidFill>
                            <a:latin typeface="Cambria Math" panose="02040503050406030204" pitchFamily="18" charset="0"/>
                          </a:rPr>
                          <m:t>𝑟𝑒𝑔</m:t>
                        </m:r>
                      </m:sub>
                    </m:sSub>
                    <m:r>
                      <a:rPr lang="ar-AE">
                        <a:solidFill>
                          <a:srgbClr val="660874"/>
                        </a:solidFill>
                        <a:latin typeface="Cambria Math" panose="02040503050406030204" pitchFamily="18" charset="0"/>
                      </a:rPr>
                      <m:t>=</m:t>
                    </m:r>
                    <m:sSub>
                      <m:sSubPr>
                        <m:ctrlPr>
                          <a:rPr lang="ar-AE" i="1">
                            <a:solidFill>
                              <a:srgbClr val="660874"/>
                            </a:solidFill>
                            <a:latin typeface="Cambria Math" panose="02040503050406030204" pitchFamily="18" charset="0"/>
                          </a:rPr>
                        </m:ctrlPr>
                      </m:sSubPr>
                      <m:e>
                        <m:r>
                          <a:rPr lang="ar-AE">
                            <a:solidFill>
                              <a:srgbClr val="660874"/>
                            </a:solidFill>
                            <a:latin typeface="Cambria Math" panose="02040503050406030204" pitchFamily="18" charset="0"/>
                          </a:rPr>
                          <m:t>𝔼</m:t>
                        </m:r>
                      </m:e>
                      <m:sub>
                        <m:r>
                          <m:rPr>
                            <m:sty m:val="p"/>
                          </m:rPr>
                          <a:rPr lang="el-GR">
                            <a:solidFill>
                              <a:srgbClr val="660874"/>
                            </a:solidFill>
                            <a:latin typeface="Cambria Math" panose="02040503050406030204" pitchFamily="18" charset="0"/>
                          </a:rPr>
                          <m:t>Δ</m:t>
                        </m:r>
                        <m:acc>
                          <m:accPr>
                            <m:chr m:val="̂"/>
                            <m:ctrlPr>
                              <a:rPr lang="el-GR" i="1" smtClean="0">
                                <a:solidFill>
                                  <a:srgbClr val="660874"/>
                                </a:solidFill>
                                <a:latin typeface="Cambria Math" panose="02040503050406030204" pitchFamily="18" charset="0"/>
                              </a:rPr>
                            </m:ctrlPr>
                          </m:accPr>
                          <m:e>
                            <m:sSub>
                              <m:sSubPr>
                                <m:ctrlPr>
                                  <a:rPr lang="ar-AE" i="1" smtClean="0">
                                    <a:solidFill>
                                      <a:srgbClr val="660874"/>
                                    </a:solidFill>
                                    <a:latin typeface="Cambria Math" panose="02040503050406030204" pitchFamily="18" charset="0"/>
                                  </a:rPr>
                                </m:ctrlPr>
                              </m:sSubPr>
                              <m:e>
                                <m:r>
                                  <a:rPr lang="ar-AE">
                                    <a:solidFill>
                                      <a:srgbClr val="660874"/>
                                    </a:solidFill>
                                    <a:latin typeface="Cambria Math" panose="02040503050406030204" pitchFamily="18" charset="0"/>
                                  </a:rPr>
                                  <m:t>𝑥</m:t>
                                </m:r>
                              </m:e>
                              <m:sub>
                                <m:r>
                                  <a:rPr lang="ar-AE">
                                    <a:solidFill>
                                      <a:srgbClr val="660874"/>
                                    </a:solidFill>
                                    <a:latin typeface="Cambria Math" panose="02040503050406030204" pitchFamily="18" charset="0"/>
                                  </a:rPr>
                                  <m:t>0</m:t>
                                </m:r>
                              </m:sub>
                            </m:sSub>
                          </m:e>
                        </m:acc>
                        <m:r>
                          <a:rPr lang="ar-AE">
                            <a:solidFill>
                              <a:srgbClr val="660874"/>
                            </a:solidFill>
                            <a:latin typeface="Cambria Math" panose="02040503050406030204" pitchFamily="18" charset="0"/>
                          </a:rPr>
                          <m:t>,</m:t>
                        </m:r>
                        <m:r>
                          <a:rPr lang="ar-AE">
                            <a:solidFill>
                              <a:srgbClr val="660874"/>
                            </a:solidFill>
                            <a:latin typeface="Cambria Math" panose="02040503050406030204" pitchFamily="18" charset="0"/>
                          </a:rPr>
                          <m:t>𝜖</m:t>
                        </m:r>
                      </m:sub>
                    </m:sSub>
                    <m:r>
                      <a:rPr lang="ar-AE">
                        <a:solidFill>
                          <a:srgbClr val="660874"/>
                        </a:solidFill>
                        <a:latin typeface="Cambria Math" panose="02040503050406030204" pitchFamily="18" charset="0"/>
                      </a:rPr>
                      <m:t>[</m:t>
                    </m:r>
                    <m:rad>
                      <m:radPr>
                        <m:degHide m:val="on"/>
                        <m:ctrlPr>
                          <a:rPr lang="ar-AE" i="1">
                            <a:solidFill>
                              <a:srgbClr val="660874"/>
                            </a:solidFill>
                            <a:latin typeface="Cambria Math" panose="02040503050406030204" pitchFamily="18" charset="0"/>
                          </a:rPr>
                        </m:ctrlPr>
                      </m:radPr>
                      <m:deg/>
                      <m:e>
                        <m:r>
                          <a:rPr lang="ar-AE">
                            <a:solidFill>
                              <a:srgbClr val="660874"/>
                            </a:solidFill>
                            <a:latin typeface="Cambria Math" panose="02040503050406030204" pitchFamily="18" charset="0"/>
                          </a:rPr>
                          <m:t>1</m:t>
                        </m:r>
                        <m:r>
                          <a:rPr lang="ar-AE">
                            <a:solidFill>
                              <a:srgbClr val="660874"/>
                            </a:solidFill>
                            <a:latin typeface="Cambria Math" panose="02040503050406030204" pitchFamily="18" charset="0"/>
                          </a:rPr>
                          <m:t>−</m:t>
                        </m:r>
                        <m:acc>
                          <m:accPr>
                            <m:chr m:val="̅"/>
                            <m:ctrlPr>
                              <a:rPr lang="ar-AE" i="1" smtClean="0">
                                <a:solidFill>
                                  <a:srgbClr val="660874"/>
                                </a:solidFill>
                                <a:latin typeface="Cambria Math" panose="02040503050406030204" pitchFamily="18" charset="0"/>
                              </a:rPr>
                            </m:ctrlPr>
                          </m:accPr>
                          <m:e>
                            <m:sSub>
                              <m:sSubPr>
                                <m:ctrlPr>
                                  <a:rPr lang="ar-AE" i="1" smtClean="0">
                                    <a:solidFill>
                                      <a:srgbClr val="660874"/>
                                    </a:solidFill>
                                    <a:latin typeface="Cambria Math" panose="02040503050406030204" pitchFamily="18" charset="0"/>
                                  </a:rPr>
                                </m:ctrlPr>
                              </m:sSubPr>
                              <m:e>
                                <m:r>
                                  <a:rPr lang="ar-AE">
                                    <a:solidFill>
                                      <a:srgbClr val="660874"/>
                                    </a:solidFill>
                                    <a:latin typeface="Cambria Math" panose="02040503050406030204" pitchFamily="18" charset="0"/>
                                  </a:rPr>
                                  <m:t>𝛼</m:t>
                                </m:r>
                              </m:e>
                              <m:sub>
                                <m:r>
                                  <a:rPr lang="ar-AE">
                                    <a:solidFill>
                                      <a:srgbClr val="660874"/>
                                    </a:solidFill>
                                    <a:latin typeface="Cambria Math" panose="02040503050406030204" pitchFamily="18" charset="0"/>
                                  </a:rPr>
                                  <m:t>𝑡</m:t>
                                </m:r>
                              </m:sub>
                            </m:sSub>
                          </m:e>
                        </m:acc>
                      </m:e>
                    </m:rad>
                    <m:r>
                      <m:rPr>
                        <m:nor/>
                      </m:rPr>
                      <a:rPr lang="ar-AE">
                        <a:solidFill>
                          <a:srgbClr val="660874"/>
                        </a:solidFill>
                      </a:rPr>
                      <m:t> </m:t>
                    </m:r>
                    <m:r>
                      <a:rPr lang="ar-AE">
                        <a:solidFill>
                          <a:srgbClr val="660874"/>
                        </a:solidFill>
                        <a:latin typeface="Cambria Math" panose="02040503050406030204" pitchFamily="18" charset="0"/>
                      </a:rPr>
                      <m:t>∥</m:t>
                    </m:r>
                    <m:sSubSup>
                      <m:sSubSupPr>
                        <m:ctrlPr>
                          <a:rPr lang="ar-AE" i="1">
                            <a:solidFill>
                              <a:srgbClr val="660874"/>
                            </a:solidFill>
                            <a:latin typeface="Cambria Math" panose="02040503050406030204" pitchFamily="18" charset="0"/>
                          </a:rPr>
                        </m:ctrlPr>
                      </m:sSubSupPr>
                      <m:e>
                        <m:r>
                          <a:rPr lang="ar-AE">
                            <a:solidFill>
                              <a:srgbClr val="660874"/>
                            </a:solidFill>
                            <a:latin typeface="Cambria Math" panose="02040503050406030204" pitchFamily="18" charset="0"/>
                          </a:rPr>
                          <m:t>𝐽</m:t>
                        </m:r>
                      </m:e>
                      <m:sub>
                        <m:r>
                          <a:rPr lang="ar-AE">
                            <a:solidFill>
                              <a:srgbClr val="660874"/>
                            </a:solidFill>
                            <a:latin typeface="Cambria Math" panose="02040503050406030204" pitchFamily="18" charset="0"/>
                          </a:rPr>
                          <m:t>𝜖</m:t>
                        </m:r>
                      </m:sub>
                      <m:sup>
                        <m:r>
                          <a:rPr lang="ar-AE">
                            <a:solidFill>
                              <a:srgbClr val="660874"/>
                            </a:solidFill>
                            <a:latin typeface="Cambria Math" panose="02040503050406030204" pitchFamily="18" charset="0"/>
                          </a:rPr>
                          <m:t>𝑇</m:t>
                        </m:r>
                      </m:sup>
                    </m:sSubSup>
                    <m:r>
                      <m:rPr>
                        <m:sty m:val="p"/>
                      </m:rPr>
                      <a:rPr lang="el-GR">
                        <a:solidFill>
                          <a:srgbClr val="660874"/>
                        </a:solidFill>
                        <a:latin typeface="Cambria Math" panose="02040503050406030204" pitchFamily="18" charset="0"/>
                      </a:rPr>
                      <m:t>Δ</m:t>
                    </m:r>
                    <m:acc>
                      <m:accPr>
                        <m:chr m:val="̂"/>
                        <m:ctrlPr>
                          <a:rPr lang="el-GR" i="1" smtClean="0">
                            <a:solidFill>
                              <a:srgbClr val="660874"/>
                            </a:solidFill>
                            <a:latin typeface="Cambria Math" panose="02040503050406030204" pitchFamily="18" charset="0"/>
                          </a:rPr>
                        </m:ctrlPr>
                      </m:accPr>
                      <m:e>
                        <m:sSub>
                          <m:sSubPr>
                            <m:ctrlPr>
                              <a:rPr lang="ar-AE" i="1" smtClean="0">
                                <a:solidFill>
                                  <a:srgbClr val="660874"/>
                                </a:solidFill>
                                <a:latin typeface="Cambria Math" panose="02040503050406030204" pitchFamily="18" charset="0"/>
                              </a:rPr>
                            </m:ctrlPr>
                          </m:sSubPr>
                          <m:e>
                            <m:r>
                              <a:rPr lang="ar-AE">
                                <a:solidFill>
                                  <a:srgbClr val="660874"/>
                                </a:solidFill>
                                <a:latin typeface="Cambria Math" panose="02040503050406030204" pitchFamily="18" charset="0"/>
                              </a:rPr>
                              <m:t>𝑥</m:t>
                            </m:r>
                          </m:e>
                          <m:sub>
                            <m:r>
                              <a:rPr lang="ar-AE">
                                <a:solidFill>
                                  <a:srgbClr val="660874"/>
                                </a:solidFill>
                                <a:latin typeface="Cambria Math" panose="02040503050406030204" pitchFamily="18" charset="0"/>
                              </a:rPr>
                              <m:t>0</m:t>
                            </m:r>
                          </m:sub>
                        </m:sSub>
                      </m:e>
                    </m:acc>
                    <m:sSub>
                      <m:sSubPr>
                        <m:ctrlPr>
                          <a:rPr lang="ar-AE" i="1">
                            <a:solidFill>
                              <a:srgbClr val="660874"/>
                            </a:solidFill>
                            <a:latin typeface="Cambria Math" panose="02040503050406030204" pitchFamily="18" charset="0"/>
                          </a:rPr>
                        </m:ctrlPr>
                      </m:sSubPr>
                      <m:e>
                        <m:r>
                          <a:rPr lang="ar-AE">
                            <a:solidFill>
                              <a:srgbClr val="660874"/>
                            </a:solidFill>
                            <a:latin typeface="Cambria Math" panose="02040503050406030204" pitchFamily="18" charset="0"/>
                          </a:rPr>
                          <m:t>∥</m:t>
                        </m:r>
                      </m:e>
                      <m:sub>
                        <m:r>
                          <a:rPr lang="ar-AE">
                            <a:solidFill>
                              <a:srgbClr val="660874"/>
                            </a:solidFill>
                            <a:latin typeface="Cambria Math" panose="02040503050406030204" pitchFamily="18" charset="0"/>
                          </a:rPr>
                          <m:t>2</m:t>
                        </m:r>
                      </m:sub>
                    </m:sSub>
                    <m:r>
                      <a:rPr lang="ar-AE">
                        <a:solidFill>
                          <a:srgbClr val="660874"/>
                        </a:solidFill>
                        <a:latin typeface="Cambria Math" panose="02040503050406030204" pitchFamily="18" charset="0"/>
                      </a:rPr>
                      <m:t>−</m:t>
                    </m:r>
                    <m:r>
                      <a:rPr lang="en-US" b="0" i="0" smtClean="0">
                        <a:solidFill>
                          <a:srgbClr val="660874"/>
                        </a:solidFill>
                        <a:latin typeface="Cambria Math" panose="02040503050406030204" pitchFamily="18" charset="0"/>
                      </a:rPr>
                      <m:t> </m:t>
                    </m:r>
                    <m:r>
                      <a:rPr lang="ar-AE">
                        <a:solidFill>
                          <a:srgbClr val="660874"/>
                        </a:solidFill>
                        <a:latin typeface="Cambria Math" panose="02040503050406030204" pitchFamily="18" charset="0"/>
                      </a:rPr>
                      <m:t>𝑎</m:t>
                    </m:r>
                    <m:sSup>
                      <m:sSupPr>
                        <m:ctrlPr>
                          <a:rPr lang="ar-AE" i="1">
                            <a:solidFill>
                              <a:srgbClr val="660874"/>
                            </a:solidFill>
                            <a:latin typeface="Cambria Math" panose="02040503050406030204" pitchFamily="18" charset="0"/>
                          </a:rPr>
                        </m:ctrlPr>
                      </m:sSupPr>
                      <m:e>
                        <m:r>
                          <a:rPr lang="ar-AE">
                            <a:solidFill>
                              <a:srgbClr val="660874"/>
                            </a:solidFill>
                            <a:latin typeface="Cambria Math" panose="02040503050406030204" pitchFamily="18" charset="0"/>
                          </a:rPr>
                          <m:t>]</m:t>
                        </m:r>
                      </m:e>
                      <m:sup>
                        <m:r>
                          <a:rPr lang="ar-AE">
                            <a:solidFill>
                              <a:srgbClr val="660874"/>
                            </a:solidFill>
                            <a:latin typeface="Cambria Math" panose="02040503050406030204" pitchFamily="18" charset="0"/>
                          </a:rPr>
                          <m:t>2</m:t>
                        </m:r>
                      </m:sup>
                    </m:sSup>
                    <m:r>
                      <a:rPr lang="ar-AE" i="1">
                        <a:solidFill>
                          <a:srgbClr val="660874"/>
                        </a:solidFill>
                        <a:latin typeface="Cambria Math" panose="02040503050406030204" pitchFamily="18" charset="0"/>
                      </a:rPr>
                      <m:t> </m:t>
                    </m:r>
                    <m:r>
                      <a:rPr lang="en-US" b="0" i="1" smtClean="0">
                        <a:solidFill>
                          <a:srgbClr val="660874"/>
                        </a:solidFill>
                        <a:latin typeface="Cambria Math" panose="02040503050406030204" pitchFamily="18" charset="0"/>
                      </a:rPr>
                      <m:t>,</m:t>
                    </m:r>
                  </m:oMath>
                </a14:m>
                <a:endParaRPr lang="en-US" dirty="0">
                  <a:solidFill>
                    <a:srgbClr val="660874"/>
                  </a:solidFill>
                </a:endParaRPr>
              </a:p>
              <a:p>
                <a:r>
                  <a:rPr lang="en-US" dirty="0">
                    <a:solidFill>
                      <a:srgbClr val="660874"/>
                    </a:solidFill>
                  </a:rPr>
                  <a:t>We have </a:t>
                </a:r>
                <a14:m>
                  <m:oMath xmlns:m="http://schemas.openxmlformats.org/officeDocument/2006/math">
                    <m:sSubSup>
                      <m:sSubSupPr>
                        <m:ctrlPr>
                          <a:rPr lang="ar-AE" i="1" smtClean="0">
                            <a:solidFill>
                              <a:srgbClr val="660874"/>
                            </a:solidFill>
                            <a:latin typeface="Cambria Math" panose="02040503050406030204" pitchFamily="18" charset="0"/>
                          </a:rPr>
                        </m:ctrlPr>
                      </m:sSubSupPr>
                      <m:e>
                        <m:r>
                          <m:rPr>
                            <m:sty m:val="p"/>
                          </m:rPr>
                          <a:rPr lang="ar-AE" b="0" i="1">
                            <a:solidFill>
                              <a:srgbClr val="660874"/>
                            </a:solidFill>
                            <a:latin typeface="Cambria Math" panose="02040503050406030204" pitchFamily="18" charset="0"/>
                          </a:rPr>
                          <m:t>J</m:t>
                        </m:r>
                      </m:e>
                      <m:sub>
                        <m:r>
                          <m:rPr>
                            <m:sty m:val="p"/>
                          </m:rPr>
                          <a:rPr lang="ar-AE" b="0" i="1">
                            <a:solidFill>
                              <a:srgbClr val="660874"/>
                            </a:solidFill>
                            <a:latin typeface="Cambria Math" panose="02040503050406030204" pitchFamily="18" charset="0"/>
                          </a:rPr>
                          <m:t>ϵ</m:t>
                        </m:r>
                      </m:sub>
                      <m:sup>
                        <m:r>
                          <m:rPr>
                            <m:sty m:val="p"/>
                          </m:rPr>
                          <a:rPr lang="en-US" b="0">
                            <a:solidFill>
                              <a:srgbClr val="660874"/>
                            </a:solidFill>
                            <a:latin typeface="Cambria Math" panose="02040503050406030204" pitchFamily="18" charset="0"/>
                          </a:rPr>
                          <m:t>T</m:t>
                        </m:r>
                      </m:sup>
                    </m:sSubSup>
                    <m:r>
                      <a:rPr lang="en-US" b="0" i="1">
                        <a:solidFill>
                          <a:srgbClr val="660874"/>
                        </a:solidFill>
                        <a:latin typeface="Cambria Math" panose="02040503050406030204" pitchFamily="18" charset="0"/>
                      </a:rPr>
                      <m:t> </m:t>
                    </m:r>
                  </m:oMath>
                </a14:m>
                <a:r>
                  <a:rPr lang="en-US" dirty="0">
                    <a:solidFill>
                      <a:srgbClr val="660874"/>
                    </a:solidFill>
                  </a:rPr>
                  <a:t>= </a:t>
                </a:r>
                <a14:m>
                  <m:oMath xmlns:m="http://schemas.openxmlformats.org/officeDocument/2006/math">
                    <m:r>
                      <a:rPr lang="ar-AE" b="0" smtClean="0">
                        <a:solidFill>
                          <a:srgbClr val="660874"/>
                        </a:solidFill>
                        <a:latin typeface="Cambria Math" panose="02040503050406030204" pitchFamily="18" charset="0"/>
                      </a:rPr>
                      <m:t>𝒦</m:t>
                    </m:r>
                    <m:sSubSup>
                      <m:sSubSupPr>
                        <m:ctrlPr>
                          <a:rPr lang="ar-AE" i="1">
                            <a:solidFill>
                              <a:srgbClr val="660874"/>
                            </a:solidFill>
                            <a:latin typeface="Cambria Math" panose="02040503050406030204" pitchFamily="18" charset="0"/>
                          </a:rPr>
                        </m:ctrlPr>
                      </m:sSubSupPr>
                      <m:e>
                        <m:r>
                          <m:rPr>
                            <m:sty m:val="p"/>
                          </m:rPr>
                          <a:rPr lang="ar-AE" b="0" i="1">
                            <a:solidFill>
                              <a:srgbClr val="660874"/>
                            </a:solidFill>
                            <a:latin typeface="Cambria Math" panose="02040503050406030204" pitchFamily="18" charset="0"/>
                          </a:rPr>
                          <m:t>J</m:t>
                        </m:r>
                      </m:e>
                      <m:sub>
                        <m:r>
                          <m:rPr>
                            <m:sty m:val="p"/>
                          </m:rPr>
                          <a:rPr lang="ar-AE" b="0" i="1">
                            <a:solidFill>
                              <a:srgbClr val="660874"/>
                            </a:solidFill>
                            <a:latin typeface="Cambria Math" panose="02040503050406030204" pitchFamily="18" charset="0"/>
                          </a:rPr>
                          <m:t>ϵ</m:t>
                        </m:r>
                      </m:sub>
                      <m:sup>
                        <m:r>
                          <a:rPr lang="ar-AE" b="0">
                            <a:solidFill>
                              <a:srgbClr val="660874"/>
                            </a:solidFill>
                            <a:latin typeface="Cambria Math" panose="02040503050406030204" pitchFamily="18" charset="0"/>
                          </a:rPr>
                          <m:t>−</m:t>
                        </m:r>
                        <m:r>
                          <a:rPr lang="ar-AE" b="0">
                            <a:solidFill>
                              <a:srgbClr val="660874"/>
                            </a:solidFill>
                            <a:latin typeface="Cambria Math" panose="02040503050406030204" pitchFamily="18" charset="0"/>
                          </a:rPr>
                          <m:t>1</m:t>
                        </m:r>
                      </m:sup>
                    </m:sSubSup>
                  </m:oMath>
                </a14:m>
                <a:r>
                  <a:rPr lang="en-US" dirty="0">
                    <a:solidFill>
                      <a:srgbClr val="660874"/>
                    </a:solidFill>
                  </a:rPr>
                  <a:t>, thus  </a:t>
                </a:r>
                <a14:m>
                  <m:oMath xmlns:m="http://schemas.openxmlformats.org/officeDocument/2006/math">
                    <m:sSubSup>
                      <m:sSubSupPr>
                        <m:ctrlPr>
                          <a:rPr lang="ar-AE">
                            <a:solidFill>
                              <a:srgbClr val="660874"/>
                            </a:solidFill>
                          </a:rPr>
                        </m:ctrlPr>
                      </m:sSubSupPr>
                      <m:e>
                        <m:r>
                          <m:rPr>
                            <m:sty m:val="p"/>
                          </m:rPr>
                          <a:rPr lang="ar-AE" b="0" i="1">
                            <a:solidFill>
                              <a:srgbClr val="660874"/>
                            </a:solidFill>
                          </a:rPr>
                          <m:t>J</m:t>
                        </m:r>
                      </m:e>
                      <m:sub>
                        <m:r>
                          <m:rPr>
                            <m:sty m:val="p"/>
                          </m:rPr>
                          <a:rPr lang="ar-AE" b="0" i="1">
                            <a:solidFill>
                              <a:srgbClr val="660874"/>
                            </a:solidFill>
                          </a:rPr>
                          <m:t>ϵ</m:t>
                        </m:r>
                      </m:sub>
                      <m:sup>
                        <m:r>
                          <m:rPr>
                            <m:sty m:val="p"/>
                          </m:rPr>
                          <a:rPr lang="en-US" b="0">
                            <a:solidFill>
                              <a:srgbClr val="660874"/>
                            </a:solidFill>
                          </a:rPr>
                          <m:t>T</m:t>
                        </m:r>
                      </m:sup>
                    </m:sSubSup>
                    <m:r>
                      <m:rPr>
                        <m:sty m:val="p"/>
                      </m:rPr>
                      <a:rPr lang="el-GR" b="0">
                        <a:solidFill>
                          <a:srgbClr val="660874"/>
                        </a:solidFill>
                      </a:rPr>
                      <m:t>Δ</m:t>
                    </m:r>
                    <m:acc>
                      <m:accPr>
                        <m:chr m:val="̂"/>
                        <m:ctrlPr>
                          <a:rPr lang="ar-AE">
                            <a:solidFill>
                              <a:srgbClr val="660874"/>
                            </a:solidFill>
                          </a:rPr>
                        </m:ctrlPr>
                      </m:accPr>
                      <m:e>
                        <m:sSub>
                          <m:sSubPr>
                            <m:ctrlPr>
                              <a:rPr lang="ar-AE">
                                <a:solidFill>
                                  <a:srgbClr val="660874"/>
                                </a:solidFill>
                              </a:rPr>
                            </m:ctrlPr>
                          </m:sSubPr>
                          <m:e>
                            <m:r>
                              <m:rPr>
                                <m:sty m:val="p"/>
                              </m:rPr>
                              <a:rPr lang="ar-AE" b="0" i="1">
                                <a:solidFill>
                                  <a:srgbClr val="660874"/>
                                </a:solidFill>
                              </a:rPr>
                              <m:t>x</m:t>
                            </m:r>
                          </m:e>
                          <m:sub>
                            <m:r>
                              <a:rPr lang="ar-AE" b="0">
                                <a:solidFill>
                                  <a:srgbClr val="660874"/>
                                </a:solidFill>
                              </a:rPr>
                              <m:t>0</m:t>
                            </m:r>
                          </m:sub>
                        </m:sSub>
                      </m:e>
                    </m:acc>
                    <m:r>
                      <a:rPr lang="ar-AE" b="0">
                        <a:solidFill>
                          <a:srgbClr val="660874"/>
                        </a:solidFill>
                      </a:rPr>
                      <m:t>=</m:t>
                    </m:r>
                    <m:r>
                      <a:rPr lang="ar-AE" b="0">
                        <a:solidFill>
                          <a:srgbClr val="660874"/>
                        </a:solidFill>
                      </a:rPr>
                      <m:t>𝒦</m:t>
                    </m:r>
                    <m:sSubSup>
                      <m:sSubSupPr>
                        <m:ctrlPr>
                          <a:rPr lang="ar-AE">
                            <a:solidFill>
                              <a:srgbClr val="660874"/>
                            </a:solidFill>
                          </a:rPr>
                        </m:ctrlPr>
                      </m:sSubSupPr>
                      <m:e>
                        <m:r>
                          <m:rPr>
                            <m:sty m:val="p"/>
                          </m:rPr>
                          <a:rPr lang="ar-AE" b="0" i="1">
                            <a:solidFill>
                              <a:srgbClr val="660874"/>
                            </a:solidFill>
                          </a:rPr>
                          <m:t>J</m:t>
                        </m:r>
                      </m:e>
                      <m:sub>
                        <m:r>
                          <m:rPr>
                            <m:sty m:val="p"/>
                          </m:rPr>
                          <a:rPr lang="ar-AE" b="0" i="1">
                            <a:solidFill>
                              <a:srgbClr val="660874"/>
                            </a:solidFill>
                          </a:rPr>
                          <m:t>ϵ</m:t>
                        </m:r>
                      </m:sub>
                      <m:sup>
                        <m:r>
                          <a:rPr lang="ar-AE" b="0">
                            <a:solidFill>
                              <a:srgbClr val="660874"/>
                            </a:solidFill>
                          </a:rPr>
                          <m:t>−</m:t>
                        </m:r>
                        <m:r>
                          <a:rPr lang="ar-AE" b="0">
                            <a:solidFill>
                              <a:srgbClr val="660874"/>
                            </a:solidFill>
                          </a:rPr>
                          <m:t>1</m:t>
                        </m:r>
                      </m:sup>
                    </m:sSubSup>
                    <m:r>
                      <m:rPr>
                        <m:sty m:val="p"/>
                      </m:rPr>
                      <a:rPr lang="el-GR" b="0">
                        <a:solidFill>
                          <a:srgbClr val="660874"/>
                        </a:solidFill>
                      </a:rPr>
                      <m:t>Δ</m:t>
                    </m:r>
                    <m:acc>
                      <m:accPr>
                        <m:chr m:val="̂"/>
                        <m:ctrlPr>
                          <a:rPr lang="ar-AE">
                            <a:solidFill>
                              <a:srgbClr val="660874"/>
                            </a:solidFill>
                          </a:rPr>
                        </m:ctrlPr>
                      </m:accPr>
                      <m:e>
                        <m:sSub>
                          <m:sSubPr>
                            <m:ctrlPr>
                              <a:rPr lang="ar-AE">
                                <a:solidFill>
                                  <a:srgbClr val="660874"/>
                                </a:solidFill>
                              </a:rPr>
                            </m:ctrlPr>
                          </m:sSubPr>
                          <m:e>
                            <m:r>
                              <m:rPr>
                                <m:sty m:val="p"/>
                              </m:rPr>
                              <a:rPr lang="ar-AE" b="0" i="1">
                                <a:solidFill>
                                  <a:srgbClr val="660874"/>
                                </a:solidFill>
                              </a:rPr>
                              <m:t>x</m:t>
                            </m:r>
                          </m:e>
                          <m:sub>
                            <m:r>
                              <a:rPr lang="ar-AE" b="0">
                                <a:solidFill>
                                  <a:srgbClr val="660874"/>
                                </a:solidFill>
                              </a:rPr>
                              <m:t>0</m:t>
                            </m:r>
                          </m:sub>
                        </m:sSub>
                      </m:e>
                    </m:acc>
                    <m:r>
                      <a:rPr lang="ar-AE" b="0">
                        <a:solidFill>
                          <a:srgbClr val="660874"/>
                        </a:solidFill>
                      </a:rPr>
                      <m:t>=</m:t>
                    </m:r>
                    <m:r>
                      <a:rPr lang="ar-AE" b="0">
                        <a:solidFill>
                          <a:srgbClr val="660874"/>
                        </a:solidFill>
                      </a:rPr>
                      <m:t>𝒦</m:t>
                    </m:r>
                    <m:f>
                      <m:fPr>
                        <m:ctrlPr>
                          <a:rPr lang="ar-AE">
                            <a:solidFill>
                              <a:srgbClr val="660874"/>
                            </a:solidFill>
                          </a:rPr>
                        </m:ctrlPr>
                      </m:fPr>
                      <m:num>
                        <m:r>
                          <a:rPr lang="ar-AE" b="0" i="1">
                            <a:solidFill>
                              <a:srgbClr val="660874"/>
                            </a:solidFill>
                          </a:rPr>
                          <m:t>∂</m:t>
                        </m:r>
                        <m:r>
                          <m:rPr>
                            <m:sty m:val="p"/>
                          </m:rPr>
                          <a:rPr lang="ar-AE" b="0" i="1">
                            <a:solidFill>
                              <a:srgbClr val="660874"/>
                            </a:solidFill>
                          </a:rPr>
                          <m:t>ϵ</m:t>
                        </m:r>
                      </m:num>
                      <m:den>
                        <m:r>
                          <a:rPr lang="ar-AE" b="0" i="1">
                            <a:solidFill>
                              <a:srgbClr val="660874"/>
                            </a:solidFill>
                          </a:rPr>
                          <m:t>∂</m:t>
                        </m:r>
                        <m:acc>
                          <m:accPr>
                            <m:chr m:val="̂"/>
                            <m:ctrlPr>
                              <a:rPr lang="ar-AE">
                                <a:solidFill>
                                  <a:srgbClr val="660874"/>
                                </a:solidFill>
                              </a:rPr>
                            </m:ctrlPr>
                          </m:accPr>
                          <m:e>
                            <m:sSub>
                              <m:sSubPr>
                                <m:ctrlPr>
                                  <a:rPr lang="ar-AE">
                                    <a:solidFill>
                                      <a:srgbClr val="660874"/>
                                    </a:solidFill>
                                  </a:rPr>
                                </m:ctrlPr>
                              </m:sSubPr>
                              <m:e>
                                <m:r>
                                  <m:rPr>
                                    <m:sty m:val="p"/>
                                  </m:rPr>
                                  <a:rPr lang="ar-AE" b="0" i="1">
                                    <a:solidFill>
                                      <a:srgbClr val="660874"/>
                                    </a:solidFill>
                                  </a:rPr>
                                  <m:t>x</m:t>
                                </m:r>
                              </m:e>
                              <m:sub>
                                <m:r>
                                  <a:rPr lang="ar-AE" b="0">
                                    <a:solidFill>
                                      <a:srgbClr val="660874"/>
                                    </a:solidFill>
                                  </a:rPr>
                                  <m:t>0</m:t>
                                </m:r>
                              </m:sub>
                            </m:sSub>
                          </m:e>
                        </m:acc>
                      </m:den>
                    </m:f>
                    <m:r>
                      <a:rPr lang="ar-AE" b="0">
                        <a:solidFill>
                          <a:srgbClr val="660874"/>
                        </a:solidFill>
                      </a:rPr>
                      <m:t>⋅</m:t>
                    </m:r>
                    <m:r>
                      <m:rPr>
                        <m:sty m:val="p"/>
                      </m:rPr>
                      <a:rPr lang="el-GR" b="0">
                        <a:solidFill>
                          <a:srgbClr val="660874"/>
                        </a:solidFill>
                      </a:rPr>
                      <m:t>Δ</m:t>
                    </m:r>
                    <m:acc>
                      <m:accPr>
                        <m:chr m:val="̂"/>
                        <m:ctrlPr>
                          <a:rPr lang="ar-AE">
                            <a:solidFill>
                              <a:srgbClr val="660874"/>
                            </a:solidFill>
                          </a:rPr>
                        </m:ctrlPr>
                      </m:accPr>
                      <m:e>
                        <m:sSub>
                          <m:sSubPr>
                            <m:ctrlPr>
                              <a:rPr lang="ar-AE">
                                <a:solidFill>
                                  <a:srgbClr val="660874"/>
                                </a:solidFill>
                              </a:rPr>
                            </m:ctrlPr>
                          </m:sSubPr>
                          <m:e>
                            <m:r>
                              <m:rPr>
                                <m:sty m:val="p"/>
                              </m:rPr>
                              <a:rPr lang="ar-AE" b="0" i="1">
                                <a:solidFill>
                                  <a:srgbClr val="660874"/>
                                </a:solidFill>
                              </a:rPr>
                              <m:t>x</m:t>
                            </m:r>
                          </m:e>
                          <m:sub>
                            <m:r>
                              <a:rPr lang="ar-AE" b="0">
                                <a:solidFill>
                                  <a:srgbClr val="660874"/>
                                </a:solidFill>
                              </a:rPr>
                              <m:t>0</m:t>
                            </m:r>
                          </m:sub>
                        </m:sSub>
                      </m:e>
                    </m:acc>
                    <m:r>
                      <a:rPr lang="ar-AE" b="0">
                        <a:solidFill>
                          <a:srgbClr val="660874"/>
                        </a:solidFill>
                      </a:rPr>
                      <m:t>=</m:t>
                    </m:r>
                    <m:r>
                      <a:rPr lang="ar-AE" b="0">
                        <a:solidFill>
                          <a:srgbClr val="660874"/>
                        </a:solidFill>
                      </a:rPr>
                      <m:t>𝒦</m:t>
                    </m:r>
                    <m:r>
                      <m:rPr>
                        <m:sty m:val="p"/>
                      </m:rPr>
                      <a:rPr lang="el-GR" b="0">
                        <a:solidFill>
                          <a:srgbClr val="660874"/>
                        </a:solidFill>
                      </a:rPr>
                      <m:t>Δ</m:t>
                    </m:r>
                    <m:r>
                      <m:rPr>
                        <m:sty m:val="p"/>
                      </m:rPr>
                      <a:rPr lang="el-GR" b="0" i="1">
                        <a:solidFill>
                          <a:srgbClr val="660874"/>
                        </a:solidFill>
                      </a:rPr>
                      <m:t>ϵ</m:t>
                    </m:r>
                    <m:r>
                      <a:rPr lang="el-GR" b="0">
                        <a:solidFill>
                          <a:srgbClr val="660874"/>
                        </a:solidFill>
                      </a:rPr>
                      <m:t>.</m:t>
                    </m:r>
                  </m:oMath>
                </a14:m>
                <a:endParaRPr lang="en-US" dirty="0">
                  <a:solidFill>
                    <a:srgbClr val="660874"/>
                  </a:solidFill>
                </a:endParaRPr>
              </a:p>
              <a:p>
                <a:r>
                  <a:rPr lang="en-US" dirty="0">
                    <a:solidFill>
                      <a:srgbClr val="660874"/>
                    </a:solidFill>
                  </a:rPr>
                  <a:t>- When </a:t>
                </a:r>
                <a14:m>
                  <m:oMath xmlns:m="http://schemas.openxmlformats.org/officeDocument/2006/math">
                    <m:sSub>
                      <m:sSubPr>
                        <m:ctrlPr>
                          <a:rPr lang="ar-AE" i="1" smtClean="0">
                            <a:solidFill>
                              <a:srgbClr val="660874"/>
                            </a:solidFill>
                            <a:latin typeface="Cambria Math" panose="02040503050406030204" pitchFamily="18" charset="0"/>
                          </a:rPr>
                        </m:ctrlPr>
                      </m:sSubPr>
                      <m:e>
                        <m:r>
                          <a:rPr lang="ar-AE">
                            <a:solidFill>
                              <a:srgbClr val="660874"/>
                            </a:solidFill>
                            <a:latin typeface="Cambria Math" panose="02040503050406030204" pitchFamily="18" charset="0"/>
                          </a:rPr>
                          <m:t>𝐿</m:t>
                        </m:r>
                      </m:e>
                      <m:sub>
                        <m:r>
                          <a:rPr lang="ar-AE">
                            <a:solidFill>
                              <a:srgbClr val="660874"/>
                            </a:solidFill>
                            <a:latin typeface="Cambria Math" panose="02040503050406030204" pitchFamily="18" charset="0"/>
                          </a:rPr>
                          <m:t>𝑟𝑒𝑔</m:t>
                        </m:r>
                      </m:sub>
                    </m:sSub>
                  </m:oMath>
                </a14:m>
                <a:r>
                  <a:rPr lang="en-US" dirty="0">
                    <a:solidFill>
                      <a:srgbClr val="660874"/>
                    </a:solidFill>
                  </a:rPr>
                  <a:t> reaches the minimum a is equivalent to </a:t>
                </a:r>
                <a14:m>
                  <m:oMath xmlns:m="http://schemas.openxmlformats.org/officeDocument/2006/math">
                    <m:rad>
                      <m:radPr>
                        <m:degHide m:val="on"/>
                        <m:ctrlPr>
                          <a:rPr lang="ar-AE" i="1" smtClean="0">
                            <a:solidFill>
                              <a:srgbClr val="660874"/>
                            </a:solidFill>
                            <a:latin typeface="Cambria Math" panose="02040503050406030204" pitchFamily="18" charset="0"/>
                          </a:rPr>
                        </m:ctrlPr>
                      </m:radPr>
                      <m:deg/>
                      <m:e>
                        <m:r>
                          <a:rPr lang="ar-AE">
                            <a:solidFill>
                              <a:srgbClr val="660874"/>
                            </a:solidFill>
                            <a:latin typeface="Cambria Math" panose="02040503050406030204" pitchFamily="18" charset="0"/>
                          </a:rPr>
                          <m:t>1</m:t>
                        </m:r>
                        <m:r>
                          <a:rPr lang="ar-AE">
                            <a:solidFill>
                              <a:srgbClr val="660874"/>
                            </a:solidFill>
                            <a:latin typeface="Cambria Math" panose="02040503050406030204" pitchFamily="18" charset="0"/>
                          </a:rPr>
                          <m:t>−</m:t>
                        </m:r>
                        <m:acc>
                          <m:accPr>
                            <m:chr m:val="̅"/>
                            <m:ctrlPr>
                              <a:rPr lang="ar-AE" i="1" smtClean="0">
                                <a:solidFill>
                                  <a:srgbClr val="660874"/>
                                </a:solidFill>
                                <a:latin typeface="Cambria Math" panose="02040503050406030204" pitchFamily="18" charset="0"/>
                              </a:rPr>
                            </m:ctrlPr>
                          </m:accPr>
                          <m:e>
                            <m:sSub>
                              <m:sSubPr>
                                <m:ctrlPr>
                                  <a:rPr lang="ar-AE" i="1" smtClean="0">
                                    <a:solidFill>
                                      <a:srgbClr val="660874"/>
                                    </a:solidFill>
                                    <a:latin typeface="Cambria Math" panose="02040503050406030204" pitchFamily="18" charset="0"/>
                                  </a:rPr>
                                </m:ctrlPr>
                              </m:sSubPr>
                              <m:e>
                                <m:r>
                                  <a:rPr lang="ar-AE">
                                    <a:solidFill>
                                      <a:srgbClr val="660874"/>
                                    </a:solidFill>
                                    <a:latin typeface="Cambria Math" panose="02040503050406030204" pitchFamily="18" charset="0"/>
                                  </a:rPr>
                                  <m:t>𝛼</m:t>
                                </m:r>
                              </m:e>
                              <m:sub>
                                <m:r>
                                  <a:rPr lang="ar-AE">
                                    <a:solidFill>
                                      <a:srgbClr val="660874"/>
                                    </a:solidFill>
                                    <a:latin typeface="Cambria Math" panose="02040503050406030204" pitchFamily="18" charset="0"/>
                                  </a:rPr>
                                  <m:t>𝑡</m:t>
                                </m:r>
                              </m:sub>
                            </m:sSub>
                          </m:e>
                        </m:acc>
                      </m:e>
                    </m:rad>
                    <m:r>
                      <m:rPr>
                        <m:nor/>
                      </m:rPr>
                      <a:rPr lang="ar-AE">
                        <a:solidFill>
                          <a:srgbClr val="660874"/>
                        </a:solidFill>
                      </a:rPr>
                      <m:t> </m:t>
                    </m:r>
                    <m:r>
                      <a:rPr lang="ar-AE">
                        <a:solidFill>
                          <a:srgbClr val="660874"/>
                        </a:solidFill>
                        <a:latin typeface="Cambria Math" panose="02040503050406030204" pitchFamily="18" charset="0"/>
                      </a:rPr>
                      <m:t>∥</m:t>
                    </m:r>
                    <m:sSubSup>
                      <m:sSubSupPr>
                        <m:ctrlPr>
                          <a:rPr lang="ar-AE" i="1">
                            <a:solidFill>
                              <a:srgbClr val="660874"/>
                            </a:solidFill>
                            <a:latin typeface="Cambria Math" panose="02040503050406030204" pitchFamily="18" charset="0"/>
                          </a:rPr>
                        </m:ctrlPr>
                      </m:sSubSupPr>
                      <m:e>
                        <m:r>
                          <a:rPr lang="ar-AE">
                            <a:solidFill>
                              <a:srgbClr val="660874"/>
                            </a:solidFill>
                            <a:latin typeface="Cambria Math" panose="02040503050406030204" pitchFamily="18" charset="0"/>
                          </a:rPr>
                          <m:t>𝐽</m:t>
                        </m:r>
                      </m:e>
                      <m:sub>
                        <m:r>
                          <a:rPr lang="ar-AE">
                            <a:solidFill>
                              <a:srgbClr val="660874"/>
                            </a:solidFill>
                            <a:latin typeface="Cambria Math" panose="02040503050406030204" pitchFamily="18" charset="0"/>
                          </a:rPr>
                          <m:t>𝜖</m:t>
                        </m:r>
                      </m:sub>
                      <m:sup>
                        <m:r>
                          <a:rPr lang="ar-AE">
                            <a:solidFill>
                              <a:srgbClr val="660874"/>
                            </a:solidFill>
                            <a:latin typeface="Cambria Math" panose="02040503050406030204" pitchFamily="18" charset="0"/>
                          </a:rPr>
                          <m:t>𝑇</m:t>
                        </m:r>
                      </m:sup>
                    </m:sSubSup>
                    <m:r>
                      <m:rPr>
                        <m:sty m:val="p"/>
                      </m:rPr>
                      <a:rPr lang="el-GR">
                        <a:solidFill>
                          <a:srgbClr val="660874"/>
                        </a:solidFill>
                        <a:latin typeface="Cambria Math" panose="02040503050406030204" pitchFamily="18" charset="0"/>
                      </a:rPr>
                      <m:t>Δ</m:t>
                    </m:r>
                    <m:acc>
                      <m:accPr>
                        <m:chr m:val="̂"/>
                        <m:ctrlPr>
                          <a:rPr lang="el-GR" i="1" smtClean="0">
                            <a:solidFill>
                              <a:srgbClr val="660874"/>
                            </a:solidFill>
                            <a:latin typeface="Cambria Math" panose="02040503050406030204" pitchFamily="18" charset="0"/>
                          </a:rPr>
                        </m:ctrlPr>
                      </m:accPr>
                      <m:e>
                        <m:sSub>
                          <m:sSubPr>
                            <m:ctrlPr>
                              <a:rPr lang="ar-AE" i="1" smtClean="0">
                                <a:solidFill>
                                  <a:srgbClr val="660874"/>
                                </a:solidFill>
                                <a:latin typeface="Cambria Math" panose="02040503050406030204" pitchFamily="18" charset="0"/>
                              </a:rPr>
                            </m:ctrlPr>
                          </m:sSubPr>
                          <m:e>
                            <m:r>
                              <a:rPr lang="ar-AE">
                                <a:solidFill>
                                  <a:srgbClr val="660874"/>
                                </a:solidFill>
                                <a:latin typeface="Cambria Math" panose="02040503050406030204" pitchFamily="18" charset="0"/>
                              </a:rPr>
                              <m:t>𝑥</m:t>
                            </m:r>
                          </m:e>
                          <m:sub>
                            <m:r>
                              <a:rPr lang="ar-AE">
                                <a:solidFill>
                                  <a:srgbClr val="660874"/>
                                </a:solidFill>
                                <a:latin typeface="Cambria Math" panose="02040503050406030204" pitchFamily="18" charset="0"/>
                              </a:rPr>
                              <m:t>0</m:t>
                            </m:r>
                          </m:sub>
                        </m:sSub>
                      </m:e>
                    </m:acc>
                    <m:sSub>
                      <m:sSubPr>
                        <m:ctrlPr>
                          <a:rPr lang="ar-AE" i="1">
                            <a:solidFill>
                              <a:srgbClr val="660874"/>
                            </a:solidFill>
                            <a:latin typeface="Cambria Math" panose="02040503050406030204" pitchFamily="18" charset="0"/>
                          </a:rPr>
                        </m:ctrlPr>
                      </m:sSubPr>
                      <m:e>
                        <m:r>
                          <a:rPr lang="ar-AE">
                            <a:solidFill>
                              <a:srgbClr val="660874"/>
                            </a:solidFill>
                            <a:latin typeface="Cambria Math" panose="02040503050406030204" pitchFamily="18" charset="0"/>
                          </a:rPr>
                          <m:t>∥</m:t>
                        </m:r>
                      </m:e>
                      <m:sub>
                        <m:r>
                          <a:rPr lang="ar-AE">
                            <a:solidFill>
                              <a:srgbClr val="660874"/>
                            </a:solidFill>
                            <a:latin typeface="Cambria Math" panose="02040503050406030204" pitchFamily="18" charset="0"/>
                          </a:rPr>
                          <m:t>2</m:t>
                        </m:r>
                      </m:sub>
                    </m:sSub>
                  </m:oMath>
                </a14:m>
                <a:r>
                  <a:rPr lang="en-US" dirty="0">
                    <a:solidFill>
                      <a:srgbClr val="660874"/>
                    </a:solidFill>
                  </a:rPr>
                  <a:t>. Therefore, </a:t>
                </a:r>
              </a:p>
              <a:p>
                <a:pPr>
                  <a:lnSpc>
                    <a:spcPct val="150000"/>
                  </a:lnSpc>
                </a:pPr>
                <a14:m>
                  <m:oMathPara xmlns:m="http://schemas.openxmlformats.org/officeDocument/2006/math">
                    <m:oMathParaPr>
                      <m:jc m:val="center"/>
                    </m:oMathParaPr>
                    <m:oMath xmlns:m="http://schemas.openxmlformats.org/officeDocument/2006/math">
                      <m:r>
                        <a:rPr lang="en-US">
                          <a:solidFill>
                            <a:srgbClr val="660874"/>
                          </a:solidFill>
                        </a:rPr>
                        <m:t>𝑎</m:t>
                      </m:r>
                      <m:r>
                        <a:rPr lang="en-US">
                          <a:solidFill>
                            <a:srgbClr val="660874"/>
                          </a:solidFill>
                        </a:rPr>
                        <m:t>=</m:t>
                      </m:r>
                      <m:rad>
                        <m:radPr>
                          <m:degHide m:val="on"/>
                          <m:ctrlPr>
                            <a:rPr lang="ar-AE">
                              <a:solidFill>
                                <a:srgbClr val="660874"/>
                              </a:solidFill>
                            </a:rPr>
                          </m:ctrlPr>
                        </m:radPr>
                        <m:deg/>
                        <m:e>
                          <m:r>
                            <a:rPr lang="ar-AE">
                              <a:solidFill>
                                <a:srgbClr val="660874"/>
                              </a:solidFill>
                            </a:rPr>
                            <m:t>1</m:t>
                          </m:r>
                          <m:r>
                            <a:rPr lang="ar-AE">
                              <a:solidFill>
                                <a:srgbClr val="660874"/>
                              </a:solidFill>
                            </a:rPr>
                            <m:t>−</m:t>
                          </m:r>
                          <m:acc>
                            <m:accPr>
                              <m:chr m:val="̅"/>
                              <m:ctrlPr>
                                <a:rPr lang="ar-AE" i="1" smtClean="0">
                                  <a:solidFill>
                                    <a:srgbClr val="660874"/>
                                  </a:solidFill>
                                  <a:latin typeface="Cambria Math" panose="02040503050406030204" pitchFamily="18" charset="0"/>
                                </a:rPr>
                              </m:ctrlPr>
                            </m:accPr>
                            <m:e>
                              <m:sSub>
                                <m:sSubPr>
                                  <m:ctrlPr>
                                    <a:rPr lang="ar-AE" i="1" smtClean="0">
                                      <a:solidFill>
                                        <a:srgbClr val="660874"/>
                                      </a:solidFill>
                                      <a:latin typeface="Cambria Math" panose="02040503050406030204" pitchFamily="18" charset="0"/>
                                    </a:rPr>
                                  </m:ctrlPr>
                                </m:sSubPr>
                                <m:e>
                                  <m:r>
                                    <a:rPr lang="ar-AE">
                                      <a:solidFill>
                                        <a:srgbClr val="660874"/>
                                      </a:solidFill>
                                      <a:latin typeface="Cambria Math" panose="02040503050406030204" pitchFamily="18" charset="0"/>
                                    </a:rPr>
                                    <m:t>𝛼</m:t>
                                  </m:r>
                                </m:e>
                                <m:sub>
                                  <m:r>
                                    <a:rPr lang="ar-AE">
                                      <a:solidFill>
                                        <a:srgbClr val="660874"/>
                                      </a:solidFill>
                                      <a:latin typeface="Cambria Math" panose="02040503050406030204" pitchFamily="18" charset="0"/>
                                    </a:rPr>
                                    <m:t>𝑡</m:t>
                                  </m:r>
                                </m:sub>
                              </m:sSub>
                            </m:e>
                          </m:acc>
                        </m:e>
                      </m:rad>
                      <m:r>
                        <a:rPr lang="ar-AE">
                          <a:solidFill>
                            <a:srgbClr val="660874"/>
                          </a:solidFill>
                        </a:rPr>
                        <m:t>∥</m:t>
                      </m:r>
                      <m:sSubSup>
                        <m:sSubSupPr>
                          <m:ctrlPr>
                            <a:rPr lang="ar-AE" i="1" smtClean="0">
                              <a:solidFill>
                                <a:srgbClr val="660874"/>
                              </a:solidFill>
                              <a:latin typeface="Cambria Math" panose="02040503050406030204" pitchFamily="18" charset="0"/>
                            </a:rPr>
                          </m:ctrlPr>
                        </m:sSubSupPr>
                        <m:e>
                          <m:r>
                            <a:rPr lang="ar-AE">
                              <a:solidFill>
                                <a:srgbClr val="660874"/>
                              </a:solidFill>
                              <a:latin typeface="Cambria Math" panose="02040503050406030204" pitchFamily="18" charset="0"/>
                            </a:rPr>
                            <m:t>𝐽</m:t>
                          </m:r>
                        </m:e>
                        <m:sub>
                          <m:r>
                            <a:rPr lang="ar-AE">
                              <a:solidFill>
                                <a:srgbClr val="660874"/>
                              </a:solidFill>
                              <a:latin typeface="Cambria Math" panose="02040503050406030204" pitchFamily="18" charset="0"/>
                            </a:rPr>
                            <m:t>𝜖</m:t>
                          </m:r>
                        </m:sub>
                        <m:sup>
                          <m:r>
                            <a:rPr lang="ar-AE">
                              <a:solidFill>
                                <a:srgbClr val="660874"/>
                              </a:solidFill>
                              <a:latin typeface="Cambria Math" panose="02040503050406030204" pitchFamily="18" charset="0"/>
                            </a:rPr>
                            <m:t>𝑇</m:t>
                          </m:r>
                        </m:sup>
                      </m:sSubSup>
                      <m:r>
                        <m:rPr>
                          <m:sty m:val="p"/>
                        </m:rPr>
                        <a:rPr lang="el-GR">
                          <a:solidFill>
                            <a:srgbClr val="660874"/>
                          </a:solidFill>
                        </a:rPr>
                        <m:t>Δ</m:t>
                      </m:r>
                      <m:acc>
                        <m:accPr>
                          <m:chr m:val="̂"/>
                          <m:ctrlPr>
                            <a:rPr lang="ar-AE">
                              <a:solidFill>
                                <a:srgbClr val="660874"/>
                              </a:solidFill>
                            </a:rPr>
                          </m:ctrlPr>
                        </m:accPr>
                        <m:e>
                          <m:sSub>
                            <m:sSubPr>
                              <m:ctrlPr>
                                <a:rPr lang="ar-AE">
                                  <a:solidFill>
                                    <a:srgbClr val="660874"/>
                                  </a:solidFill>
                                </a:rPr>
                              </m:ctrlPr>
                            </m:sSubPr>
                            <m:e>
                              <m:r>
                                <a:rPr lang="ar-AE">
                                  <a:solidFill>
                                    <a:srgbClr val="660874"/>
                                  </a:solidFill>
                                </a:rPr>
                                <m:t>𝒙</m:t>
                              </m:r>
                            </m:e>
                            <m:sub>
                              <m:r>
                                <a:rPr lang="ar-AE">
                                  <a:solidFill>
                                    <a:srgbClr val="660874"/>
                                  </a:solidFill>
                                </a:rPr>
                                <m:t>0</m:t>
                              </m:r>
                            </m:sub>
                          </m:sSub>
                        </m:e>
                      </m:acc>
                      <m:sSub>
                        <m:sSubPr>
                          <m:ctrlPr>
                            <a:rPr lang="ar-AE">
                              <a:solidFill>
                                <a:srgbClr val="660874"/>
                              </a:solidFill>
                            </a:rPr>
                          </m:ctrlPr>
                        </m:sSubPr>
                        <m:e>
                          <m:r>
                            <a:rPr lang="ar-AE">
                              <a:solidFill>
                                <a:srgbClr val="660874"/>
                              </a:solidFill>
                            </a:rPr>
                            <m:t>∥</m:t>
                          </m:r>
                        </m:e>
                        <m:sub>
                          <m:r>
                            <a:rPr lang="ar-AE">
                              <a:solidFill>
                                <a:srgbClr val="660874"/>
                              </a:solidFill>
                            </a:rPr>
                            <m:t>2</m:t>
                          </m:r>
                        </m:sub>
                      </m:sSub>
                      <m:r>
                        <a:rPr lang="ar-AE">
                          <a:solidFill>
                            <a:srgbClr val="660874"/>
                          </a:solidFill>
                        </a:rPr>
                        <m:t>=</m:t>
                      </m:r>
                      <m:rad>
                        <m:radPr>
                          <m:degHide m:val="on"/>
                          <m:ctrlPr>
                            <a:rPr lang="ar-AE">
                              <a:solidFill>
                                <a:srgbClr val="660874"/>
                              </a:solidFill>
                            </a:rPr>
                          </m:ctrlPr>
                        </m:radPr>
                        <m:deg/>
                        <m:e>
                          <m:r>
                            <a:rPr lang="ar-AE">
                              <a:solidFill>
                                <a:srgbClr val="660874"/>
                              </a:solidFill>
                            </a:rPr>
                            <m:t>1</m:t>
                          </m:r>
                          <m:r>
                            <a:rPr lang="ar-AE">
                              <a:solidFill>
                                <a:srgbClr val="660874"/>
                              </a:solidFill>
                            </a:rPr>
                            <m:t>−</m:t>
                          </m:r>
                          <m:acc>
                            <m:accPr>
                              <m:chr m:val="̅"/>
                              <m:ctrlPr>
                                <a:rPr lang="ar-AE" i="1" smtClean="0">
                                  <a:solidFill>
                                    <a:srgbClr val="660874"/>
                                  </a:solidFill>
                                  <a:latin typeface="Cambria Math" panose="02040503050406030204" pitchFamily="18" charset="0"/>
                                </a:rPr>
                              </m:ctrlPr>
                            </m:accPr>
                            <m:e>
                              <m:sSub>
                                <m:sSubPr>
                                  <m:ctrlPr>
                                    <a:rPr lang="ar-AE" i="1" smtClean="0">
                                      <a:solidFill>
                                        <a:srgbClr val="660874"/>
                                      </a:solidFill>
                                      <a:latin typeface="Cambria Math" panose="02040503050406030204" pitchFamily="18" charset="0"/>
                                    </a:rPr>
                                  </m:ctrlPr>
                                </m:sSubPr>
                                <m:e>
                                  <m:r>
                                    <a:rPr lang="ar-AE">
                                      <a:solidFill>
                                        <a:srgbClr val="660874"/>
                                      </a:solidFill>
                                      <a:latin typeface="Cambria Math" panose="02040503050406030204" pitchFamily="18" charset="0"/>
                                    </a:rPr>
                                    <m:t>𝛼</m:t>
                                  </m:r>
                                </m:e>
                                <m:sub>
                                  <m:r>
                                    <a:rPr lang="ar-AE">
                                      <a:solidFill>
                                        <a:srgbClr val="660874"/>
                                      </a:solidFill>
                                      <a:latin typeface="Cambria Math" panose="02040503050406030204" pitchFamily="18" charset="0"/>
                                    </a:rPr>
                                    <m:t>𝑡</m:t>
                                  </m:r>
                                </m:sub>
                              </m:sSub>
                            </m:e>
                          </m:acc>
                        </m:e>
                      </m:rad>
                      <m:r>
                        <a:rPr lang="ar-AE">
                          <a:solidFill>
                            <a:srgbClr val="660874"/>
                          </a:solidFill>
                        </a:rPr>
                        <m:t>𝒦</m:t>
                      </m:r>
                      <m:r>
                        <a:rPr lang="ar-AE">
                          <a:solidFill>
                            <a:srgbClr val="660874"/>
                          </a:solidFill>
                        </a:rPr>
                        <m:t>∥</m:t>
                      </m:r>
                      <m:r>
                        <m:rPr>
                          <m:sty m:val="p"/>
                        </m:rPr>
                        <a:rPr lang="el-GR">
                          <a:solidFill>
                            <a:srgbClr val="660874"/>
                          </a:solidFill>
                        </a:rPr>
                        <m:t>Δ</m:t>
                      </m:r>
                      <m:r>
                        <a:rPr lang="el-GR">
                          <a:solidFill>
                            <a:srgbClr val="660874"/>
                          </a:solidFill>
                        </a:rPr>
                        <m:t>𝜖</m:t>
                      </m:r>
                      <m:sSub>
                        <m:sSubPr>
                          <m:ctrlPr>
                            <a:rPr lang="ar-AE">
                              <a:solidFill>
                                <a:srgbClr val="660874"/>
                              </a:solidFill>
                            </a:rPr>
                          </m:ctrlPr>
                        </m:sSubPr>
                        <m:e>
                          <m:r>
                            <a:rPr lang="ar-AE">
                              <a:solidFill>
                                <a:srgbClr val="660874"/>
                              </a:solidFill>
                            </a:rPr>
                            <m:t>∥</m:t>
                          </m:r>
                        </m:e>
                        <m:sub>
                          <m:r>
                            <a:rPr lang="ar-AE">
                              <a:solidFill>
                                <a:srgbClr val="660874"/>
                              </a:solidFill>
                            </a:rPr>
                            <m:t>2</m:t>
                          </m:r>
                        </m:sub>
                      </m:sSub>
                      <m:r>
                        <a:rPr lang="ar-AE">
                          <a:solidFill>
                            <a:srgbClr val="660874"/>
                          </a:solidFill>
                        </a:rPr>
                        <m:t>.</m:t>
                      </m:r>
                    </m:oMath>
                  </m:oMathPara>
                </a14:m>
                <a:endParaRPr lang="ar-AE" dirty="0">
                  <a:solidFill>
                    <a:srgbClr val="660874"/>
                  </a:solidFill>
                </a:endParaRPr>
              </a:p>
              <a:p>
                <a:r>
                  <a:rPr lang="en-US" dirty="0">
                    <a:solidFill>
                      <a:srgbClr val="660874"/>
                    </a:solidFill>
                  </a:rPr>
                  <a:t>- Finally, we have </a:t>
                </a:r>
                <a14:m>
                  <m:oMath xmlns:m="http://schemas.openxmlformats.org/officeDocument/2006/math">
                    <m:r>
                      <a:rPr lang="en-US">
                        <a:solidFill>
                          <a:srgbClr val="660874"/>
                        </a:solidFill>
                      </a:rPr>
                      <m:t>∥</m:t>
                    </m:r>
                    <m:r>
                      <m:rPr>
                        <m:sty m:val="p"/>
                      </m:rPr>
                      <a:rPr lang="el-GR">
                        <a:solidFill>
                          <a:srgbClr val="660874"/>
                        </a:solidFill>
                      </a:rPr>
                      <m:t>Δ</m:t>
                    </m:r>
                    <m:acc>
                      <m:accPr>
                        <m:chr m:val="̂"/>
                        <m:ctrlPr>
                          <a:rPr lang="ar-AE">
                            <a:solidFill>
                              <a:srgbClr val="660874"/>
                            </a:solidFill>
                          </a:rPr>
                        </m:ctrlPr>
                      </m:accPr>
                      <m:e>
                        <m:sSub>
                          <m:sSubPr>
                            <m:ctrlPr>
                              <a:rPr lang="ar-AE">
                                <a:solidFill>
                                  <a:srgbClr val="660874"/>
                                </a:solidFill>
                              </a:rPr>
                            </m:ctrlPr>
                          </m:sSubPr>
                          <m:e>
                            <m:r>
                              <a:rPr lang="ar-AE">
                                <a:solidFill>
                                  <a:srgbClr val="660874"/>
                                </a:solidFill>
                              </a:rPr>
                              <m:t>𝒙</m:t>
                            </m:r>
                          </m:e>
                          <m:sub>
                            <m:r>
                              <a:rPr lang="ar-AE">
                                <a:solidFill>
                                  <a:srgbClr val="660874"/>
                                </a:solidFill>
                              </a:rPr>
                              <m:t>0</m:t>
                            </m:r>
                          </m:sub>
                        </m:sSub>
                      </m:e>
                    </m:acc>
                    <m:sSub>
                      <m:sSubPr>
                        <m:ctrlPr>
                          <a:rPr lang="ar-AE">
                            <a:solidFill>
                              <a:srgbClr val="660874"/>
                            </a:solidFill>
                          </a:rPr>
                        </m:ctrlPr>
                      </m:sSubPr>
                      <m:e>
                        <m:r>
                          <a:rPr lang="ar-AE">
                            <a:solidFill>
                              <a:srgbClr val="660874"/>
                            </a:solidFill>
                          </a:rPr>
                          <m:t>∥</m:t>
                        </m:r>
                      </m:e>
                      <m:sub>
                        <m:r>
                          <a:rPr lang="ar-AE">
                            <a:solidFill>
                              <a:srgbClr val="660874"/>
                            </a:solidFill>
                          </a:rPr>
                          <m:t>2</m:t>
                        </m:r>
                      </m:sub>
                    </m:sSub>
                    <m:r>
                      <a:rPr lang="ar-AE">
                        <a:solidFill>
                          <a:srgbClr val="660874"/>
                        </a:solidFill>
                      </a:rPr>
                      <m:t>=</m:t>
                    </m:r>
                    <m:f>
                      <m:fPr>
                        <m:ctrlPr>
                          <a:rPr lang="ar-AE">
                            <a:solidFill>
                              <a:srgbClr val="660874"/>
                            </a:solidFill>
                          </a:rPr>
                        </m:ctrlPr>
                      </m:fPr>
                      <m:num>
                        <m:r>
                          <a:rPr lang="ar-AE">
                            <a:solidFill>
                              <a:srgbClr val="660874"/>
                            </a:solidFill>
                          </a:rPr>
                          <m:t>𝒦</m:t>
                        </m:r>
                      </m:num>
                      <m:den>
                        <m:r>
                          <a:rPr lang="ar-AE">
                            <a:solidFill>
                              <a:srgbClr val="660874"/>
                            </a:solidFill>
                          </a:rPr>
                          <m:t>𝑎</m:t>
                        </m:r>
                      </m:den>
                    </m:f>
                    <m:rad>
                      <m:radPr>
                        <m:degHide m:val="on"/>
                        <m:ctrlPr>
                          <a:rPr lang="ar-AE">
                            <a:solidFill>
                              <a:srgbClr val="660874"/>
                            </a:solidFill>
                          </a:rPr>
                        </m:ctrlPr>
                      </m:radPr>
                      <m:deg/>
                      <m:e>
                        <m:r>
                          <a:rPr lang="ar-AE">
                            <a:solidFill>
                              <a:srgbClr val="660874"/>
                            </a:solidFill>
                          </a:rPr>
                          <m:t>1</m:t>
                        </m:r>
                        <m:r>
                          <a:rPr lang="ar-AE">
                            <a:solidFill>
                              <a:srgbClr val="660874"/>
                            </a:solidFill>
                          </a:rPr>
                          <m:t>−</m:t>
                        </m:r>
                        <m:acc>
                          <m:accPr>
                            <m:chr m:val="̅"/>
                            <m:ctrlPr>
                              <a:rPr lang="ar-AE" i="1" smtClean="0">
                                <a:solidFill>
                                  <a:srgbClr val="660874"/>
                                </a:solidFill>
                                <a:latin typeface="Cambria Math" panose="02040503050406030204" pitchFamily="18" charset="0"/>
                              </a:rPr>
                            </m:ctrlPr>
                          </m:accPr>
                          <m:e>
                            <m:sSub>
                              <m:sSubPr>
                                <m:ctrlPr>
                                  <a:rPr lang="ar-AE" i="1" smtClean="0">
                                    <a:solidFill>
                                      <a:srgbClr val="660874"/>
                                    </a:solidFill>
                                    <a:latin typeface="Cambria Math" panose="02040503050406030204" pitchFamily="18" charset="0"/>
                                  </a:rPr>
                                </m:ctrlPr>
                              </m:sSubPr>
                              <m:e>
                                <m:r>
                                  <a:rPr lang="ar-AE">
                                    <a:solidFill>
                                      <a:srgbClr val="660874"/>
                                    </a:solidFill>
                                    <a:latin typeface="Cambria Math" panose="02040503050406030204" pitchFamily="18" charset="0"/>
                                  </a:rPr>
                                  <m:t>𝛼</m:t>
                                </m:r>
                              </m:e>
                              <m:sub>
                                <m:r>
                                  <a:rPr lang="ar-AE">
                                    <a:solidFill>
                                      <a:srgbClr val="660874"/>
                                    </a:solidFill>
                                    <a:latin typeface="Cambria Math" panose="02040503050406030204" pitchFamily="18" charset="0"/>
                                  </a:rPr>
                                  <m:t>𝑡</m:t>
                                </m:r>
                              </m:sub>
                            </m:sSub>
                          </m:e>
                        </m:acc>
                      </m:e>
                    </m:rad>
                    <m:r>
                      <a:rPr lang="ar-AE">
                        <a:solidFill>
                          <a:srgbClr val="660874"/>
                        </a:solidFill>
                      </a:rPr>
                      <m:t>∥</m:t>
                    </m:r>
                    <m:r>
                      <m:rPr>
                        <m:sty m:val="p"/>
                      </m:rPr>
                      <a:rPr lang="el-GR">
                        <a:solidFill>
                          <a:srgbClr val="660874"/>
                        </a:solidFill>
                      </a:rPr>
                      <m:t>Δ</m:t>
                    </m:r>
                    <m:r>
                      <a:rPr lang="el-GR">
                        <a:solidFill>
                          <a:srgbClr val="660874"/>
                        </a:solidFill>
                      </a:rPr>
                      <m:t>𝜖</m:t>
                    </m:r>
                    <m:sSub>
                      <m:sSubPr>
                        <m:ctrlPr>
                          <a:rPr lang="ar-AE">
                            <a:solidFill>
                              <a:srgbClr val="660874"/>
                            </a:solidFill>
                          </a:rPr>
                        </m:ctrlPr>
                      </m:sSubPr>
                      <m:e>
                        <m:r>
                          <a:rPr lang="ar-AE">
                            <a:solidFill>
                              <a:srgbClr val="660874"/>
                            </a:solidFill>
                          </a:rPr>
                          <m:t>∥</m:t>
                        </m:r>
                      </m:e>
                      <m:sub>
                        <m:r>
                          <a:rPr lang="ar-AE">
                            <a:solidFill>
                              <a:srgbClr val="660874"/>
                            </a:solidFill>
                          </a:rPr>
                          <m:t>2</m:t>
                        </m:r>
                      </m:sub>
                    </m:sSub>
                    <m:r>
                      <a:rPr lang="ar-AE">
                        <a:solidFill>
                          <a:srgbClr val="660874"/>
                        </a:solidFill>
                      </a:rPr>
                      <m:t>=</m:t>
                    </m:r>
                    <m:r>
                      <a:rPr lang="ar-AE">
                        <a:solidFill>
                          <a:srgbClr val="660874"/>
                        </a:solidFill>
                      </a:rPr>
                      <m:t>𝐶</m:t>
                    </m:r>
                    <m:rad>
                      <m:radPr>
                        <m:degHide m:val="on"/>
                        <m:ctrlPr>
                          <a:rPr lang="ar-AE">
                            <a:solidFill>
                              <a:srgbClr val="660874"/>
                            </a:solidFill>
                          </a:rPr>
                        </m:ctrlPr>
                      </m:radPr>
                      <m:deg/>
                      <m:e>
                        <m:r>
                          <a:rPr lang="ar-AE">
                            <a:solidFill>
                              <a:srgbClr val="660874"/>
                            </a:solidFill>
                          </a:rPr>
                          <m:t>1</m:t>
                        </m:r>
                        <m:r>
                          <a:rPr lang="ar-AE">
                            <a:solidFill>
                              <a:srgbClr val="660874"/>
                            </a:solidFill>
                          </a:rPr>
                          <m:t>−</m:t>
                        </m:r>
                        <m:acc>
                          <m:accPr>
                            <m:chr m:val="̅"/>
                            <m:ctrlPr>
                              <a:rPr lang="ar-AE" i="1" smtClean="0">
                                <a:solidFill>
                                  <a:srgbClr val="660874"/>
                                </a:solidFill>
                                <a:latin typeface="Cambria Math" panose="02040503050406030204" pitchFamily="18" charset="0"/>
                              </a:rPr>
                            </m:ctrlPr>
                          </m:accPr>
                          <m:e>
                            <m:sSub>
                              <m:sSubPr>
                                <m:ctrlPr>
                                  <a:rPr lang="ar-AE" i="1" smtClean="0">
                                    <a:solidFill>
                                      <a:srgbClr val="660874"/>
                                    </a:solidFill>
                                    <a:latin typeface="Cambria Math" panose="02040503050406030204" pitchFamily="18" charset="0"/>
                                  </a:rPr>
                                </m:ctrlPr>
                              </m:sSubPr>
                              <m:e>
                                <m:r>
                                  <a:rPr lang="ar-AE">
                                    <a:solidFill>
                                      <a:srgbClr val="660874"/>
                                    </a:solidFill>
                                    <a:latin typeface="Cambria Math" panose="02040503050406030204" pitchFamily="18" charset="0"/>
                                  </a:rPr>
                                  <m:t>𝛼</m:t>
                                </m:r>
                              </m:e>
                              <m:sub>
                                <m:r>
                                  <a:rPr lang="ar-AE">
                                    <a:solidFill>
                                      <a:srgbClr val="660874"/>
                                    </a:solidFill>
                                    <a:latin typeface="Cambria Math" panose="02040503050406030204" pitchFamily="18" charset="0"/>
                                  </a:rPr>
                                  <m:t>𝑡</m:t>
                                </m:r>
                              </m:sub>
                            </m:sSub>
                          </m:e>
                        </m:acc>
                      </m:e>
                    </m:rad>
                    <m:r>
                      <a:rPr lang="ar-AE">
                        <a:solidFill>
                          <a:srgbClr val="660874"/>
                        </a:solidFill>
                      </a:rPr>
                      <m:t>∥</m:t>
                    </m:r>
                    <m:r>
                      <m:rPr>
                        <m:sty m:val="p"/>
                      </m:rPr>
                      <a:rPr lang="el-GR">
                        <a:solidFill>
                          <a:srgbClr val="660874"/>
                        </a:solidFill>
                      </a:rPr>
                      <m:t>Δ</m:t>
                    </m:r>
                    <m:r>
                      <a:rPr lang="el-GR">
                        <a:solidFill>
                          <a:srgbClr val="660874"/>
                        </a:solidFill>
                      </a:rPr>
                      <m:t>𝜖</m:t>
                    </m:r>
                    <m:sSub>
                      <m:sSubPr>
                        <m:ctrlPr>
                          <a:rPr lang="ar-AE">
                            <a:solidFill>
                              <a:srgbClr val="660874"/>
                            </a:solidFill>
                          </a:rPr>
                        </m:ctrlPr>
                      </m:sSubPr>
                      <m:e>
                        <m:r>
                          <a:rPr lang="ar-AE">
                            <a:solidFill>
                              <a:srgbClr val="660874"/>
                            </a:solidFill>
                          </a:rPr>
                          <m:t>∥</m:t>
                        </m:r>
                      </m:e>
                      <m:sub>
                        <m:r>
                          <a:rPr lang="ar-AE">
                            <a:solidFill>
                              <a:srgbClr val="660874"/>
                            </a:solidFill>
                          </a:rPr>
                          <m:t>2</m:t>
                        </m:r>
                      </m:sub>
                    </m:sSub>
                  </m:oMath>
                </a14:m>
                <a:r>
                  <a:rPr lang="en-US" dirty="0">
                    <a:solidFill>
                      <a:srgbClr val="660874"/>
                    </a:solidFill>
                  </a:rPr>
                  <a:t>, which is the solution.</a:t>
                </a:r>
                <a:endParaRPr lang="ar-AE" dirty="0">
                  <a:solidFill>
                    <a:srgbClr val="660874"/>
                  </a:solidFill>
                </a:endParaRPr>
              </a:p>
              <a:p>
                <a:pPr>
                  <a:lnSpc>
                    <a:spcPct val="200000"/>
                  </a:lnSpc>
                </a:pPr>
                <a:endParaRPr lang="en-US" dirty="0">
                  <a:solidFill>
                    <a:srgbClr val="660874"/>
                  </a:solidFill>
                </a:endParaRPr>
              </a:p>
              <a:p>
                <a:pPr marL="285750" indent="-285750">
                  <a:lnSpc>
                    <a:spcPct val="200000"/>
                  </a:lnSpc>
                  <a:buFont typeface="Wingdings" panose="05000000000000000000" pitchFamily="2" charset="2"/>
                  <a:buChar char="Ø"/>
                </a:pPr>
                <a:endParaRPr lang="en-US" b="1" dirty="0">
                  <a:solidFill>
                    <a:srgbClr val="660874"/>
                  </a:solidFill>
                </a:endParaRPr>
              </a:p>
              <a:p>
                <a:pPr marL="285750" indent="-285750">
                  <a:lnSpc>
                    <a:spcPct val="200000"/>
                  </a:lnSpc>
                  <a:buFont typeface="Wingdings" panose="05000000000000000000" pitchFamily="2" charset="2"/>
                  <a:buChar char="Ø"/>
                </a:pPr>
                <a:endParaRPr lang="en-US" b="1" dirty="0">
                  <a:solidFill>
                    <a:srgbClr val="660874"/>
                  </a:solidFill>
                </a:endParaRPr>
              </a:p>
              <a:p>
                <a:pPr marL="285750" indent="-285750">
                  <a:lnSpc>
                    <a:spcPct val="200000"/>
                  </a:lnSpc>
                  <a:buFont typeface="Wingdings" panose="05000000000000000000" pitchFamily="2" charset="2"/>
                  <a:buChar char="Ø"/>
                </a:pPr>
                <a:endParaRPr lang="en-US" b="1" dirty="0">
                  <a:solidFill>
                    <a:srgbClr val="660874"/>
                  </a:solidFill>
                </a:endParaRPr>
              </a:p>
              <a:p>
                <a:pPr marL="285750" indent="-285750">
                  <a:lnSpc>
                    <a:spcPct val="200000"/>
                  </a:lnSpc>
                  <a:buFont typeface="Wingdings" panose="05000000000000000000" pitchFamily="2" charset="2"/>
                  <a:buChar char="Ø"/>
                </a:pPr>
                <a:endParaRPr lang="en-US" b="1" dirty="0">
                  <a:solidFill>
                    <a:srgbClr val="660874"/>
                  </a:solidFill>
                </a:endParaRPr>
              </a:p>
              <a:p>
                <a:pPr marL="285750" indent="-285750">
                  <a:lnSpc>
                    <a:spcPct val="200000"/>
                  </a:lnSpc>
                  <a:buFont typeface="Wingdings" panose="05000000000000000000" pitchFamily="2" charset="2"/>
                  <a:buChar char="Ø"/>
                </a:pPr>
                <a:endParaRPr lang="en-US" b="1" dirty="0">
                  <a:solidFill>
                    <a:srgbClr val="660874"/>
                  </a:solidFill>
                </a:endParaRPr>
              </a:p>
            </p:txBody>
          </p:sp>
        </mc:Choice>
        <mc:Fallback>
          <p:sp>
            <p:nvSpPr>
              <p:cNvPr id="9" name="TextBox 8">
                <a:extLst>
                  <a:ext uri="{FF2B5EF4-FFF2-40B4-BE49-F238E27FC236}">
                    <a16:creationId xmlns:a16="http://schemas.microsoft.com/office/drawing/2014/main" id="{FA9FA8DD-8790-7311-933D-108A6641F9CD}"/>
                  </a:ext>
                </a:extLst>
              </p:cNvPr>
              <p:cNvSpPr txBox="1">
                <a:spLocks noRot="1" noChangeAspect="1" noMove="1" noResize="1" noEditPoints="1" noAdjustHandles="1" noChangeArrowheads="1" noChangeShapeType="1" noTextEdit="1"/>
              </p:cNvSpPr>
              <p:nvPr/>
            </p:nvSpPr>
            <p:spPr>
              <a:xfrm>
                <a:off x="1017437" y="1715585"/>
                <a:ext cx="9449672" cy="5915978"/>
              </a:xfrm>
              <a:prstGeom prst="rect">
                <a:avLst/>
              </a:prstGeom>
              <a:blipFill>
                <a:blip r:embed="rId2"/>
                <a:stretch>
                  <a:fillRect l="-581"/>
                </a:stretch>
              </a:blipFill>
            </p:spPr>
            <p:txBody>
              <a:bodyPr/>
              <a:lstStyle/>
              <a:p>
                <a:r>
                  <a:rPr lang="en-US">
                    <a:noFill/>
                  </a:rPr>
                  <a:t> </a:t>
                </a:r>
              </a:p>
            </p:txBody>
          </p:sp>
        </mc:Fallback>
      </mc:AlternateContent>
    </p:spTree>
    <p:extLst>
      <p:ext uri="{BB962C8B-B14F-4D97-AF65-F5344CB8AC3E}">
        <p14:creationId xmlns:p14="http://schemas.microsoft.com/office/powerpoint/2010/main" val="2650973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3D81CB7-877A-A344-1CAC-76117B9EBC00}"/>
              </a:ext>
            </a:extLst>
          </p:cNvPr>
          <p:cNvPicPr>
            <a:picLocks noChangeAspect="1"/>
          </p:cNvPicPr>
          <p:nvPr/>
        </p:nvPicPr>
        <p:blipFill>
          <a:blip r:embed="rId2"/>
          <a:stretch>
            <a:fillRect/>
          </a:stretch>
        </p:blipFill>
        <p:spPr>
          <a:xfrm>
            <a:off x="1427016" y="1710588"/>
            <a:ext cx="8723489" cy="1861272"/>
          </a:xfrm>
          <a:prstGeom prst="rect">
            <a:avLst/>
          </a:prstGeom>
        </p:spPr>
      </p:pic>
      <p:sp>
        <p:nvSpPr>
          <p:cNvPr id="6" name="Arrow: Chevron 5">
            <a:extLst>
              <a:ext uri="{FF2B5EF4-FFF2-40B4-BE49-F238E27FC236}">
                <a16:creationId xmlns:a16="http://schemas.microsoft.com/office/drawing/2014/main" id="{68F9058B-3F98-1704-37A3-38C274C19FEC}"/>
              </a:ext>
            </a:extLst>
          </p:cNvPr>
          <p:cNvSpPr/>
          <p:nvPr/>
        </p:nvSpPr>
        <p:spPr>
          <a:xfrm>
            <a:off x="892601" y="488935"/>
            <a:ext cx="5896126" cy="694742"/>
          </a:xfrm>
          <a:prstGeom prst="chevron">
            <a:avLst/>
          </a:prstGeom>
          <a:solidFill>
            <a:schemeClr val="bg1">
              <a:lumMod val="85000"/>
              <a:alpha val="67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7" name="Arrow: Chevron 6">
            <a:extLst>
              <a:ext uri="{FF2B5EF4-FFF2-40B4-BE49-F238E27FC236}">
                <a16:creationId xmlns:a16="http://schemas.microsoft.com/office/drawing/2014/main" id="{DA64D7BF-54A0-36A5-53DD-A10F2D23448A}"/>
              </a:ext>
            </a:extLst>
          </p:cNvPr>
          <p:cNvSpPr/>
          <p:nvPr/>
        </p:nvSpPr>
        <p:spPr>
          <a:xfrm>
            <a:off x="393087" y="488936"/>
            <a:ext cx="817404" cy="694742"/>
          </a:xfrm>
          <a:prstGeom prst="chevron">
            <a:avLst/>
          </a:prstGeom>
          <a:gradFill>
            <a:gsLst>
              <a:gs pos="0">
                <a:srgbClr val="660874"/>
              </a:gs>
              <a:gs pos="50000">
                <a:srgbClr val="7030A0"/>
              </a:gs>
              <a:gs pos="100000">
                <a:srgbClr val="660874"/>
              </a:gs>
            </a:gsLst>
            <a:lin ang="5400000" scaled="0"/>
          </a:gra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 name="Title 1">
            <a:extLst>
              <a:ext uri="{FF2B5EF4-FFF2-40B4-BE49-F238E27FC236}">
                <a16:creationId xmlns:a16="http://schemas.microsoft.com/office/drawing/2014/main" id="{E9FEF8DA-D070-9E91-C84D-E32C3F20BE3D}"/>
              </a:ext>
            </a:extLst>
          </p:cNvPr>
          <p:cNvSpPr txBox="1">
            <a:spLocks/>
          </p:cNvSpPr>
          <p:nvPr/>
        </p:nvSpPr>
        <p:spPr>
          <a:xfrm>
            <a:off x="1248477" y="190942"/>
            <a:ext cx="10515600" cy="1325563"/>
          </a:xfrm>
          <a:prstGeom prst="rect">
            <a:avLst/>
          </a:prstGeom>
          <a:effectLst/>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a:solidFill>
                  <a:srgbClr val="660874"/>
                </a:solidFill>
              </a:rPr>
              <a:t>Smooth Diffusion (Guo et. al 2023)</a:t>
            </a:r>
            <a:endParaRPr lang="zh-CN" altLang="en-US" sz="2800" dirty="0">
              <a:solidFill>
                <a:srgbClr val="660874"/>
              </a:solidFill>
            </a:endParaRPr>
          </a:p>
        </p:txBody>
      </p:sp>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80923671-0EC3-35AA-60C2-4982B918EA11}"/>
                  </a:ext>
                </a:extLst>
              </p:cNvPr>
              <p:cNvSpPr txBox="1"/>
              <p:nvPr/>
            </p:nvSpPr>
            <p:spPr>
              <a:xfrm>
                <a:off x="1107473" y="3682697"/>
                <a:ext cx="9977054" cy="4862228"/>
              </a:xfrm>
              <a:prstGeom prst="rect">
                <a:avLst/>
              </a:prstGeom>
              <a:noFill/>
            </p:spPr>
            <p:txBody>
              <a:bodyPr wrap="square" rtlCol="0">
                <a:spAutoFit/>
              </a:bodyPr>
              <a:lstStyle/>
              <a:p>
                <a:pPr marL="285750" indent="-285750">
                  <a:lnSpc>
                    <a:spcPct val="200000"/>
                  </a:lnSpc>
                  <a:buFont typeface="Wingdings" panose="05000000000000000000" pitchFamily="2" charset="2"/>
                  <a:buChar char="Ø"/>
                </a:pPr>
                <a:r>
                  <a:rPr lang="en-US" b="1" dirty="0">
                    <a:solidFill>
                      <a:srgbClr val="660874"/>
                    </a:solidFill>
                  </a:rPr>
                  <a:t>Step-wise Variation Regularization (continued)</a:t>
                </a:r>
                <a:endParaRPr lang="en-US" dirty="0">
                  <a:solidFill>
                    <a:srgbClr val="660874"/>
                  </a:solidFill>
                </a:endParaRPr>
              </a:p>
              <a:p>
                <a:pPr marL="285750" indent="-285750">
                  <a:lnSpc>
                    <a:spcPct val="150000"/>
                  </a:lnSpc>
                  <a:buFontTx/>
                  <a:buChar char="-"/>
                </a:pPr>
                <a:r>
                  <a:rPr lang="en-US" dirty="0">
                    <a:solidFill>
                      <a:srgbClr val="660874"/>
                    </a:solidFill>
                  </a:rPr>
                  <a:t>Now we are able to comprehend what these graphs mean</a:t>
                </a:r>
              </a:p>
              <a:p>
                <a:pPr marL="285750" indent="-285750">
                  <a:lnSpc>
                    <a:spcPct val="150000"/>
                  </a:lnSpc>
                  <a:buFontTx/>
                  <a:buChar char="-"/>
                </a:pPr>
                <a:r>
                  <a:rPr lang="en-US" dirty="0">
                    <a:solidFill>
                      <a:srgbClr val="660874"/>
                    </a:solidFill>
                  </a:rPr>
                  <a:t>Inference time smooth diffusion is the overall objective </a:t>
                </a:r>
                <a14:m>
                  <m:oMath xmlns:m="http://schemas.openxmlformats.org/officeDocument/2006/math">
                    <m:r>
                      <a:rPr lang="en-US" smtClean="0">
                        <a:solidFill>
                          <a:srgbClr val="660874"/>
                        </a:solidFill>
                        <a:latin typeface="Cambria Math" panose="02040503050406030204" pitchFamily="18" charset="0"/>
                      </a:rPr>
                      <m:t>∥</m:t>
                    </m:r>
                    <m:r>
                      <m:rPr>
                        <m:sty m:val="p"/>
                      </m:rPr>
                      <a:rPr lang="el-GR" i="0">
                        <a:solidFill>
                          <a:srgbClr val="660874"/>
                        </a:solidFill>
                        <a:latin typeface="Cambria Math" panose="02040503050406030204" pitchFamily="18" charset="0"/>
                      </a:rPr>
                      <m:t>Δ</m:t>
                    </m:r>
                    <m:sSub>
                      <m:sSubPr>
                        <m:ctrlPr>
                          <a:rPr lang="ar-AE" i="1">
                            <a:solidFill>
                              <a:srgbClr val="660874"/>
                            </a:solidFill>
                            <a:latin typeface="Cambria Math" panose="02040503050406030204" pitchFamily="18" charset="0"/>
                          </a:rPr>
                        </m:ctrlPr>
                      </m:sSubPr>
                      <m:e>
                        <m:acc>
                          <m:accPr>
                            <m:chr m:val="̂"/>
                            <m:ctrlPr>
                              <a:rPr lang="ar-AE" i="1">
                                <a:solidFill>
                                  <a:srgbClr val="660874"/>
                                </a:solidFill>
                                <a:latin typeface="Cambria Math" panose="02040503050406030204" pitchFamily="18" charset="0"/>
                              </a:rPr>
                            </m:ctrlPr>
                          </m:accPr>
                          <m:e>
                            <m:r>
                              <a:rPr lang="ar-AE" i="1">
                                <a:solidFill>
                                  <a:srgbClr val="660874"/>
                                </a:solidFill>
                                <a:latin typeface="Cambria Math" panose="02040503050406030204" pitchFamily="18" charset="0"/>
                              </a:rPr>
                              <m:t>𝑥</m:t>
                            </m:r>
                          </m:e>
                        </m:acc>
                      </m:e>
                      <m:sub>
                        <m:r>
                          <a:rPr lang="ar-AE" i="0">
                            <a:solidFill>
                              <a:srgbClr val="660874"/>
                            </a:solidFill>
                            <a:latin typeface="Cambria Math" panose="02040503050406030204" pitchFamily="18" charset="0"/>
                          </a:rPr>
                          <m:t>0</m:t>
                        </m:r>
                      </m:sub>
                    </m:sSub>
                    <m:sSub>
                      <m:sSubPr>
                        <m:ctrlPr>
                          <a:rPr lang="ar-AE" i="1">
                            <a:solidFill>
                              <a:srgbClr val="660874"/>
                            </a:solidFill>
                            <a:latin typeface="Cambria Math" panose="02040503050406030204" pitchFamily="18" charset="0"/>
                          </a:rPr>
                        </m:ctrlPr>
                      </m:sSubPr>
                      <m:e>
                        <m:r>
                          <a:rPr lang="ar-AE" i="0">
                            <a:solidFill>
                              <a:srgbClr val="660874"/>
                            </a:solidFill>
                            <a:latin typeface="Cambria Math" panose="02040503050406030204" pitchFamily="18" charset="0"/>
                          </a:rPr>
                          <m:t>∥</m:t>
                        </m:r>
                      </m:e>
                      <m:sub>
                        <m:r>
                          <a:rPr lang="ar-AE" i="0">
                            <a:solidFill>
                              <a:srgbClr val="660874"/>
                            </a:solidFill>
                            <a:latin typeface="Cambria Math" panose="02040503050406030204" pitchFamily="18" charset="0"/>
                          </a:rPr>
                          <m:t>2</m:t>
                        </m:r>
                      </m:sub>
                    </m:sSub>
                    <m:r>
                      <m:rPr>
                        <m:nor/>
                      </m:rPr>
                      <a:rPr lang="ar-AE" b="0" i="1">
                        <a:solidFill>
                          <a:srgbClr val="660874"/>
                        </a:solidFill>
                        <a:latin typeface="Cambria Math" panose="02040503050406030204" pitchFamily="18" charset="0"/>
                      </a:rPr>
                      <m:t>  </m:t>
                    </m:r>
                    <m:r>
                      <a:rPr lang="ar-AE" b="0" i="0">
                        <a:solidFill>
                          <a:srgbClr val="660874"/>
                        </a:solidFill>
                        <a:latin typeface="Cambria Math" panose="02040503050406030204" pitchFamily="18" charset="0"/>
                      </a:rPr>
                      <m:t>⇔</m:t>
                    </m:r>
                    <m:r>
                      <m:rPr>
                        <m:nor/>
                      </m:rPr>
                      <a:rPr lang="ar-AE" b="0" i="1">
                        <a:solidFill>
                          <a:srgbClr val="660874"/>
                        </a:solidFill>
                        <a:latin typeface="Cambria Math" panose="02040503050406030204" pitchFamily="18" charset="0"/>
                      </a:rPr>
                      <m:t>  </m:t>
                    </m:r>
                    <m:r>
                      <a:rPr lang="ar-AE" b="0" i="1">
                        <a:solidFill>
                          <a:srgbClr val="660874"/>
                        </a:solidFill>
                        <a:latin typeface="Cambria Math" panose="02040503050406030204" pitchFamily="18" charset="0"/>
                      </a:rPr>
                      <m:t>𝐶</m:t>
                    </m:r>
                    <m:r>
                      <a:rPr lang="ar-AE" b="0" i="0">
                        <a:solidFill>
                          <a:srgbClr val="660874"/>
                        </a:solidFill>
                        <a:latin typeface="Cambria Math" panose="02040503050406030204" pitchFamily="18" charset="0"/>
                      </a:rPr>
                      <m:t>∥</m:t>
                    </m:r>
                    <m:r>
                      <m:rPr>
                        <m:sty m:val="p"/>
                      </m:rPr>
                      <a:rPr lang="el-GR" b="0" i="0">
                        <a:solidFill>
                          <a:srgbClr val="660874"/>
                        </a:solidFill>
                        <a:latin typeface="Cambria Math" panose="02040503050406030204" pitchFamily="18" charset="0"/>
                      </a:rPr>
                      <m:t>Δ</m:t>
                    </m:r>
                    <m:sSub>
                      <m:sSubPr>
                        <m:ctrlPr>
                          <a:rPr lang="ar-AE" b="0" i="1">
                            <a:solidFill>
                              <a:srgbClr val="660874"/>
                            </a:solidFill>
                            <a:latin typeface="Cambria Math" panose="02040503050406030204" pitchFamily="18" charset="0"/>
                          </a:rPr>
                        </m:ctrlPr>
                      </m:sSubPr>
                      <m:e>
                        <m:r>
                          <a:rPr lang="ar-AE" b="0" i="1">
                            <a:solidFill>
                              <a:srgbClr val="660874"/>
                            </a:solidFill>
                            <a:latin typeface="Cambria Math" panose="02040503050406030204" pitchFamily="18" charset="0"/>
                          </a:rPr>
                          <m:t>𝑥</m:t>
                        </m:r>
                      </m:e>
                      <m:sub>
                        <m:r>
                          <a:rPr lang="ar-AE" b="0" i="1">
                            <a:solidFill>
                              <a:srgbClr val="660874"/>
                            </a:solidFill>
                            <a:latin typeface="Cambria Math" panose="02040503050406030204" pitchFamily="18" charset="0"/>
                          </a:rPr>
                          <m:t>𝑇</m:t>
                        </m:r>
                      </m:sub>
                    </m:sSub>
                    <m:sSub>
                      <m:sSubPr>
                        <m:ctrlPr>
                          <a:rPr lang="ar-AE" b="0" i="1">
                            <a:solidFill>
                              <a:srgbClr val="660874"/>
                            </a:solidFill>
                            <a:latin typeface="Cambria Math" panose="02040503050406030204" pitchFamily="18" charset="0"/>
                          </a:rPr>
                        </m:ctrlPr>
                      </m:sSubPr>
                      <m:e>
                        <m:r>
                          <a:rPr lang="ar-AE" b="0" i="0">
                            <a:solidFill>
                              <a:srgbClr val="660874"/>
                            </a:solidFill>
                            <a:latin typeface="Cambria Math" panose="02040503050406030204" pitchFamily="18" charset="0"/>
                          </a:rPr>
                          <m:t>∥</m:t>
                        </m:r>
                      </m:e>
                      <m:sub>
                        <m:r>
                          <a:rPr lang="ar-AE" b="0" i="0">
                            <a:solidFill>
                              <a:srgbClr val="660874"/>
                            </a:solidFill>
                            <a:latin typeface="Cambria Math" panose="02040503050406030204" pitchFamily="18" charset="0"/>
                          </a:rPr>
                          <m:t>2</m:t>
                        </m:r>
                      </m:sub>
                    </m:sSub>
                    <m:r>
                      <a:rPr lang="ar-AE" b="0" i="0">
                        <a:solidFill>
                          <a:srgbClr val="660874"/>
                        </a:solidFill>
                        <a:latin typeface="Cambria Math" panose="02040503050406030204" pitchFamily="18" charset="0"/>
                      </a:rPr>
                      <m:t>=</m:t>
                    </m:r>
                    <m:r>
                      <a:rPr lang="ar-AE" b="0" i="1">
                        <a:solidFill>
                          <a:srgbClr val="660874"/>
                        </a:solidFill>
                        <a:latin typeface="Cambria Math" panose="02040503050406030204" pitchFamily="18" charset="0"/>
                      </a:rPr>
                      <m:t>𝐶</m:t>
                    </m:r>
                    <m:r>
                      <a:rPr lang="ar-AE" b="0" i="0">
                        <a:solidFill>
                          <a:srgbClr val="660874"/>
                        </a:solidFill>
                        <a:latin typeface="Cambria Math" panose="02040503050406030204" pitchFamily="18" charset="0"/>
                      </a:rPr>
                      <m:t>∥</m:t>
                    </m:r>
                    <m:r>
                      <m:rPr>
                        <m:sty m:val="p"/>
                      </m:rPr>
                      <a:rPr lang="el-GR" b="0" i="0">
                        <a:solidFill>
                          <a:srgbClr val="660874"/>
                        </a:solidFill>
                        <a:latin typeface="Cambria Math" panose="02040503050406030204" pitchFamily="18" charset="0"/>
                      </a:rPr>
                      <m:t>Δ</m:t>
                    </m:r>
                    <m:r>
                      <a:rPr lang="el-GR" b="0" i="1">
                        <a:solidFill>
                          <a:srgbClr val="660874"/>
                        </a:solidFill>
                        <a:latin typeface="Cambria Math" panose="02040503050406030204" pitchFamily="18" charset="0"/>
                      </a:rPr>
                      <m:t>𝜖</m:t>
                    </m:r>
                    <m:sSub>
                      <m:sSubPr>
                        <m:ctrlPr>
                          <a:rPr lang="ar-AE" b="0" i="1">
                            <a:solidFill>
                              <a:srgbClr val="660874"/>
                            </a:solidFill>
                            <a:latin typeface="Cambria Math" panose="02040503050406030204" pitchFamily="18" charset="0"/>
                          </a:rPr>
                        </m:ctrlPr>
                      </m:sSubPr>
                      <m:e>
                        <m:r>
                          <a:rPr lang="ar-AE" b="0" i="0">
                            <a:solidFill>
                              <a:srgbClr val="660874"/>
                            </a:solidFill>
                            <a:latin typeface="Cambria Math" panose="02040503050406030204" pitchFamily="18" charset="0"/>
                          </a:rPr>
                          <m:t>∥</m:t>
                        </m:r>
                      </m:e>
                      <m:sub>
                        <m:r>
                          <a:rPr lang="ar-AE" b="0" i="0">
                            <a:solidFill>
                              <a:srgbClr val="660874"/>
                            </a:solidFill>
                            <a:latin typeface="Cambria Math" panose="02040503050406030204" pitchFamily="18" charset="0"/>
                          </a:rPr>
                          <m:t>2</m:t>
                        </m:r>
                      </m:sub>
                    </m:sSub>
                    <m:r>
                      <a:rPr lang="ar-AE" b="0" i="0">
                        <a:solidFill>
                          <a:srgbClr val="660874"/>
                        </a:solidFill>
                        <a:latin typeface="Cambria Math" panose="02040503050406030204" pitchFamily="18" charset="0"/>
                      </a:rPr>
                      <m:t>,</m:t>
                    </m:r>
                    <m:r>
                      <m:rPr>
                        <m:nor/>
                      </m:rPr>
                      <a:rPr lang="ar-AE" b="0" i="1">
                        <a:solidFill>
                          <a:srgbClr val="660874"/>
                        </a:solidFill>
                        <a:latin typeface="Cambria Math" panose="02040503050406030204" pitchFamily="18" charset="0"/>
                      </a:rPr>
                      <m:t>  </m:t>
                    </m:r>
                    <m:r>
                      <a:rPr lang="ar-AE" b="0" i="0">
                        <a:solidFill>
                          <a:srgbClr val="660874"/>
                        </a:solidFill>
                        <a:latin typeface="Cambria Math" panose="02040503050406030204" pitchFamily="18" charset="0"/>
                      </a:rPr>
                      <m:t>∀</m:t>
                    </m:r>
                    <m:r>
                      <a:rPr lang="ar-AE" b="0" i="1">
                        <a:solidFill>
                          <a:srgbClr val="660874"/>
                        </a:solidFill>
                        <a:latin typeface="Cambria Math" panose="02040503050406030204" pitchFamily="18" charset="0"/>
                      </a:rPr>
                      <m:t>𝜖</m:t>
                    </m:r>
                  </m:oMath>
                </a14:m>
                <a:endParaRPr lang="en-US" b="0" dirty="0">
                  <a:solidFill>
                    <a:srgbClr val="660874"/>
                  </a:solidFill>
                </a:endParaRPr>
              </a:p>
              <a:p>
                <a:pPr marL="285750" indent="-285750">
                  <a:lnSpc>
                    <a:spcPct val="150000"/>
                  </a:lnSpc>
                  <a:buFontTx/>
                  <a:buChar char="-"/>
                </a:pPr>
                <a:r>
                  <a:rPr lang="en-US" dirty="0">
                    <a:solidFill>
                      <a:srgbClr val="660874"/>
                    </a:solidFill>
                  </a:rPr>
                  <a:t>Training time smooth diffusion is the step-wise variation regularization</a:t>
                </a:r>
              </a:p>
              <a:p>
                <a:endParaRPr lang="en-US" dirty="0">
                  <a:solidFill>
                    <a:srgbClr val="660874"/>
                  </a:solidFill>
                </a:endParaRPr>
              </a:p>
              <a:p>
                <a:pPr marL="285750" indent="-285750">
                  <a:lnSpc>
                    <a:spcPct val="200000"/>
                  </a:lnSpc>
                  <a:buFont typeface="Wingdings" panose="05000000000000000000" pitchFamily="2" charset="2"/>
                  <a:buChar char="Ø"/>
                </a:pPr>
                <a:endParaRPr lang="en-US" b="1" dirty="0">
                  <a:solidFill>
                    <a:srgbClr val="660874"/>
                  </a:solidFill>
                </a:endParaRPr>
              </a:p>
              <a:p>
                <a:pPr marL="285750" indent="-285750">
                  <a:lnSpc>
                    <a:spcPct val="200000"/>
                  </a:lnSpc>
                  <a:buFont typeface="Wingdings" panose="05000000000000000000" pitchFamily="2" charset="2"/>
                  <a:buChar char="Ø"/>
                </a:pPr>
                <a:endParaRPr lang="en-US" b="1" dirty="0">
                  <a:solidFill>
                    <a:srgbClr val="660874"/>
                  </a:solidFill>
                </a:endParaRPr>
              </a:p>
              <a:p>
                <a:pPr marL="285750" indent="-285750">
                  <a:lnSpc>
                    <a:spcPct val="200000"/>
                  </a:lnSpc>
                  <a:buFont typeface="Wingdings" panose="05000000000000000000" pitchFamily="2" charset="2"/>
                  <a:buChar char="Ø"/>
                </a:pPr>
                <a:endParaRPr lang="en-US" b="1" dirty="0">
                  <a:solidFill>
                    <a:srgbClr val="660874"/>
                  </a:solidFill>
                </a:endParaRPr>
              </a:p>
              <a:p>
                <a:pPr marL="285750" indent="-285750">
                  <a:lnSpc>
                    <a:spcPct val="200000"/>
                  </a:lnSpc>
                  <a:buFont typeface="Wingdings" panose="05000000000000000000" pitchFamily="2" charset="2"/>
                  <a:buChar char="Ø"/>
                </a:pPr>
                <a:endParaRPr lang="en-US" b="1" dirty="0">
                  <a:solidFill>
                    <a:srgbClr val="660874"/>
                  </a:solidFill>
                </a:endParaRPr>
              </a:p>
              <a:p>
                <a:pPr marL="285750" indent="-285750">
                  <a:lnSpc>
                    <a:spcPct val="200000"/>
                  </a:lnSpc>
                  <a:buFont typeface="Wingdings" panose="05000000000000000000" pitchFamily="2" charset="2"/>
                  <a:buChar char="Ø"/>
                </a:pPr>
                <a:endParaRPr lang="en-US" b="1" dirty="0">
                  <a:solidFill>
                    <a:srgbClr val="660874"/>
                  </a:solidFill>
                </a:endParaRPr>
              </a:p>
            </p:txBody>
          </p:sp>
        </mc:Choice>
        <mc:Fallback>
          <p:sp>
            <p:nvSpPr>
              <p:cNvPr id="9" name="TextBox 8">
                <a:extLst>
                  <a:ext uri="{FF2B5EF4-FFF2-40B4-BE49-F238E27FC236}">
                    <a16:creationId xmlns:a16="http://schemas.microsoft.com/office/drawing/2014/main" id="{80923671-0EC3-35AA-60C2-4982B918EA11}"/>
                  </a:ext>
                </a:extLst>
              </p:cNvPr>
              <p:cNvSpPr txBox="1">
                <a:spLocks noRot="1" noChangeAspect="1" noMove="1" noResize="1" noEditPoints="1" noAdjustHandles="1" noChangeArrowheads="1" noChangeShapeType="1" noTextEdit="1"/>
              </p:cNvSpPr>
              <p:nvPr/>
            </p:nvSpPr>
            <p:spPr>
              <a:xfrm>
                <a:off x="1107473" y="3682697"/>
                <a:ext cx="9977054" cy="4862228"/>
              </a:xfrm>
              <a:prstGeom prst="rect">
                <a:avLst/>
              </a:prstGeom>
              <a:blipFill>
                <a:blip r:embed="rId3"/>
                <a:stretch>
                  <a:fillRect l="-550"/>
                </a:stretch>
              </a:blipFill>
            </p:spPr>
            <p:txBody>
              <a:bodyPr/>
              <a:lstStyle/>
              <a:p>
                <a:r>
                  <a:rPr lang="en-US">
                    <a:noFill/>
                  </a:rPr>
                  <a:t> </a:t>
                </a:r>
              </a:p>
            </p:txBody>
          </p:sp>
        </mc:Fallback>
      </mc:AlternateContent>
    </p:spTree>
    <p:extLst>
      <p:ext uri="{BB962C8B-B14F-4D97-AF65-F5344CB8AC3E}">
        <p14:creationId xmlns:p14="http://schemas.microsoft.com/office/powerpoint/2010/main" val="30544488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rrow: Chevron 3">
            <a:extLst>
              <a:ext uri="{FF2B5EF4-FFF2-40B4-BE49-F238E27FC236}">
                <a16:creationId xmlns:a16="http://schemas.microsoft.com/office/drawing/2014/main" id="{3414956B-18F8-DD14-3C2E-1F349D343775}"/>
              </a:ext>
            </a:extLst>
          </p:cNvPr>
          <p:cNvSpPr/>
          <p:nvPr/>
        </p:nvSpPr>
        <p:spPr>
          <a:xfrm>
            <a:off x="892601" y="488935"/>
            <a:ext cx="5896126" cy="694742"/>
          </a:xfrm>
          <a:prstGeom prst="chevron">
            <a:avLst/>
          </a:prstGeom>
          <a:solidFill>
            <a:schemeClr val="bg1">
              <a:lumMod val="85000"/>
              <a:alpha val="67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 name="Arrow: Chevron 4">
            <a:extLst>
              <a:ext uri="{FF2B5EF4-FFF2-40B4-BE49-F238E27FC236}">
                <a16:creationId xmlns:a16="http://schemas.microsoft.com/office/drawing/2014/main" id="{AB043FB3-EFDB-92FD-0C63-C9DAE76CDEFF}"/>
              </a:ext>
            </a:extLst>
          </p:cNvPr>
          <p:cNvSpPr/>
          <p:nvPr/>
        </p:nvSpPr>
        <p:spPr>
          <a:xfrm>
            <a:off x="393087" y="488936"/>
            <a:ext cx="817404" cy="694742"/>
          </a:xfrm>
          <a:prstGeom prst="chevron">
            <a:avLst/>
          </a:prstGeom>
          <a:gradFill>
            <a:gsLst>
              <a:gs pos="0">
                <a:srgbClr val="660874"/>
              </a:gs>
              <a:gs pos="50000">
                <a:srgbClr val="7030A0"/>
              </a:gs>
              <a:gs pos="100000">
                <a:srgbClr val="660874"/>
              </a:gs>
            </a:gsLst>
            <a:lin ang="5400000" scaled="0"/>
          </a:gra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 name="Title 1">
            <a:extLst>
              <a:ext uri="{FF2B5EF4-FFF2-40B4-BE49-F238E27FC236}">
                <a16:creationId xmlns:a16="http://schemas.microsoft.com/office/drawing/2014/main" id="{FE19D87D-44A7-64DD-76C6-5667590627CF}"/>
              </a:ext>
            </a:extLst>
          </p:cNvPr>
          <p:cNvSpPr txBox="1">
            <a:spLocks/>
          </p:cNvSpPr>
          <p:nvPr/>
        </p:nvSpPr>
        <p:spPr>
          <a:xfrm>
            <a:off x="1248477" y="190942"/>
            <a:ext cx="10515600" cy="1325563"/>
          </a:xfrm>
          <a:prstGeom prst="rect">
            <a:avLst/>
          </a:prstGeom>
          <a:effectLst/>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a:solidFill>
                  <a:srgbClr val="660874"/>
                </a:solidFill>
              </a:rPr>
              <a:t>Smooth Diffusion (Guo et. al 2023)</a:t>
            </a:r>
            <a:endParaRPr lang="zh-CN" altLang="en-US" sz="2800" dirty="0">
              <a:solidFill>
                <a:srgbClr val="660874"/>
              </a:solidFill>
            </a:endParaRPr>
          </a:p>
        </p:txBody>
      </p:sp>
      <p:sp>
        <p:nvSpPr>
          <p:cNvPr id="7" name="TextBox 6">
            <a:extLst>
              <a:ext uri="{FF2B5EF4-FFF2-40B4-BE49-F238E27FC236}">
                <a16:creationId xmlns:a16="http://schemas.microsoft.com/office/drawing/2014/main" id="{5D4FEE39-4496-7E61-1C24-783E5FDADA63}"/>
              </a:ext>
            </a:extLst>
          </p:cNvPr>
          <p:cNvSpPr txBox="1"/>
          <p:nvPr/>
        </p:nvSpPr>
        <p:spPr>
          <a:xfrm>
            <a:off x="712619" y="1694570"/>
            <a:ext cx="9977054" cy="5831725"/>
          </a:xfrm>
          <a:prstGeom prst="rect">
            <a:avLst/>
          </a:prstGeom>
          <a:noFill/>
        </p:spPr>
        <p:txBody>
          <a:bodyPr wrap="square" rtlCol="0">
            <a:spAutoFit/>
          </a:bodyPr>
          <a:lstStyle/>
          <a:p>
            <a:pPr marL="285750" indent="-285750">
              <a:lnSpc>
                <a:spcPct val="200000"/>
              </a:lnSpc>
              <a:buFont typeface="Wingdings" panose="05000000000000000000" pitchFamily="2" charset="2"/>
              <a:buChar char="Ø"/>
            </a:pPr>
            <a:r>
              <a:rPr lang="en-US" b="1" dirty="0">
                <a:solidFill>
                  <a:srgbClr val="660874"/>
                </a:solidFill>
              </a:rPr>
              <a:t>Experiment Setup (downstream tasks)</a:t>
            </a:r>
          </a:p>
          <a:p>
            <a:pPr marL="285750" indent="-285750">
              <a:lnSpc>
                <a:spcPct val="200000"/>
              </a:lnSpc>
              <a:buFont typeface="Wingdings" panose="05000000000000000000" pitchFamily="2" charset="2"/>
              <a:buChar char="Ø"/>
            </a:pPr>
            <a:r>
              <a:rPr lang="en-US" dirty="0">
                <a:solidFill>
                  <a:srgbClr val="660874"/>
                </a:solidFill>
              </a:rPr>
              <a:t>Image interpolation: </a:t>
            </a:r>
            <a:r>
              <a:rPr lang="en-US" u="sng" dirty="0">
                <a:solidFill>
                  <a:srgbClr val="660874"/>
                </a:solidFill>
              </a:rPr>
              <a:t>VAE-space interpolation </a:t>
            </a:r>
            <a:r>
              <a:rPr lang="en-US" dirty="0">
                <a:solidFill>
                  <a:srgbClr val="660874"/>
                </a:solidFill>
              </a:rPr>
              <a:t>and </a:t>
            </a:r>
            <a:r>
              <a:rPr lang="en-US" u="sng" dirty="0">
                <a:solidFill>
                  <a:srgbClr val="660874"/>
                </a:solidFill>
              </a:rPr>
              <a:t>ANID</a:t>
            </a:r>
          </a:p>
          <a:p>
            <a:pPr marL="285750" indent="-285750">
              <a:lnSpc>
                <a:spcPct val="200000"/>
              </a:lnSpc>
              <a:buFont typeface="Wingdings" panose="05000000000000000000" pitchFamily="2" charset="2"/>
              <a:buChar char="Ø"/>
            </a:pPr>
            <a:r>
              <a:rPr lang="en-US" dirty="0">
                <a:solidFill>
                  <a:srgbClr val="660874"/>
                </a:solidFill>
              </a:rPr>
              <a:t>image inversion: integrate Smooth Diffusion and Stable Diffusion with </a:t>
            </a:r>
            <a:r>
              <a:rPr lang="en-US" u="sng" dirty="0">
                <a:solidFill>
                  <a:srgbClr val="660874"/>
                </a:solidFill>
              </a:rPr>
              <a:t>DDIM</a:t>
            </a:r>
            <a:r>
              <a:rPr lang="en-US" dirty="0">
                <a:solidFill>
                  <a:srgbClr val="660874"/>
                </a:solidFill>
              </a:rPr>
              <a:t> and </a:t>
            </a:r>
            <a:r>
              <a:rPr lang="en-US" u="sng" dirty="0">
                <a:solidFill>
                  <a:srgbClr val="660874"/>
                </a:solidFill>
              </a:rPr>
              <a:t>Null-text inversion</a:t>
            </a:r>
          </a:p>
          <a:p>
            <a:pPr marL="285750" indent="-285750">
              <a:lnSpc>
                <a:spcPct val="200000"/>
              </a:lnSpc>
              <a:buFont typeface="Wingdings" panose="05000000000000000000" pitchFamily="2" charset="2"/>
              <a:buChar char="Ø"/>
            </a:pPr>
            <a:r>
              <a:rPr lang="en-US" dirty="0">
                <a:solidFill>
                  <a:srgbClr val="660874"/>
                </a:solidFill>
              </a:rPr>
              <a:t>text-based image editing: </a:t>
            </a:r>
            <a:r>
              <a:rPr lang="en-US" dirty="0" err="1">
                <a:solidFill>
                  <a:srgbClr val="660874"/>
                </a:solidFill>
              </a:rPr>
              <a:t>SDEdit</a:t>
            </a:r>
            <a:r>
              <a:rPr lang="en-US" dirty="0">
                <a:solidFill>
                  <a:srgbClr val="660874"/>
                </a:solidFill>
              </a:rPr>
              <a:t>, Prompt-to-Prompt (P2P) , Plug-and-Play (PnP), Diffusion Disentanglement (Disentangle), Pix2Pix-Zero and Cycle Diffusion </a:t>
            </a:r>
          </a:p>
          <a:p>
            <a:pPr marL="285750" indent="-285750">
              <a:buFontTx/>
              <a:buChar char="-"/>
            </a:pPr>
            <a:endParaRPr lang="en-US" dirty="0">
              <a:solidFill>
                <a:srgbClr val="660874"/>
              </a:solidFill>
            </a:endParaRPr>
          </a:p>
          <a:p>
            <a:pPr marL="285750" indent="-285750">
              <a:lnSpc>
                <a:spcPct val="200000"/>
              </a:lnSpc>
              <a:buFont typeface="Wingdings" panose="05000000000000000000" pitchFamily="2" charset="2"/>
              <a:buChar char="Ø"/>
            </a:pPr>
            <a:endParaRPr lang="en-US" b="1" dirty="0">
              <a:solidFill>
                <a:srgbClr val="660874"/>
              </a:solidFill>
            </a:endParaRPr>
          </a:p>
          <a:p>
            <a:pPr marL="285750" indent="-285750">
              <a:lnSpc>
                <a:spcPct val="200000"/>
              </a:lnSpc>
              <a:buFont typeface="Wingdings" panose="05000000000000000000" pitchFamily="2" charset="2"/>
              <a:buChar char="Ø"/>
            </a:pPr>
            <a:endParaRPr lang="en-US" b="1" dirty="0">
              <a:solidFill>
                <a:srgbClr val="660874"/>
              </a:solidFill>
            </a:endParaRPr>
          </a:p>
          <a:p>
            <a:pPr marL="285750" indent="-285750">
              <a:lnSpc>
                <a:spcPct val="200000"/>
              </a:lnSpc>
              <a:buFont typeface="Wingdings" panose="05000000000000000000" pitchFamily="2" charset="2"/>
              <a:buChar char="Ø"/>
            </a:pPr>
            <a:endParaRPr lang="en-US" b="1" dirty="0">
              <a:solidFill>
                <a:srgbClr val="660874"/>
              </a:solidFill>
            </a:endParaRPr>
          </a:p>
          <a:p>
            <a:pPr marL="285750" indent="-285750">
              <a:lnSpc>
                <a:spcPct val="200000"/>
              </a:lnSpc>
              <a:buFont typeface="Wingdings" panose="05000000000000000000" pitchFamily="2" charset="2"/>
              <a:buChar char="Ø"/>
            </a:pPr>
            <a:endParaRPr lang="en-US" b="1" dirty="0">
              <a:solidFill>
                <a:srgbClr val="660874"/>
              </a:solidFill>
            </a:endParaRPr>
          </a:p>
          <a:p>
            <a:pPr marL="285750" indent="-285750">
              <a:lnSpc>
                <a:spcPct val="200000"/>
              </a:lnSpc>
              <a:buFont typeface="Wingdings" panose="05000000000000000000" pitchFamily="2" charset="2"/>
              <a:buChar char="Ø"/>
            </a:pPr>
            <a:endParaRPr lang="en-US" b="1" dirty="0">
              <a:solidFill>
                <a:srgbClr val="660874"/>
              </a:solidFill>
            </a:endParaRPr>
          </a:p>
        </p:txBody>
      </p:sp>
    </p:spTree>
    <p:extLst>
      <p:ext uri="{BB962C8B-B14F-4D97-AF65-F5344CB8AC3E}">
        <p14:creationId xmlns:p14="http://schemas.microsoft.com/office/powerpoint/2010/main" val="8402157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331627-2C14-CFDB-E18C-ABFEA6BA08B9}"/>
            </a:ext>
          </a:extLst>
        </p:cNvPr>
        <p:cNvGrpSpPr/>
        <p:nvPr/>
      </p:nvGrpSpPr>
      <p:grpSpPr>
        <a:xfrm>
          <a:off x="0" y="0"/>
          <a:ext cx="0" cy="0"/>
          <a:chOff x="0" y="0"/>
          <a:chExt cx="0" cy="0"/>
        </a:xfrm>
      </p:grpSpPr>
      <p:sp>
        <p:nvSpPr>
          <p:cNvPr id="4" name="Arrow: Chevron 3">
            <a:extLst>
              <a:ext uri="{FF2B5EF4-FFF2-40B4-BE49-F238E27FC236}">
                <a16:creationId xmlns:a16="http://schemas.microsoft.com/office/drawing/2014/main" id="{A2956295-2AD6-55E7-BA21-159551CEA880}"/>
              </a:ext>
            </a:extLst>
          </p:cNvPr>
          <p:cNvSpPr/>
          <p:nvPr/>
        </p:nvSpPr>
        <p:spPr>
          <a:xfrm>
            <a:off x="892601" y="488935"/>
            <a:ext cx="5896126" cy="694742"/>
          </a:xfrm>
          <a:prstGeom prst="chevron">
            <a:avLst/>
          </a:prstGeom>
          <a:solidFill>
            <a:schemeClr val="bg1">
              <a:lumMod val="85000"/>
              <a:alpha val="67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 name="Arrow: Chevron 4">
            <a:extLst>
              <a:ext uri="{FF2B5EF4-FFF2-40B4-BE49-F238E27FC236}">
                <a16:creationId xmlns:a16="http://schemas.microsoft.com/office/drawing/2014/main" id="{4D3CD582-0BAE-7575-9128-A05D6E53A106}"/>
              </a:ext>
            </a:extLst>
          </p:cNvPr>
          <p:cNvSpPr/>
          <p:nvPr/>
        </p:nvSpPr>
        <p:spPr>
          <a:xfrm>
            <a:off x="393087" y="488936"/>
            <a:ext cx="817404" cy="694742"/>
          </a:xfrm>
          <a:prstGeom prst="chevron">
            <a:avLst/>
          </a:prstGeom>
          <a:gradFill>
            <a:gsLst>
              <a:gs pos="0">
                <a:srgbClr val="660874"/>
              </a:gs>
              <a:gs pos="50000">
                <a:srgbClr val="7030A0"/>
              </a:gs>
              <a:gs pos="100000">
                <a:srgbClr val="660874"/>
              </a:gs>
            </a:gsLst>
            <a:lin ang="5400000" scaled="0"/>
          </a:gra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 name="Title 1">
            <a:extLst>
              <a:ext uri="{FF2B5EF4-FFF2-40B4-BE49-F238E27FC236}">
                <a16:creationId xmlns:a16="http://schemas.microsoft.com/office/drawing/2014/main" id="{4E2B10F9-A7BC-96AC-1030-1F7A51E508D1}"/>
              </a:ext>
            </a:extLst>
          </p:cNvPr>
          <p:cNvSpPr txBox="1">
            <a:spLocks/>
          </p:cNvSpPr>
          <p:nvPr/>
        </p:nvSpPr>
        <p:spPr>
          <a:xfrm>
            <a:off x="1248477" y="190942"/>
            <a:ext cx="10515600" cy="1325563"/>
          </a:xfrm>
          <a:prstGeom prst="rect">
            <a:avLst/>
          </a:prstGeom>
          <a:effectLst/>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a:solidFill>
                  <a:srgbClr val="660874"/>
                </a:solidFill>
              </a:rPr>
              <a:t>Smooth Diffusion (Guo et. al 2023)</a:t>
            </a:r>
            <a:endParaRPr lang="zh-CN" altLang="en-US" sz="2800" dirty="0">
              <a:solidFill>
                <a:srgbClr val="660874"/>
              </a:solidFill>
            </a:endParaRPr>
          </a:p>
        </p:txBody>
      </p:sp>
      <p:sp>
        <p:nvSpPr>
          <p:cNvPr id="7" name="TextBox 6">
            <a:extLst>
              <a:ext uri="{FF2B5EF4-FFF2-40B4-BE49-F238E27FC236}">
                <a16:creationId xmlns:a16="http://schemas.microsoft.com/office/drawing/2014/main" id="{F0DE9C32-B593-BC7E-E533-A1277835093D}"/>
              </a:ext>
            </a:extLst>
          </p:cNvPr>
          <p:cNvSpPr txBox="1"/>
          <p:nvPr/>
        </p:nvSpPr>
        <p:spPr>
          <a:xfrm>
            <a:off x="712619" y="1694570"/>
            <a:ext cx="9977054" cy="6139501"/>
          </a:xfrm>
          <a:prstGeom prst="rect">
            <a:avLst/>
          </a:prstGeom>
          <a:noFill/>
        </p:spPr>
        <p:txBody>
          <a:bodyPr wrap="square" rtlCol="0">
            <a:spAutoFit/>
          </a:bodyPr>
          <a:lstStyle/>
          <a:p>
            <a:pPr marL="285750" indent="-285750">
              <a:lnSpc>
                <a:spcPct val="200000"/>
              </a:lnSpc>
              <a:buFont typeface="Wingdings" panose="05000000000000000000" pitchFamily="2" charset="2"/>
              <a:buChar char="Ø"/>
            </a:pPr>
            <a:r>
              <a:rPr lang="en-US" b="1" dirty="0">
                <a:solidFill>
                  <a:srgbClr val="660874"/>
                </a:solidFill>
              </a:rPr>
              <a:t>Experiment Setup (implementation)</a:t>
            </a:r>
          </a:p>
          <a:p>
            <a:pPr marL="285750" indent="-285750">
              <a:lnSpc>
                <a:spcPct val="200000"/>
              </a:lnSpc>
              <a:buFont typeface="Wingdings" panose="05000000000000000000" pitchFamily="2" charset="2"/>
              <a:buChar char="Ø"/>
            </a:pPr>
            <a:r>
              <a:rPr lang="en-US" sz="1600" dirty="0">
                <a:solidFill>
                  <a:srgbClr val="660874"/>
                </a:solidFill>
              </a:rPr>
              <a:t>The smooth diffusion is trained atop pretrained Stable Diffusion V-1.5, using </a:t>
            </a:r>
            <a:r>
              <a:rPr lang="en-US" sz="1600" dirty="0" err="1">
                <a:solidFill>
                  <a:srgbClr val="660874"/>
                </a:solidFill>
              </a:rPr>
              <a:t>LoRA</a:t>
            </a:r>
            <a:r>
              <a:rPr lang="en-US" sz="1600" dirty="0">
                <a:solidFill>
                  <a:srgbClr val="660874"/>
                </a:solidFill>
              </a:rPr>
              <a:t> finetuning technique </a:t>
            </a:r>
          </a:p>
          <a:p>
            <a:pPr marL="285750" indent="-285750">
              <a:lnSpc>
                <a:spcPct val="200000"/>
              </a:lnSpc>
              <a:buFont typeface="Wingdings" panose="05000000000000000000" pitchFamily="2" charset="2"/>
              <a:buChar char="Ø"/>
            </a:pPr>
            <a:r>
              <a:rPr lang="en-US" sz="1600" dirty="0">
                <a:solidFill>
                  <a:srgbClr val="660874"/>
                </a:solidFill>
              </a:rPr>
              <a:t>The </a:t>
            </a:r>
            <a:r>
              <a:rPr lang="en-US" sz="1600" dirty="0" err="1">
                <a:solidFill>
                  <a:srgbClr val="660874"/>
                </a:solidFill>
              </a:rPr>
              <a:t>Unet</a:t>
            </a:r>
            <a:r>
              <a:rPr lang="en-US" sz="1600" dirty="0">
                <a:solidFill>
                  <a:srgbClr val="660874"/>
                </a:solidFill>
              </a:rPr>
              <a:t> was set as trainable while the parameters for other factors were fixed</a:t>
            </a:r>
          </a:p>
          <a:p>
            <a:pPr marL="285750" indent="-285750">
              <a:lnSpc>
                <a:spcPct val="200000"/>
              </a:lnSpc>
              <a:buFont typeface="Wingdings" panose="05000000000000000000" pitchFamily="2" charset="2"/>
              <a:buChar char="Ø"/>
            </a:pPr>
            <a:r>
              <a:rPr lang="en-US" sz="1600" dirty="0">
                <a:solidFill>
                  <a:srgbClr val="660874"/>
                </a:solidFill>
              </a:rPr>
              <a:t>4 A100 GPUs three days (trained for 30K iterations with a batch size of 96, 3 samples per GPU)</a:t>
            </a:r>
          </a:p>
          <a:p>
            <a:pPr marL="285750" indent="-285750">
              <a:lnSpc>
                <a:spcPct val="200000"/>
              </a:lnSpc>
              <a:buFont typeface="Wingdings" panose="05000000000000000000" pitchFamily="2" charset="2"/>
              <a:buChar char="Ø"/>
            </a:pPr>
            <a:r>
              <a:rPr lang="en-US" sz="1600" dirty="0">
                <a:solidFill>
                  <a:srgbClr val="660874"/>
                </a:solidFill>
              </a:rPr>
              <a:t>LAION Aesthetics 6.5+ as the training dataset</a:t>
            </a:r>
          </a:p>
          <a:p>
            <a:pPr marL="285750" indent="-285750">
              <a:lnSpc>
                <a:spcPct val="200000"/>
              </a:lnSpc>
              <a:buFont typeface="Wingdings" panose="05000000000000000000" pitchFamily="2" charset="2"/>
              <a:buChar char="Ø"/>
            </a:pPr>
            <a:endParaRPr lang="en-US" sz="1600" dirty="0">
              <a:solidFill>
                <a:srgbClr val="660874"/>
              </a:solidFill>
            </a:endParaRPr>
          </a:p>
          <a:p>
            <a:endParaRPr lang="en-US" dirty="0">
              <a:solidFill>
                <a:srgbClr val="660874"/>
              </a:solidFill>
            </a:endParaRPr>
          </a:p>
          <a:p>
            <a:pPr marL="285750" indent="-285750">
              <a:lnSpc>
                <a:spcPct val="200000"/>
              </a:lnSpc>
              <a:buFont typeface="Wingdings" panose="05000000000000000000" pitchFamily="2" charset="2"/>
              <a:buChar char="Ø"/>
            </a:pPr>
            <a:endParaRPr lang="en-US" b="1" dirty="0">
              <a:solidFill>
                <a:srgbClr val="660874"/>
              </a:solidFill>
            </a:endParaRPr>
          </a:p>
          <a:p>
            <a:pPr marL="285750" indent="-285750">
              <a:lnSpc>
                <a:spcPct val="200000"/>
              </a:lnSpc>
              <a:buFont typeface="Wingdings" panose="05000000000000000000" pitchFamily="2" charset="2"/>
              <a:buChar char="Ø"/>
            </a:pPr>
            <a:endParaRPr lang="en-US" b="1" dirty="0">
              <a:solidFill>
                <a:srgbClr val="660874"/>
              </a:solidFill>
            </a:endParaRPr>
          </a:p>
          <a:p>
            <a:pPr marL="285750" indent="-285750">
              <a:lnSpc>
                <a:spcPct val="200000"/>
              </a:lnSpc>
              <a:buFont typeface="Wingdings" panose="05000000000000000000" pitchFamily="2" charset="2"/>
              <a:buChar char="Ø"/>
            </a:pPr>
            <a:endParaRPr lang="en-US" b="1" dirty="0">
              <a:solidFill>
                <a:srgbClr val="660874"/>
              </a:solidFill>
            </a:endParaRPr>
          </a:p>
          <a:p>
            <a:pPr marL="285750" indent="-285750">
              <a:lnSpc>
                <a:spcPct val="200000"/>
              </a:lnSpc>
              <a:buFont typeface="Wingdings" panose="05000000000000000000" pitchFamily="2" charset="2"/>
              <a:buChar char="Ø"/>
            </a:pPr>
            <a:endParaRPr lang="en-US" b="1" dirty="0">
              <a:solidFill>
                <a:srgbClr val="660874"/>
              </a:solidFill>
            </a:endParaRPr>
          </a:p>
          <a:p>
            <a:pPr marL="285750" indent="-285750">
              <a:lnSpc>
                <a:spcPct val="200000"/>
              </a:lnSpc>
              <a:buFont typeface="Wingdings" panose="05000000000000000000" pitchFamily="2" charset="2"/>
              <a:buChar char="Ø"/>
            </a:pPr>
            <a:endParaRPr lang="en-US" b="1" dirty="0">
              <a:solidFill>
                <a:srgbClr val="660874"/>
              </a:solidFill>
            </a:endParaRPr>
          </a:p>
        </p:txBody>
      </p:sp>
    </p:spTree>
    <p:extLst>
      <p:ext uri="{BB962C8B-B14F-4D97-AF65-F5344CB8AC3E}">
        <p14:creationId xmlns:p14="http://schemas.microsoft.com/office/powerpoint/2010/main" val="26473324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01601E-475B-C203-09C6-0D41198DA2A9}"/>
            </a:ext>
          </a:extLst>
        </p:cNvPr>
        <p:cNvGrpSpPr/>
        <p:nvPr/>
      </p:nvGrpSpPr>
      <p:grpSpPr>
        <a:xfrm>
          <a:off x="0" y="0"/>
          <a:ext cx="0" cy="0"/>
          <a:chOff x="0" y="0"/>
          <a:chExt cx="0" cy="0"/>
        </a:xfrm>
      </p:grpSpPr>
      <p:sp>
        <p:nvSpPr>
          <p:cNvPr id="4" name="Arrow: Chevron 3">
            <a:extLst>
              <a:ext uri="{FF2B5EF4-FFF2-40B4-BE49-F238E27FC236}">
                <a16:creationId xmlns:a16="http://schemas.microsoft.com/office/drawing/2014/main" id="{45C183C1-A244-25B1-4897-AA10000FA5EF}"/>
              </a:ext>
            </a:extLst>
          </p:cNvPr>
          <p:cNvSpPr/>
          <p:nvPr/>
        </p:nvSpPr>
        <p:spPr>
          <a:xfrm>
            <a:off x="892601" y="488935"/>
            <a:ext cx="5896126" cy="694742"/>
          </a:xfrm>
          <a:prstGeom prst="chevron">
            <a:avLst/>
          </a:prstGeom>
          <a:solidFill>
            <a:schemeClr val="bg1">
              <a:lumMod val="85000"/>
              <a:alpha val="67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 name="Arrow: Chevron 4">
            <a:extLst>
              <a:ext uri="{FF2B5EF4-FFF2-40B4-BE49-F238E27FC236}">
                <a16:creationId xmlns:a16="http://schemas.microsoft.com/office/drawing/2014/main" id="{FF20D33D-8724-F26D-BFB5-8F6015F7995A}"/>
              </a:ext>
            </a:extLst>
          </p:cNvPr>
          <p:cNvSpPr/>
          <p:nvPr/>
        </p:nvSpPr>
        <p:spPr>
          <a:xfrm>
            <a:off x="393087" y="488936"/>
            <a:ext cx="817404" cy="694742"/>
          </a:xfrm>
          <a:prstGeom prst="chevron">
            <a:avLst/>
          </a:prstGeom>
          <a:gradFill>
            <a:gsLst>
              <a:gs pos="0">
                <a:srgbClr val="660874"/>
              </a:gs>
              <a:gs pos="50000">
                <a:srgbClr val="7030A0"/>
              </a:gs>
              <a:gs pos="100000">
                <a:srgbClr val="660874"/>
              </a:gs>
            </a:gsLst>
            <a:lin ang="5400000" scaled="0"/>
          </a:gra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 name="Title 1">
            <a:extLst>
              <a:ext uri="{FF2B5EF4-FFF2-40B4-BE49-F238E27FC236}">
                <a16:creationId xmlns:a16="http://schemas.microsoft.com/office/drawing/2014/main" id="{680DF57F-55B6-85A9-B741-CC4C3903F1C0}"/>
              </a:ext>
            </a:extLst>
          </p:cNvPr>
          <p:cNvSpPr txBox="1">
            <a:spLocks/>
          </p:cNvSpPr>
          <p:nvPr/>
        </p:nvSpPr>
        <p:spPr>
          <a:xfrm>
            <a:off x="1248477" y="190942"/>
            <a:ext cx="10515600" cy="1325563"/>
          </a:xfrm>
          <a:prstGeom prst="rect">
            <a:avLst/>
          </a:prstGeom>
          <a:effectLst/>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a:solidFill>
                  <a:srgbClr val="660874"/>
                </a:solidFill>
              </a:rPr>
              <a:t>Smooth Diffusion (Guo et. al 2023)</a:t>
            </a:r>
            <a:endParaRPr lang="zh-CN" altLang="en-US" sz="2800" dirty="0">
              <a:solidFill>
                <a:srgbClr val="660874"/>
              </a:solidFill>
            </a:endParaRPr>
          </a:p>
        </p:txBody>
      </p:sp>
      <p:sp>
        <p:nvSpPr>
          <p:cNvPr id="7" name="TextBox 6">
            <a:extLst>
              <a:ext uri="{FF2B5EF4-FFF2-40B4-BE49-F238E27FC236}">
                <a16:creationId xmlns:a16="http://schemas.microsoft.com/office/drawing/2014/main" id="{0AA082B1-28D1-97CE-8FE4-2DA2784F12F2}"/>
              </a:ext>
            </a:extLst>
          </p:cNvPr>
          <p:cNvSpPr txBox="1"/>
          <p:nvPr/>
        </p:nvSpPr>
        <p:spPr>
          <a:xfrm>
            <a:off x="574073" y="1084970"/>
            <a:ext cx="9977054" cy="7924605"/>
          </a:xfrm>
          <a:prstGeom prst="rect">
            <a:avLst/>
          </a:prstGeom>
          <a:noFill/>
        </p:spPr>
        <p:txBody>
          <a:bodyPr wrap="square" rtlCol="0">
            <a:spAutoFit/>
          </a:bodyPr>
          <a:lstStyle/>
          <a:p>
            <a:pPr marL="285750" indent="-285750">
              <a:lnSpc>
                <a:spcPct val="200000"/>
              </a:lnSpc>
              <a:buFont typeface="Wingdings" panose="05000000000000000000" pitchFamily="2" charset="2"/>
              <a:buChar char="Ø"/>
            </a:pPr>
            <a:r>
              <a:rPr lang="en-US" b="1" dirty="0">
                <a:solidFill>
                  <a:srgbClr val="660874"/>
                </a:solidFill>
              </a:rPr>
              <a:t>Experiment Setup (evaluation)</a:t>
            </a:r>
          </a:p>
          <a:p>
            <a:pPr marL="285750" indent="-285750">
              <a:lnSpc>
                <a:spcPct val="150000"/>
              </a:lnSpc>
              <a:buFont typeface="Wingdings" panose="05000000000000000000" pitchFamily="2" charset="2"/>
              <a:buChar char="Ø"/>
            </a:pPr>
            <a:r>
              <a:rPr lang="en-US" sz="1600" dirty="0">
                <a:solidFill>
                  <a:srgbClr val="660874"/>
                </a:solidFill>
              </a:rPr>
              <a:t>The text-to-image generation performance is scored for CLIP and FID</a:t>
            </a:r>
          </a:p>
          <a:p>
            <a:pPr marL="285750" indent="-285750">
              <a:lnSpc>
                <a:spcPct val="150000"/>
              </a:lnSpc>
              <a:buFont typeface="Wingdings" panose="05000000000000000000" pitchFamily="2" charset="2"/>
              <a:buChar char="Ø"/>
            </a:pPr>
            <a:r>
              <a:rPr lang="en-US" sz="1600" dirty="0">
                <a:solidFill>
                  <a:srgbClr val="660874"/>
                </a:solidFill>
              </a:rPr>
              <a:t>To assess the latent space smoothness, ISTD is used. In fact, the ISTD metric is proposed by this very paper. The metric is evaluated in the following way:</a:t>
            </a:r>
          </a:p>
          <a:p>
            <a:r>
              <a:rPr lang="en-US" sz="1600" dirty="0">
                <a:solidFill>
                  <a:srgbClr val="660874"/>
                </a:solidFill>
              </a:rPr>
              <a:t>	- Sample 500 text prompts from MS-COCO</a:t>
            </a:r>
          </a:p>
          <a:p>
            <a:r>
              <a:rPr lang="en-US" sz="1600" dirty="0">
                <a:solidFill>
                  <a:srgbClr val="660874"/>
                </a:solidFill>
              </a:rPr>
              <a:t>	- For each prompt:</a:t>
            </a:r>
          </a:p>
          <a:p>
            <a:pPr lvl="1"/>
            <a:r>
              <a:rPr lang="en-US" sz="1600" dirty="0">
                <a:solidFill>
                  <a:srgbClr val="660874"/>
                </a:solidFill>
              </a:rPr>
              <a:t>		Sample two Gaussian noise vectors (start/end points)</a:t>
            </a:r>
          </a:p>
          <a:p>
            <a:pPr lvl="1"/>
            <a:r>
              <a:rPr lang="en-US" sz="1600" dirty="0">
                <a:solidFill>
                  <a:srgbClr val="660874"/>
                </a:solidFill>
              </a:rPr>
              <a:t>	   	</a:t>
            </a:r>
            <a:r>
              <a:rPr lang="en-US" altLang="zh-CN" sz="1600" dirty="0">
                <a:solidFill>
                  <a:srgbClr val="660874"/>
                </a:solidFill>
              </a:rPr>
              <a:t>C</a:t>
            </a:r>
            <a:r>
              <a:rPr lang="en-US" sz="1600" dirty="0">
                <a:solidFill>
                  <a:srgbClr val="660874"/>
                </a:solidFill>
              </a:rPr>
              <a:t>reate 9 uniform interpolations between them (0.1 to 0.9 ratios)</a:t>
            </a:r>
          </a:p>
          <a:p>
            <a:pPr lvl="1"/>
            <a:r>
              <a:rPr lang="en-US" sz="1600" dirty="0">
                <a:solidFill>
                  <a:srgbClr val="660874"/>
                </a:solidFill>
              </a:rPr>
              <a:t>	   	Generate 11 total images (2 endpoints + 9 interpolations)</a:t>
            </a:r>
          </a:p>
          <a:p>
            <a:r>
              <a:rPr lang="en-US" sz="1600" dirty="0">
                <a:solidFill>
                  <a:srgbClr val="660874"/>
                </a:solidFill>
              </a:rPr>
              <a:t>	- Calculate consistency:</a:t>
            </a:r>
          </a:p>
          <a:p>
            <a:pPr lvl="1"/>
            <a:r>
              <a:rPr lang="en-US" sz="1600" dirty="0">
                <a:solidFill>
                  <a:srgbClr val="660874"/>
                </a:solidFill>
              </a:rPr>
              <a:t>		Compute L2 distances between adjacent images in the sequence</a:t>
            </a:r>
          </a:p>
          <a:p>
            <a:pPr lvl="1"/>
            <a:r>
              <a:rPr lang="en-US" sz="1600" dirty="0">
                <a:solidFill>
                  <a:srgbClr val="660874"/>
                </a:solidFill>
              </a:rPr>
              <a:t>		Take standard deviation of these 10 distances</a:t>
            </a:r>
          </a:p>
          <a:p>
            <a:r>
              <a:rPr lang="en-US" sz="1600" dirty="0">
                <a:solidFill>
                  <a:srgbClr val="660874"/>
                </a:solidFill>
              </a:rPr>
              <a:t>	- Final metric: Average the standard deviations across all 500 prompts</a:t>
            </a:r>
          </a:p>
          <a:p>
            <a:pPr marL="285750" indent="-285750">
              <a:lnSpc>
                <a:spcPct val="200000"/>
              </a:lnSpc>
              <a:buFont typeface="Wingdings" panose="05000000000000000000" pitchFamily="2" charset="2"/>
              <a:buChar char="Ø"/>
            </a:pPr>
            <a:r>
              <a:rPr lang="en-US" sz="1600" dirty="0">
                <a:solidFill>
                  <a:srgbClr val="660874"/>
                </a:solidFill>
              </a:rPr>
              <a:t>image inversion: mean square error, LPIPS, SSIM and PSNR</a:t>
            </a:r>
          </a:p>
          <a:p>
            <a:pPr marL="285750" indent="-285750">
              <a:lnSpc>
                <a:spcPct val="200000"/>
              </a:lnSpc>
              <a:buFont typeface="Wingdings" panose="05000000000000000000" pitchFamily="2" charset="2"/>
              <a:buChar char="Ø"/>
            </a:pPr>
            <a:endParaRPr lang="en-US" sz="1600" dirty="0">
              <a:solidFill>
                <a:srgbClr val="660874"/>
              </a:solidFill>
            </a:endParaRPr>
          </a:p>
          <a:p>
            <a:endParaRPr lang="en-US" dirty="0">
              <a:solidFill>
                <a:srgbClr val="660874"/>
              </a:solidFill>
            </a:endParaRPr>
          </a:p>
          <a:p>
            <a:pPr marL="285750" indent="-285750">
              <a:lnSpc>
                <a:spcPct val="200000"/>
              </a:lnSpc>
              <a:buFont typeface="Wingdings" panose="05000000000000000000" pitchFamily="2" charset="2"/>
              <a:buChar char="Ø"/>
            </a:pPr>
            <a:endParaRPr lang="en-US" b="1" dirty="0">
              <a:solidFill>
                <a:srgbClr val="660874"/>
              </a:solidFill>
            </a:endParaRPr>
          </a:p>
          <a:p>
            <a:pPr marL="285750" indent="-285750">
              <a:lnSpc>
                <a:spcPct val="200000"/>
              </a:lnSpc>
              <a:buFont typeface="Wingdings" panose="05000000000000000000" pitchFamily="2" charset="2"/>
              <a:buChar char="Ø"/>
            </a:pPr>
            <a:endParaRPr lang="en-US" b="1" dirty="0">
              <a:solidFill>
                <a:srgbClr val="660874"/>
              </a:solidFill>
            </a:endParaRPr>
          </a:p>
          <a:p>
            <a:pPr marL="285750" indent="-285750">
              <a:lnSpc>
                <a:spcPct val="200000"/>
              </a:lnSpc>
              <a:buFont typeface="Wingdings" panose="05000000000000000000" pitchFamily="2" charset="2"/>
              <a:buChar char="Ø"/>
            </a:pPr>
            <a:endParaRPr lang="en-US" b="1" dirty="0">
              <a:solidFill>
                <a:srgbClr val="660874"/>
              </a:solidFill>
            </a:endParaRPr>
          </a:p>
          <a:p>
            <a:pPr marL="285750" indent="-285750">
              <a:lnSpc>
                <a:spcPct val="200000"/>
              </a:lnSpc>
              <a:buFont typeface="Wingdings" panose="05000000000000000000" pitchFamily="2" charset="2"/>
              <a:buChar char="Ø"/>
            </a:pPr>
            <a:endParaRPr lang="en-US" b="1" dirty="0">
              <a:solidFill>
                <a:srgbClr val="660874"/>
              </a:solidFill>
            </a:endParaRPr>
          </a:p>
          <a:p>
            <a:pPr marL="285750" indent="-285750">
              <a:lnSpc>
                <a:spcPct val="200000"/>
              </a:lnSpc>
              <a:buFont typeface="Wingdings" panose="05000000000000000000" pitchFamily="2" charset="2"/>
              <a:buChar char="Ø"/>
            </a:pPr>
            <a:endParaRPr lang="en-US" b="1" dirty="0">
              <a:solidFill>
                <a:srgbClr val="660874"/>
              </a:solidFill>
            </a:endParaRPr>
          </a:p>
        </p:txBody>
      </p:sp>
      <p:sp>
        <p:nvSpPr>
          <p:cNvPr id="3" name="TextBox 2">
            <a:extLst>
              <a:ext uri="{FF2B5EF4-FFF2-40B4-BE49-F238E27FC236}">
                <a16:creationId xmlns:a16="http://schemas.microsoft.com/office/drawing/2014/main" id="{FD0545E3-0DE1-7937-F3F2-779DB1F6A903}"/>
              </a:ext>
            </a:extLst>
          </p:cNvPr>
          <p:cNvSpPr txBox="1"/>
          <p:nvPr/>
        </p:nvSpPr>
        <p:spPr>
          <a:xfrm>
            <a:off x="7917871" y="4524052"/>
            <a:ext cx="6096000" cy="523220"/>
          </a:xfrm>
          <a:prstGeom prst="rect">
            <a:avLst/>
          </a:prstGeom>
          <a:noFill/>
        </p:spPr>
        <p:txBody>
          <a:bodyPr wrap="square">
            <a:spAutoFit/>
          </a:bodyPr>
          <a:lstStyle/>
          <a:p>
            <a:pPr marL="285750" indent="-285750">
              <a:buFont typeface="Wingdings" panose="05000000000000000000" pitchFamily="2" charset="2"/>
              <a:buChar char="Ø"/>
            </a:pPr>
            <a:r>
              <a:rPr lang="en-US" sz="1400" dirty="0">
                <a:solidFill>
                  <a:srgbClr val="660874"/>
                </a:solidFill>
              </a:rPr>
              <a:t>Perfect smoothness: ISTD = 0 </a:t>
            </a:r>
          </a:p>
          <a:p>
            <a:pPr marL="285750" indent="-285750">
              <a:buFont typeface="Wingdings" panose="05000000000000000000" pitchFamily="2" charset="2"/>
              <a:buChar char="Ø"/>
            </a:pPr>
            <a:r>
              <a:rPr lang="en-US" sz="1400" dirty="0">
                <a:solidFill>
                  <a:srgbClr val="660874"/>
                </a:solidFill>
              </a:rPr>
              <a:t>Higher ISTD likely implies visual inconsistency</a:t>
            </a:r>
            <a:endParaRPr lang="en-US" sz="1400" dirty="0"/>
          </a:p>
        </p:txBody>
      </p:sp>
      <p:pic>
        <p:nvPicPr>
          <p:cNvPr id="9" name="Picture 8">
            <a:extLst>
              <a:ext uri="{FF2B5EF4-FFF2-40B4-BE49-F238E27FC236}">
                <a16:creationId xmlns:a16="http://schemas.microsoft.com/office/drawing/2014/main" id="{3FA2887C-D778-CD2E-B965-76F1D2077A4A}"/>
              </a:ext>
            </a:extLst>
          </p:cNvPr>
          <p:cNvPicPr>
            <a:picLocks noChangeAspect="1"/>
          </p:cNvPicPr>
          <p:nvPr/>
        </p:nvPicPr>
        <p:blipFill>
          <a:blip r:embed="rId2"/>
          <a:stretch>
            <a:fillRect/>
          </a:stretch>
        </p:blipFill>
        <p:spPr>
          <a:xfrm>
            <a:off x="522320" y="5406203"/>
            <a:ext cx="7222371" cy="1309506"/>
          </a:xfrm>
          <a:prstGeom prst="rect">
            <a:avLst/>
          </a:prstGeom>
        </p:spPr>
      </p:pic>
    </p:spTree>
    <p:extLst>
      <p:ext uri="{BB962C8B-B14F-4D97-AF65-F5344CB8AC3E}">
        <p14:creationId xmlns:p14="http://schemas.microsoft.com/office/powerpoint/2010/main" val="10856296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A9ADE8-05E5-6795-D213-46DB532E5286}"/>
            </a:ext>
          </a:extLst>
        </p:cNvPr>
        <p:cNvGrpSpPr/>
        <p:nvPr/>
      </p:nvGrpSpPr>
      <p:grpSpPr>
        <a:xfrm>
          <a:off x="0" y="0"/>
          <a:ext cx="0" cy="0"/>
          <a:chOff x="0" y="0"/>
          <a:chExt cx="0" cy="0"/>
        </a:xfrm>
      </p:grpSpPr>
      <p:sp>
        <p:nvSpPr>
          <p:cNvPr id="4" name="Arrow: Chevron 3">
            <a:extLst>
              <a:ext uri="{FF2B5EF4-FFF2-40B4-BE49-F238E27FC236}">
                <a16:creationId xmlns:a16="http://schemas.microsoft.com/office/drawing/2014/main" id="{E12293A3-3E65-3B50-A91B-69062B53946D}"/>
              </a:ext>
            </a:extLst>
          </p:cNvPr>
          <p:cNvSpPr/>
          <p:nvPr/>
        </p:nvSpPr>
        <p:spPr>
          <a:xfrm>
            <a:off x="892601" y="488935"/>
            <a:ext cx="1788254" cy="694742"/>
          </a:xfrm>
          <a:prstGeom prst="chevron">
            <a:avLst/>
          </a:prstGeom>
          <a:solidFill>
            <a:schemeClr val="bg1">
              <a:lumMod val="85000"/>
              <a:alpha val="67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 name="Arrow: Chevron 4">
            <a:extLst>
              <a:ext uri="{FF2B5EF4-FFF2-40B4-BE49-F238E27FC236}">
                <a16:creationId xmlns:a16="http://schemas.microsoft.com/office/drawing/2014/main" id="{2A36D0AA-521A-DD75-FA02-B21C4ECE3416}"/>
              </a:ext>
            </a:extLst>
          </p:cNvPr>
          <p:cNvSpPr/>
          <p:nvPr/>
        </p:nvSpPr>
        <p:spPr>
          <a:xfrm>
            <a:off x="393087" y="488936"/>
            <a:ext cx="817404" cy="694742"/>
          </a:xfrm>
          <a:prstGeom prst="chevron">
            <a:avLst/>
          </a:prstGeom>
          <a:gradFill>
            <a:gsLst>
              <a:gs pos="0">
                <a:srgbClr val="660874"/>
              </a:gs>
              <a:gs pos="50000">
                <a:srgbClr val="7030A0"/>
              </a:gs>
              <a:gs pos="100000">
                <a:srgbClr val="660874"/>
              </a:gs>
            </a:gsLst>
            <a:lin ang="5400000" scaled="0"/>
          </a:gra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 name="Title 1">
            <a:extLst>
              <a:ext uri="{FF2B5EF4-FFF2-40B4-BE49-F238E27FC236}">
                <a16:creationId xmlns:a16="http://schemas.microsoft.com/office/drawing/2014/main" id="{2450B8DD-F5CB-2720-ED1A-FAF6E5FE3D85}"/>
              </a:ext>
            </a:extLst>
          </p:cNvPr>
          <p:cNvSpPr txBox="1">
            <a:spLocks/>
          </p:cNvSpPr>
          <p:nvPr/>
        </p:nvSpPr>
        <p:spPr>
          <a:xfrm>
            <a:off x="1248477" y="190942"/>
            <a:ext cx="10515600" cy="1325563"/>
          </a:xfrm>
          <a:prstGeom prst="rect">
            <a:avLst/>
          </a:prstGeom>
          <a:effectLst/>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solidFill>
                  <a:srgbClr val="660874"/>
                </a:solidFill>
              </a:rPr>
              <a:t>Code</a:t>
            </a:r>
            <a:endParaRPr lang="zh-CN" altLang="en-US" sz="2800" dirty="0">
              <a:solidFill>
                <a:srgbClr val="660874"/>
              </a:solidFill>
            </a:endParaRPr>
          </a:p>
        </p:txBody>
      </p:sp>
      <p:sp>
        <p:nvSpPr>
          <p:cNvPr id="7" name="TextBox 6">
            <a:extLst>
              <a:ext uri="{FF2B5EF4-FFF2-40B4-BE49-F238E27FC236}">
                <a16:creationId xmlns:a16="http://schemas.microsoft.com/office/drawing/2014/main" id="{386119B1-2A94-64E5-F93F-6CD8FFC8216F}"/>
              </a:ext>
            </a:extLst>
          </p:cNvPr>
          <p:cNvSpPr txBox="1"/>
          <p:nvPr/>
        </p:nvSpPr>
        <p:spPr>
          <a:xfrm>
            <a:off x="719546" y="1536804"/>
            <a:ext cx="9977054" cy="4108176"/>
          </a:xfrm>
          <a:prstGeom prst="rect">
            <a:avLst/>
          </a:prstGeom>
          <a:noFill/>
        </p:spPr>
        <p:txBody>
          <a:bodyPr wrap="square" rtlCol="0">
            <a:spAutoFit/>
          </a:bodyPr>
          <a:lstStyle/>
          <a:p>
            <a:pPr marL="285750" indent="-285750">
              <a:lnSpc>
                <a:spcPct val="200000"/>
              </a:lnSpc>
              <a:buFont typeface="Wingdings" panose="05000000000000000000" pitchFamily="2" charset="2"/>
              <a:buChar char="Ø"/>
            </a:pPr>
            <a:r>
              <a:rPr lang="en-US" sz="1600" b="1" dirty="0">
                <a:solidFill>
                  <a:srgbClr val="660874"/>
                </a:solidFill>
              </a:rPr>
              <a:t>Main file – train_smooth_diffusion.py</a:t>
            </a:r>
            <a:endParaRPr lang="en-US" sz="1600" dirty="0">
              <a:solidFill>
                <a:srgbClr val="660874"/>
              </a:solidFill>
            </a:endParaRPr>
          </a:p>
          <a:p>
            <a:pPr marL="285750" indent="-285750">
              <a:lnSpc>
                <a:spcPct val="200000"/>
              </a:lnSpc>
              <a:buFont typeface="Wingdings" panose="05000000000000000000" pitchFamily="2" charset="2"/>
              <a:buChar char="Ø"/>
            </a:pPr>
            <a:endParaRPr lang="en-US" sz="1600" dirty="0">
              <a:solidFill>
                <a:srgbClr val="660874"/>
              </a:solidFill>
            </a:endParaRPr>
          </a:p>
          <a:p>
            <a:endParaRPr lang="en-US" dirty="0">
              <a:solidFill>
                <a:srgbClr val="660874"/>
              </a:solidFill>
            </a:endParaRPr>
          </a:p>
          <a:p>
            <a:pPr marL="285750" indent="-285750">
              <a:lnSpc>
                <a:spcPct val="200000"/>
              </a:lnSpc>
              <a:buFont typeface="Wingdings" panose="05000000000000000000" pitchFamily="2" charset="2"/>
              <a:buChar char="Ø"/>
            </a:pPr>
            <a:endParaRPr lang="en-US" b="1" dirty="0">
              <a:solidFill>
                <a:srgbClr val="660874"/>
              </a:solidFill>
            </a:endParaRPr>
          </a:p>
          <a:p>
            <a:pPr marL="285750" indent="-285750">
              <a:lnSpc>
                <a:spcPct val="200000"/>
              </a:lnSpc>
              <a:buFont typeface="Wingdings" panose="05000000000000000000" pitchFamily="2" charset="2"/>
              <a:buChar char="Ø"/>
            </a:pPr>
            <a:endParaRPr lang="en-US" b="1" dirty="0">
              <a:solidFill>
                <a:srgbClr val="660874"/>
              </a:solidFill>
            </a:endParaRPr>
          </a:p>
          <a:p>
            <a:pPr marL="285750" indent="-285750">
              <a:lnSpc>
                <a:spcPct val="200000"/>
              </a:lnSpc>
              <a:buFont typeface="Wingdings" panose="05000000000000000000" pitchFamily="2" charset="2"/>
              <a:buChar char="Ø"/>
            </a:pPr>
            <a:endParaRPr lang="en-US" b="1" dirty="0">
              <a:solidFill>
                <a:srgbClr val="660874"/>
              </a:solidFill>
            </a:endParaRPr>
          </a:p>
          <a:p>
            <a:pPr marL="285750" indent="-285750">
              <a:lnSpc>
                <a:spcPct val="200000"/>
              </a:lnSpc>
              <a:buFont typeface="Wingdings" panose="05000000000000000000" pitchFamily="2" charset="2"/>
              <a:buChar char="Ø"/>
            </a:pPr>
            <a:endParaRPr lang="en-US" b="1" dirty="0">
              <a:solidFill>
                <a:srgbClr val="660874"/>
              </a:solidFill>
            </a:endParaRPr>
          </a:p>
          <a:p>
            <a:pPr marL="285750" indent="-285750">
              <a:lnSpc>
                <a:spcPct val="200000"/>
              </a:lnSpc>
              <a:buFont typeface="Wingdings" panose="05000000000000000000" pitchFamily="2" charset="2"/>
              <a:buChar char="Ø"/>
            </a:pPr>
            <a:endParaRPr lang="en-US" b="1" dirty="0">
              <a:solidFill>
                <a:srgbClr val="660874"/>
              </a:solidFill>
            </a:endParaRPr>
          </a:p>
        </p:txBody>
      </p:sp>
      <p:pic>
        <p:nvPicPr>
          <p:cNvPr id="3" name="Picture 2">
            <a:extLst>
              <a:ext uri="{FF2B5EF4-FFF2-40B4-BE49-F238E27FC236}">
                <a16:creationId xmlns:a16="http://schemas.microsoft.com/office/drawing/2014/main" id="{70C1291D-953E-DBEA-33F7-444B3D4A309D}"/>
              </a:ext>
            </a:extLst>
          </p:cNvPr>
          <p:cNvPicPr>
            <a:picLocks noChangeAspect="1"/>
          </p:cNvPicPr>
          <p:nvPr/>
        </p:nvPicPr>
        <p:blipFill>
          <a:blip r:embed="rId2"/>
          <a:stretch>
            <a:fillRect/>
          </a:stretch>
        </p:blipFill>
        <p:spPr>
          <a:xfrm>
            <a:off x="9095246" y="357197"/>
            <a:ext cx="2793521" cy="3321185"/>
          </a:xfrm>
          <a:prstGeom prst="rect">
            <a:avLst/>
          </a:prstGeom>
        </p:spPr>
      </p:pic>
      <p:sp>
        <p:nvSpPr>
          <p:cNvPr id="9" name="TextBox 8">
            <a:extLst>
              <a:ext uri="{FF2B5EF4-FFF2-40B4-BE49-F238E27FC236}">
                <a16:creationId xmlns:a16="http://schemas.microsoft.com/office/drawing/2014/main" id="{9CA6F131-2963-B60C-464F-6638E2853D91}"/>
              </a:ext>
            </a:extLst>
          </p:cNvPr>
          <p:cNvSpPr txBox="1"/>
          <p:nvPr/>
        </p:nvSpPr>
        <p:spPr>
          <a:xfrm>
            <a:off x="2805545" y="531002"/>
            <a:ext cx="5290986" cy="646331"/>
          </a:xfrm>
          <a:prstGeom prst="rect">
            <a:avLst/>
          </a:prstGeom>
          <a:noFill/>
        </p:spPr>
        <p:txBody>
          <a:bodyPr wrap="square">
            <a:spAutoFit/>
          </a:bodyPr>
          <a:lstStyle/>
          <a:p>
            <a:r>
              <a:rPr lang="en-US" sz="1800" dirty="0">
                <a:hlinkClick r:id="rId3"/>
              </a:rPr>
              <a:t>Smooth-Diffusion/train_smooth_diffusion.py at main · SHI-Labs/Smooth-Diffusion · GitHub</a:t>
            </a:r>
            <a:endParaRPr lang="en-US" dirty="0"/>
          </a:p>
        </p:txBody>
      </p:sp>
      <p:pic>
        <p:nvPicPr>
          <p:cNvPr id="13" name="Picture 12">
            <a:extLst>
              <a:ext uri="{FF2B5EF4-FFF2-40B4-BE49-F238E27FC236}">
                <a16:creationId xmlns:a16="http://schemas.microsoft.com/office/drawing/2014/main" id="{22295CEC-10FB-7FB5-7322-77456425A19B}"/>
              </a:ext>
            </a:extLst>
          </p:cNvPr>
          <p:cNvPicPr>
            <a:picLocks noChangeAspect="1"/>
          </p:cNvPicPr>
          <p:nvPr/>
        </p:nvPicPr>
        <p:blipFill>
          <a:blip r:embed="rId4"/>
          <a:stretch>
            <a:fillRect/>
          </a:stretch>
        </p:blipFill>
        <p:spPr>
          <a:xfrm>
            <a:off x="470163" y="2579108"/>
            <a:ext cx="8286664" cy="3373956"/>
          </a:xfrm>
          <a:prstGeom prst="rect">
            <a:avLst/>
          </a:prstGeom>
        </p:spPr>
      </p:pic>
      <mc:AlternateContent xmlns:mc="http://schemas.openxmlformats.org/markup-compatibility/2006">
        <mc:Choice xmlns:a14="http://schemas.microsoft.com/office/drawing/2010/main" Requires="a14">
          <p:sp>
            <p:nvSpPr>
              <p:cNvPr id="15" name="TextBox 14">
                <a:extLst>
                  <a:ext uri="{FF2B5EF4-FFF2-40B4-BE49-F238E27FC236}">
                    <a16:creationId xmlns:a16="http://schemas.microsoft.com/office/drawing/2014/main" id="{8F64D120-222F-9F2A-DA09-9F165608EE91}"/>
                  </a:ext>
                </a:extLst>
              </p:cNvPr>
              <p:cNvSpPr txBox="1"/>
              <p:nvPr/>
            </p:nvSpPr>
            <p:spPr>
              <a:xfrm>
                <a:off x="131744" y="2219637"/>
                <a:ext cx="60960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ar-AE" i="1" smtClean="0">
                              <a:solidFill>
                                <a:srgbClr val="660874"/>
                              </a:solidFill>
                              <a:latin typeface="Cambria Math" panose="02040503050406030204" pitchFamily="18" charset="0"/>
                            </a:rPr>
                          </m:ctrlPr>
                        </m:accPr>
                        <m:e>
                          <m:sSub>
                            <m:sSubPr>
                              <m:ctrlPr>
                                <a:rPr lang="ar-AE" i="1">
                                  <a:solidFill>
                                    <a:srgbClr val="660874"/>
                                  </a:solidFill>
                                  <a:latin typeface="Cambria Math" panose="02040503050406030204" pitchFamily="18" charset="0"/>
                                </a:rPr>
                              </m:ctrlPr>
                            </m:sSubPr>
                            <m:e>
                              <m:r>
                                <m:rPr>
                                  <m:sty m:val="p"/>
                                </m:rPr>
                                <a:rPr lang="ar-AE" b="0" i="1">
                                  <a:solidFill>
                                    <a:srgbClr val="660874"/>
                                  </a:solidFill>
                                  <a:latin typeface="Cambria Math" panose="02040503050406030204" pitchFamily="18" charset="0"/>
                                </a:rPr>
                                <m:t>x</m:t>
                              </m:r>
                            </m:e>
                            <m:sub>
                              <m:r>
                                <a:rPr lang="ar-AE" b="0">
                                  <a:solidFill>
                                    <a:srgbClr val="660874"/>
                                  </a:solidFill>
                                  <a:latin typeface="Cambria Math" panose="02040503050406030204" pitchFamily="18" charset="0"/>
                                </a:rPr>
                                <m:t>0</m:t>
                              </m:r>
                            </m:sub>
                          </m:sSub>
                        </m:e>
                      </m:acc>
                    </m:oMath>
                  </m:oMathPara>
                </a14:m>
                <a:endParaRPr lang="en-US" dirty="0"/>
              </a:p>
            </p:txBody>
          </p:sp>
        </mc:Choice>
        <mc:Fallback>
          <p:sp>
            <p:nvSpPr>
              <p:cNvPr id="15" name="TextBox 14">
                <a:extLst>
                  <a:ext uri="{FF2B5EF4-FFF2-40B4-BE49-F238E27FC236}">
                    <a16:creationId xmlns:a16="http://schemas.microsoft.com/office/drawing/2014/main" id="{8F64D120-222F-9F2A-DA09-9F165608EE91}"/>
                  </a:ext>
                </a:extLst>
              </p:cNvPr>
              <p:cNvSpPr txBox="1">
                <a:spLocks noRot="1" noChangeAspect="1" noMove="1" noResize="1" noEditPoints="1" noAdjustHandles="1" noChangeArrowheads="1" noChangeShapeType="1" noTextEdit="1"/>
              </p:cNvSpPr>
              <p:nvPr/>
            </p:nvSpPr>
            <p:spPr>
              <a:xfrm>
                <a:off x="131744" y="2219637"/>
                <a:ext cx="6096000" cy="369332"/>
              </a:xfrm>
              <a:prstGeom prst="rect">
                <a:avLst/>
              </a:prstGeom>
              <a:blipFill>
                <a:blip r:embed="rId5"/>
                <a:stretch>
                  <a:fillRect t="-655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 name="TextBox 16">
                <a:extLst>
                  <a:ext uri="{FF2B5EF4-FFF2-40B4-BE49-F238E27FC236}">
                    <a16:creationId xmlns:a16="http://schemas.microsoft.com/office/drawing/2014/main" id="{C3957CA8-2DD5-D717-F6A5-52B4DEA9EB0D}"/>
                  </a:ext>
                </a:extLst>
              </p:cNvPr>
              <p:cNvSpPr txBox="1"/>
              <p:nvPr/>
            </p:nvSpPr>
            <p:spPr>
              <a:xfrm>
                <a:off x="772729" y="2275571"/>
                <a:ext cx="60960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l-GR" b="0" i="1" smtClean="0">
                          <a:solidFill>
                            <a:srgbClr val="660874"/>
                          </a:solidFill>
                          <a:latin typeface="Cambria Math" panose="02040503050406030204" pitchFamily="18" charset="0"/>
                        </a:rPr>
                        <m:t>𝜖</m:t>
                      </m:r>
                    </m:oMath>
                  </m:oMathPara>
                </a14:m>
                <a:endParaRPr lang="en-US" dirty="0"/>
              </a:p>
            </p:txBody>
          </p:sp>
        </mc:Choice>
        <mc:Fallback>
          <p:sp>
            <p:nvSpPr>
              <p:cNvPr id="17" name="TextBox 16">
                <a:extLst>
                  <a:ext uri="{FF2B5EF4-FFF2-40B4-BE49-F238E27FC236}">
                    <a16:creationId xmlns:a16="http://schemas.microsoft.com/office/drawing/2014/main" id="{C3957CA8-2DD5-D717-F6A5-52B4DEA9EB0D}"/>
                  </a:ext>
                </a:extLst>
              </p:cNvPr>
              <p:cNvSpPr txBox="1">
                <a:spLocks noRot="1" noChangeAspect="1" noMove="1" noResize="1" noEditPoints="1" noAdjustHandles="1" noChangeArrowheads="1" noChangeShapeType="1" noTextEdit="1"/>
              </p:cNvSpPr>
              <p:nvPr/>
            </p:nvSpPr>
            <p:spPr>
              <a:xfrm>
                <a:off x="772729" y="2275571"/>
                <a:ext cx="6096000"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9" name="TextBox 18">
                <a:extLst>
                  <a:ext uri="{FF2B5EF4-FFF2-40B4-BE49-F238E27FC236}">
                    <a16:creationId xmlns:a16="http://schemas.microsoft.com/office/drawing/2014/main" id="{57E3F8CF-E8A2-E848-F54D-FD15F6627039}"/>
                  </a:ext>
                </a:extLst>
              </p:cNvPr>
              <p:cNvSpPr txBox="1"/>
              <p:nvPr/>
            </p:nvSpPr>
            <p:spPr>
              <a:xfrm>
                <a:off x="3518163" y="2219637"/>
                <a:ext cx="6096000" cy="42774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ad>
                        <m:radPr>
                          <m:degHide m:val="on"/>
                          <m:ctrlPr>
                            <a:rPr lang="ar-AE" i="1" smtClean="0">
                              <a:solidFill>
                                <a:srgbClr val="660874"/>
                              </a:solidFill>
                              <a:latin typeface="Cambria Math" panose="02040503050406030204" pitchFamily="18" charset="0"/>
                            </a:rPr>
                          </m:ctrlPr>
                        </m:radPr>
                        <m:deg/>
                        <m:e>
                          <m:r>
                            <a:rPr lang="ar-AE">
                              <a:solidFill>
                                <a:srgbClr val="660874"/>
                              </a:solidFill>
                              <a:latin typeface="Cambria Math" panose="02040503050406030204" pitchFamily="18" charset="0"/>
                            </a:rPr>
                            <m:t>1</m:t>
                          </m:r>
                          <m:r>
                            <a:rPr lang="ar-AE">
                              <a:solidFill>
                                <a:srgbClr val="660874"/>
                              </a:solidFill>
                              <a:latin typeface="Cambria Math" panose="02040503050406030204" pitchFamily="18" charset="0"/>
                            </a:rPr>
                            <m:t>−</m:t>
                          </m:r>
                          <m:acc>
                            <m:accPr>
                              <m:chr m:val="̅"/>
                              <m:ctrlPr>
                                <a:rPr lang="ar-AE" i="1" smtClean="0">
                                  <a:solidFill>
                                    <a:srgbClr val="660874"/>
                                  </a:solidFill>
                                  <a:latin typeface="Cambria Math" panose="02040503050406030204" pitchFamily="18" charset="0"/>
                                </a:rPr>
                              </m:ctrlPr>
                            </m:accPr>
                            <m:e>
                              <m:sSub>
                                <m:sSubPr>
                                  <m:ctrlPr>
                                    <a:rPr lang="ar-AE" i="1" smtClean="0">
                                      <a:solidFill>
                                        <a:srgbClr val="660874"/>
                                      </a:solidFill>
                                      <a:latin typeface="Cambria Math" panose="02040503050406030204" pitchFamily="18" charset="0"/>
                                    </a:rPr>
                                  </m:ctrlPr>
                                </m:sSubPr>
                                <m:e>
                                  <m:r>
                                    <a:rPr lang="ar-AE">
                                      <a:solidFill>
                                        <a:srgbClr val="660874"/>
                                      </a:solidFill>
                                      <a:latin typeface="Cambria Math" panose="02040503050406030204" pitchFamily="18" charset="0"/>
                                    </a:rPr>
                                    <m:t>𝛼</m:t>
                                  </m:r>
                                </m:e>
                                <m:sub>
                                  <m:r>
                                    <a:rPr lang="ar-AE">
                                      <a:solidFill>
                                        <a:srgbClr val="660874"/>
                                      </a:solidFill>
                                      <a:latin typeface="Cambria Math" panose="02040503050406030204" pitchFamily="18" charset="0"/>
                                    </a:rPr>
                                    <m:t>𝑡</m:t>
                                  </m:r>
                                </m:sub>
                              </m:sSub>
                            </m:e>
                          </m:acc>
                        </m:e>
                      </m:rad>
                    </m:oMath>
                  </m:oMathPara>
                </a14:m>
                <a:endParaRPr lang="en-US" dirty="0"/>
              </a:p>
            </p:txBody>
          </p:sp>
        </mc:Choice>
        <mc:Fallback>
          <p:sp>
            <p:nvSpPr>
              <p:cNvPr id="19" name="TextBox 18">
                <a:extLst>
                  <a:ext uri="{FF2B5EF4-FFF2-40B4-BE49-F238E27FC236}">
                    <a16:creationId xmlns:a16="http://schemas.microsoft.com/office/drawing/2014/main" id="{57E3F8CF-E8A2-E848-F54D-FD15F6627039}"/>
                  </a:ext>
                </a:extLst>
              </p:cNvPr>
              <p:cNvSpPr txBox="1">
                <a:spLocks noRot="1" noChangeAspect="1" noMove="1" noResize="1" noEditPoints="1" noAdjustHandles="1" noChangeArrowheads="1" noChangeShapeType="1" noTextEdit="1"/>
              </p:cNvSpPr>
              <p:nvPr/>
            </p:nvSpPr>
            <p:spPr>
              <a:xfrm>
                <a:off x="3518163" y="2219637"/>
                <a:ext cx="6096000" cy="427746"/>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2" name="TextBox 21">
                <a:extLst>
                  <a:ext uri="{FF2B5EF4-FFF2-40B4-BE49-F238E27FC236}">
                    <a16:creationId xmlns:a16="http://schemas.microsoft.com/office/drawing/2014/main" id="{C292F6B2-72E7-B574-5865-5B71EB0CA6E8}"/>
                  </a:ext>
                </a:extLst>
              </p:cNvPr>
              <p:cNvSpPr txBox="1"/>
              <p:nvPr/>
            </p:nvSpPr>
            <p:spPr>
              <a:xfrm>
                <a:off x="41349" y="2706254"/>
                <a:ext cx="60960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l-GR" smtClean="0">
                          <a:solidFill>
                            <a:srgbClr val="660874"/>
                          </a:solidFill>
                          <a:latin typeface="Cambria Math" panose="02040503050406030204" pitchFamily="18" charset="0"/>
                        </a:rPr>
                        <m:t>Δ</m:t>
                      </m:r>
                      <m:acc>
                        <m:accPr>
                          <m:chr m:val="̂"/>
                          <m:ctrlPr>
                            <a:rPr lang="el-GR" i="1" smtClean="0">
                              <a:solidFill>
                                <a:srgbClr val="660874"/>
                              </a:solidFill>
                              <a:latin typeface="Cambria Math" panose="02040503050406030204" pitchFamily="18" charset="0"/>
                            </a:rPr>
                          </m:ctrlPr>
                        </m:accPr>
                        <m:e>
                          <m:sSub>
                            <m:sSubPr>
                              <m:ctrlPr>
                                <a:rPr lang="ar-AE" i="1" smtClean="0">
                                  <a:solidFill>
                                    <a:srgbClr val="660874"/>
                                  </a:solidFill>
                                  <a:latin typeface="Cambria Math" panose="02040503050406030204" pitchFamily="18" charset="0"/>
                                </a:rPr>
                              </m:ctrlPr>
                            </m:sSubPr>
                            <m:e>
                              <m:r>
                                <a:rPr lang="ar-AE">
                                  <a:solidFill>
                                    <a:srgbClr val="660874"/>
                                  </a:solidFill>
                                  <a:latin typeface="Cambria Math" panose="02040503050406030204" pitchFamily="18" charset="0"/>
                                </a:rPr>
                                <m:t>𝑥</m:t>
                              </m:r>
                            </m:e>
                            <m:sub>
                              <m:r>
                                <a:rPr lang="ar-AE">
                                  <a:solidFill>
                                    <a:srgbClr val="660874"/>
                                  </a:solidFill>
                                  <a:latin typeface="Cambria Math" panose="02040503050406030204" pitchFamily="18" charset="0"/>
                                </a:rPr>
                                <m:t>0</m:t>
                              </m:r>
                            </m:sub>
                          </m:sSub>
                        </m:e>
                      </m:acc>
                    </m:oMath>
                  </m:oMathPara>
                </a14:m>
                <a:endParaRPr lang="en-US" dirty="0"/>
              </a:p>
            </p:txBody>
          </p:sp>
        </mc:Choice>
        <mc:Fallback>
          <p:sp>
            <p:nvSpPr>
              <p:cNvPr id="22" name="TextBox 21">
                <a:extLst>
                  <a:ext uri="{FF2B5EF4-FFF2-40B4-BE49-F238E27FC236}">
                    <a16:creationId xmlns:a16="http://schemas.microsoft.com/office/drawing/2014/main" id="{C292F6B2-72E7-B574-5865-5B71EB0CA6E8}"/>
                  </a:ext>
                </a:extLst>
              </p:cNvPr>
              <p:cNvSpPr txBox="1">
                <a:spLocks noRot="1" noChangeAspect="1" noMove="1" noResize="1" noEditPoints="1" noAdjustHandles="1" noChangeArrowheads="1" noChangeShapeType="1" noTextEdit="1"/>
              </p:cNvSpPr>
              <p:nvPr/>
            </p:nvSpPr>
            <p:spPr>
              <a:xfrm>
                <a:off x="41349" y="2706254"/>
                <a:ext cx="6096000" cy="369332"/>
              </a:xfrm>
              <a:prstGeom prst="rect">
                <a:avLst/>
              </a:prstGeom>
              <a:blipFill>
                <a:blip r:embed="rId8"/>
                <a:stretch>
                  <a:fillRect t="-655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4" name="TextBox 23">
                <a:extLst>
                  <a:ext uri="{FF2B5EF4-FFF2-40B4-BE49-F238E27FC236}">
                    <a16:creationId xmlns:a16="http://schemas.microsoft.com/office/drawing/2014/main" id="{9B9EB2EA-2E98-97A8-AE17-F002252BE81E}"/>
                  </a:ext>
                </a:extLst>
              </p:cNvPr>
              <p:cNvSpPr txBox="1"/>
              <p:nvPr/>
            </p:nvSpPr>
            <p:spPr>
              <a:xfrm>
                <a:off x="4753001" y="3746908"/>
                <a:ext cx="6096000" cy="42774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ar-AE" i="1" smtClean="0">
                              <a:solidFill>
                                <a:srgbClr val="660874"/>
                              </a:solidFill>
                              <a:latin typeface="Cambria Math" panose="02040503050406030204" pitchFamily="18" charset="0"/>
                            </a:rPr>
                          </m:ctrlPr>
                        </m:sSubPr>
                        <m:e>
                          <m:r>
                            <m:rPr>
                              <m:sty m:val="p"/>
                            </m:rPr>
                            <a:rPr lang="ar-AE">
                              <a:solidFill>
                                <a:srgbClr val="660874"/>
                              </a:solidFill>
                              <a:latin typeface="Cambria Math" panose="02040503050406030204" pitchFamily="18" charset="0"/>
                            </a:rPr>
                            <m:t>∇</m:t>
                          </m:r>
                        </m:e>
                        <m:sub>
                          <m:r>
                            <a:rPr lang="ar-AE">
                              <a:solidFill>
                                <a:srgbClr val="660874"/>
                              </a:solidFill>
                              <a:latin typeface="Cambria Math" panose="02040503050406030204" pitchFamily="18" charset="0"/>
                            </a:rPr>
                            <m:t>𝜖</m:t>
                          </m:r>
                        </m:sub>
                      </m:sSub>
                      <m:d>
                        <m:dPr>
                          <m:ctrlPr>
                            <a:rPr lang="ar-AE" i="1">
                              <a:solidFill>
                                <a:srgbClr val="660874"/>
                              </a:solidFill>
                              <a:latin typeface="Cambria Math" panose="02040503050406030204" pitchFamily="18" charset="0"/>
                            </a:rPr>
                          </m:ctrlPr>
                        </m:dPr>
                        <m:e>
                          <m:rad>
                            <m:radPr>
                              <m:degHide m:val="on"/>
                              <m:ctrlPr>
                                <a:rPr lang="ar-AE" i="1" smtClean="0">
                                  <a:solidFill>
                                    <a:srgbClr val="660874"/>
                                  </a:solidFill>
                                  <a:latin typeface="Cambria Math" panose="02040503050406030204" pitchFamily="18" charset="0"/>
                                </a:rPr>
                              </m:ctrlPr>
                            </m:radPr>
                            <m:deg/>
                            <m:e>
                              <m:r>
                                <a:rPr lang="ar-AE">
                                  <a:solidFill>
                                    <a:srgbClr val="660874"/>
                                  </a:solidFill>
                                  <a:latin typeface="Cambria Math" panose="02040503050406030204" pitchFamily="18" charset="0"/>
                                </a:rPr>
                                <m:t>1</m:t>
                              </m:r>
                              <m:r>
                                <a:rPr lang="ar-AE">
                                  <a:solidFill>
                                    <a:srgbClr val="660874"/>
                                  </a:solidFill>
                                  <a:latin typeface="Cambria Math" panose="02040503050406030204" pitchFamily="18" charset="0"/>
                                </a:rPr>
                                <m:t>−</m:t>
                              </m:r>
                              <m:acc>
                                <m:accPr>
                                  <m:chr m:val="̅"/>
                                  <m:ctrlPr>
                                    <a:rPr lang="ar-AE" i="1" smtClean="0">
                                      <a:solidFill>
                                        <a:srgbClr val="660874"/>
                                      </a:solidFill>
                                      <a:latin typeface="Cambria Math" panose="02040503050406030204" pitchFamily="18" charset="0"/>
                                    </a:rPr>
                                  </m:ctrlPr>
                                </m:accPr>
                                <m:e>
                                  <m:sSub>
                                    <m:sSubPr>
                                      <m:ctrlPr>
                                        <a:rPr lang="ar-AE" i="1" smtClean="0">
                                          <a:solidFill>
                                            <a:srgbClr val="660874"/>
                                          </a:solidFill>
                                          <a:latin typeface="Cambria Math" panose="02040503050406030204" pitchFamily="18" charset="0"/>
                                        </a:rPr>
                                      </m:ctrlPr>
                                    </m:sSubPr>
                                    <m:e>
                                      <m:r>
                                        <a:rPr lang="ar-AE">
                                          <a:solidFill>
                                            <a:srgbClr val="660874"/>
                                          </a:solidFill>
                                          <a:latin typeface="Cambria Math" panose="02040503050406030204" pitchFamily="18" charset="0"/>
                                        </a:rPr>
                                        <m:t>𝛼</m:t>
                                      </m:r>
                                    </m:e>
                                    <m:sub>
                                      <m:r>
                                        <a:rPr lang="ar-AE">
                                          <a:solidFill>
                                            <a:srgbClr val="660874"/>
                                          </a:solidFill>
                                          <a:latin typeface="Cambria Math" panose="02040503050406030204" pitchFamily="18" charset="0"/>
                                        </a:rPr>
                                        <m:t>𝑡</m:t>
                                      </m:r>
                                    </m:sub>
                                  </m:sSub>
                                </m:e>
                              </m:acc>
                            </m:e>
                          </m:rad>
                          <m:acc>
                            <m:accPr>
                              <m:chr m:val="̂"/>
                              <m:ctrlPr>
                                <a:rPr lang="el-GR" i="1">
                                  <a:solidFill>
                                    <a:srgbClr val="660874"/>
                                  </a:solidFill>
                                  <a:latin typeface="Cambria Math" panose="02040503050406030204" pitchFamily="18" charset="0"/>
                                </a:rPr>
                              </m:ctrlPr>
                            </m:accPr>
                            <m:e>
                              <m:sSub>
                                <m:sSubPr>
                                  <m:ctrlPr>
                                    <a:rPr lang="ar-AE" i="1">
                                      <a:solidFill>
                                        <a:srgbClr val="660874"/>
                                      </a:solidFill>
                                      <a:latin typeface="Cambria Math" panose="02040503050406030204" pitchFamily="18" charset="0"/>
                                    </a:rPr>
                                  </m:ctrlPr>
                                </m:sSubPr>
                                <m:e>
                                  <m:r>
                                    <a:rPr lang="ar-AE">
                                      <a:solidFill>
                                        <a:srgbClr val="660874"/>
                                      </a:solidFill>
                                      <a:latin typeface="Cambria Math" panose="02040503050406030204" pitchFamily="18" charset="0"/>
                                    </a:rPr>
                                    <m:t>𝑥</m:t>
                                  </m:r>
                                </m:e>
                                <m:sub>
                                  <m:r>
                                    <a:rPr lang="ar-AE">
                                      <a:solidFill>
                                        <a:srgbClr val="660874"/>
                                      </a:solidFill>
                                      <a:latin typeface="Cambria Math" panose="02040503050406030204" pitchFamily="18" charset="0"/>
                                    </a:rPr>
                                    <m:t>0</m:t>
                                  </m:r>
                                </m:sub>
                              </m:sSub>
                            </m:e>
                          </m:acc>
                          <m:r>
                            <a:rPr lang="ar-AE">
                              <a:solidFill>
                                <a:srgbClr val="660874"/>
                              </a:solidFill>
                              <a:latin typeface="Cambria Math" panose="02040503050406030204" pitchFamily="18" charset="0"/>
                            </a:rPr>
                            <m:t>⋅</m:t>
                          </m:r>
                          <m:r>
                            <m:rPr>
                              <m:sty m:val="p"/>
                            </m:rPr>
                            <a:rPr lang="el-GR">
                              <a:solidFill>
                                <a:srgbClr val="660874"/>
                              </a:solidFill>
                              <a:latin typeface="Cambria Math" panose="02040503050406030204" pitchFamily="18" charset="0"/>
                            </a:rPr>
                            <m:t>Δ</m:t>
                          </m:r>
                          <m:acc>
                            <m:accPr>
                              <m:chr m:val="̂"/>
                              <m:ctrlPr>
                                <a:rPr lang="el-GR" i="1">
                                  <a:solidFill>
                                    <a:srgbClr val="660874"/>
                                  </a:solidFill>
                                  <a:latin typeface="Cambria Math" panose="02040503050406030204" pitchFamily="18" charset="0"/>
                                </a:rPr>
                              </m:ctrlPr>
                            </m:accPr>
                            <m:e>
                              <m:sSub>
                                <m:sSubPr>
                                  <m:ctrlPr>
                                    <a:rPr lang="ar-AE" i="1">
                                      <a:solidFill>
                                        <a:srgbClr val="660874"/>
                                      </a:solidFill>
                                      <a:latin typeface="Cambria Math" panose="02040503050406030204" pitchFamily="18" charset="0"/>
                                    </a:rPr>
                                  </m:ctrlPr>
                                </m:sSubPr>
                                <m:e>
                                  <m:r>
                                    <a:rPr lang="ar-AE">
                                      <a:solidFill>
                                        <a:srgbClr val="660874"/>
                                      </a:solidFill>
                                      <a:latin typeface="Cambria Math" panose="02040503050406030204" pitchFamily="18" charset="0"/>
                                    </a:rPr>
                                    <m:t>𝑥</m:t>
                                  </m:r>
                                </m:e>
                                <m:sub>
                                  <m:r>
                                    <a:rPr lang="ar-AE">
                                      <a:solidFill>
                                        <a:srgbClr val="660874"/>
                                      </a:solidFill>
                                      <a:latin typeface="Cambria Math" panose="02040503050406030204" pitchFamily="18" charset="0"/>
                                    </a:rPr>
                                    <m:t>0</m:t>
                                  </m:r>
                                </m:sub>
                              </m:sSub>
                            </m:e>
                          </m:acc>
                        </m:e>
                      </m:d>
                    </m:oMath>
                  </m:oMathPara>
                </a14:m>
                <a:endParaRPr lang="en-US" dirty="0"/>
              </a:p>
            </p:txBody>
          </p:sp>
        </mc:Choice>
        <mc:Fallback>
          <p:sp>
            <p:nvSpPr>
              <p:cNvPr id="24" name="TextBox 23">
                <a:extLst>
                  <a:ext uri="{FF2B5EF4-FFF2-40B4-BE49-F238E27FC236}">
                    <a16:creationId xmlns:a16="http://schemas.microsoft.com/office/drawing/2014/main" id="{9B9EB2EA-2E98-97A8-AE17-F002252BE81E}"/>
                  </a:ext>
                </a:extLst>
              </p:cNvPr>
              <p:cNvSpPr txBox="1">
                <a:spLocks noRot="1" noChangeAspect="1" noMove="1" noResize="1" noEditPoints="1" noAdjustHandles="1" noChangeArrowheads="1" noChangeShapeType="1" noTextEdit="1"/>
              </p:cNvSpPr>
              <p:nvPr/>
            </p:nvSpPr>
            <p:spPr>
              <a:xfrm>
                <a:off x="4753001" y="3746908"/>
                <a:ext cx="6096000" cy="427746"/>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6" name="TextBox 25">
                <a:extLst>
                  <a:ext uri="{FF2B5EF4-FFF2-40B4-BE49-F238E27FC236}">
                    <a16:creationId xmlns:a16="http://schemas.microsoft.com/office/drawing/2014/main" id="{DEED8BFA-61FF-CCD4-1F68-4C1808C072B0}"/>
                  </a:ext>
                </a:extLst>
              </p:cNvPr>
              <p:cNvSpPr txBox="1"/>
              <p:nvPr/>
            </p:nvSpPr>
            <p:spPr>
              <a:xfrm>
                <a:off x="3561295" y="3018105"/>
                <a:ext cx="60960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mtClean="0">
                          <a:solidFill>
                            <a:srgbClr val="660874"/>
                          </a:solidFill>
                          <a:latin typeface="Cambria Math" panose="02040503050406030204" pitchFamily="18" charset="0"/>
                        </a:rPr>
                        <m:t>∥</m:t>
                      </m:r>
                      <m:r>
                        <m:rPr>
                          <m:sty m:val="p"/>
                        </m:rPr>
                        <a:rPr lang="el-GR">
                          <a:solidFill>
                            <a:srgbClr val="660874"/>
                          </a:solidFill>
                          <a:latin typeface="Cambria Math" panose="02040503050406030204" pitchFamily="18" charset="0"/>
                        </a:rPr>
                        <m:t>Δ</m:t>
                      </m:r>
                      <m:acc>
                        <m:accPr>
                          <m:chr m:val="̂"/>
                          <m:ctrlPr>
                            <a:rPr lang="ar-AE" i="1">
                              <a:solidFill>
                                <a:srgbClr val="660874"/>
                              </a:solidFill>
                              <a:latin typeface="Cambria Math" panose="02040503050406030204" pitchFamily="18" charset="0"/>
                            </a:rPr>
                          </m:ctrlPr>
                        </m:accPr>
                        <m:e>
                          <m:sSub>
                            <m:sSubPr>
                              <m:ctrlPr>
                                <a:rPr lang="ar-AE" i="1">
                                  <a:solidFill>
                                    <a:srgbClr val="660874"/>
                                  </a:solidFill>
                                  <a:latin typeface="Cambria Math" panose="02040503050406030204" pitchFamily="18" charset="0"/>
                                </a:rPr>
                              </m:ctrlPr>
                            </m:sSubPr>
                            <m:e>
                              <m:r>
                                <a:rPr lang="ar-AE">
                                  <a:solidFill>
                                    <a:srgbClr val="660874"/>
                                  </a:solidFill>
                                  <a:latin typeface="Cambria Math" panose="02040503050406030204" pitchFamily="18" charset="0"/>
                                </a:rPr>
                                <m:t>𝒙</m:t>
                              </m:r>
                            </m:e>
                            <m:sub>
                              <m:r>
                                <a:rPr lang="ar-AE">
                                  <a:solidFill>
                                    <a:srgbClr val="660874"/>
                                  </a:solidFill>
                                  <a:latin typeface="Cambria Math" panose="02040503050406030204" pitchFamily="18" charset="0"/>
                                </a:rPr>
                                <m:t>0</m:t>
                              </m:r>
                            </m:sub>
                          </m:sSub>
                        </m:e>
                      </m:acc>
                      <m:sSub>
                        <m:sSubPr>
                          <m:ctrlPr>
                            <a:rPr lang="ar-AE" i="1">
                              <a:solidFill>
                                <a:srgbClr val="660874"/>
                              </a:solidFill>
                              <a:latin typeface="Cambria Math" panose="02040503050406030204" pitchFamily="18" charset="0"/>
                            </a:rPr>
                          </m:ctrlPr>
                        </m:sSubPr>
                        <m:e>
                          <m:r>
                            <a:rPr lang="ar-AE">
                              <a:solidFill>
                                <a:srgbClr val="660874"/>
                              </a:solidFill>
                              <a:latin typeface="Cambria Math" panose="02040503050406030204" pitchFamily="18" charset="0"/>
                            </a:rPr>
                            <m:t>∥</m:t>
                          </m:r>
                        </m:e>
                        <m:sub>
                          <m:r>
                            <a:rPr lang="ar-AE">
                              <a:solidFill>
                                <a:srgbClr val="660874"/>
                              </a:solidFill>
                              <a:latin typeface="Cambria Math" panose="02040503050406030204" pitchFamily="18" charset="0"/>
                            </a:rPr>
                            <m:t>2</m:t>
                          </m:r>
                        </m:sub>
                      </m:sSub>
                      <m:r>
                        <a:rPr lang="en-US" b="0" i="1" smtClean="0">
                          <a:solidFill>
                            <a:srgbClr val="660874"/>
                          </a:solidFill>
                          <a:latin typeface="Cambria Math" panose="02040503050406030204" pitchFamily="18" charset="0"/>
                        </a:rPr>
                        <m:t>=</m:t>
                      </m:r>
                      <m:r>
                        <a:rPr lang="en-US" b="0" i="1" smtClean="0">
                          <a:solidFill>
                            <a:srgbClr val="660874"/>
                          </a:solidFill>
                          <a:latin typeface="Cambria Math" panose="02040503050406030204" pitchFamily="18" charset="0"/>
                        </a:rPr>
                        <m:t>1</m:t>
                      </m:r>
                    </m:oMath>
                  </m:oMathPara>
                </a14:m>
                <a:endParaRPr lang="en-US" dirty="0"/>
              </a:p>
            </p:txBody>
          </p:sp>
        </mc:Choice>
        <mc:Fallback>
          <p:sp>
            <p:nvSpPr>
              <p:cNvPr id="26" name="TextBox 25">
                <a:extLst>
                  <a:ext uri="{FF2B5EF4-FFF2-40B4-BE49-F238E27FC236}">
                    <a16:creationId xmlns:a16="http://schemas.microsoft.com/office/drawing/2014/main" id="{DEED8BFA-61FF-CCD4-1F68-4C1808C072B0}"/>
                  </a:ext>
                </a:extLst>
              </p:cNvPr>
              <p:cNvSpPr txBox="1">
                <a:spLocks noRot="1" noChangeAspect="1" noMove="1" noResize="1" noEditPoints="1" noAdjustHandles="1" noChangeArrowheads="1" noChangeShapeType="1" noTextEdit="1"/>
              </p:cNvSpPr>
              <p:nvPr/>
            </p:nvSpPr>
            <p:spPr>
              <a:xfrm>
                <a:off x="3561295" y="3018105"/>
                <a:ext cx="6096000" cy="369332"/>
              </a:xfrm>
              <a:prstGeom prst="rect">
                <a:avLst/>
              </a:prstGeom>
              <a:blipFill>
                <a:blip r:embed="rId10"/>
                <a:stretch>
                  <a:fillRect t="-655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8" name="TextBox 27">
                <a:extLst>
                  <a:ext uri="{FF2B5EF4-FFF2-40B4-BE49-F238E27FC236}">
                    <a16:creationId xmlns:a16="http://schemas.microsoft.com/office/drawing/2014/main" id="{F6188050-A342-D7B3-6FCC-9B100ED5E4CA}"/>
                  </a:ext>
                </a:extLst>
              </p:cNvPr>
              <p:cNvSpPr txBox="1"/>
              <p:nvPr/>
            </p:nvSpPr>
            <p:spPr>
              <a:xfrm>
                <a:off x="4348407" y="4300452"/>
                <a:ext cx="6096000" cy="42774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ar-AE" smtClean="0">
                          <a:solidFill>
                            <a:srgbClr val="660874"/>
                          </a:solidFill>
                          <a:latin typeface="Cambria Math" panose="02040503050406030204" pitchFamily="18" charset="0"/>
                        </a:rPr>
                        <m:t>∥</m:t>
                      </m:r>
                      <m:sSub>
                        <m:sSubPr>
                          <m:ctrlPr>
                            <a:rPr lang="ar-AE" i="1" smtClean="0">
                              <a:solidFill>
                                <a:srgbClr val="660874"/>
                              </a:solidFill>
                              <a:latin typeface="Cambria Math" panose="02040503050406030204" pitchFamily="18" charset="0"/>
                            </a:rPr>
                          </m:ctrlPr>
                        </m:sSubPr>
                        <m:e>
                          <m:r>
                            <m:rPr>
                              <m:sty m:val="p"/>
                            </m:rPr>
                            <a:rPr lang="ar-AE">
                              <a:solidFill>
                                <a:srgbClr val="660874"/>
                              </a:solidFill>
                              <a:latin typeface="Cambria Math" panose="02040503050406030204" pitchFamily="18" charset="0"/>
                            </a:rPr>
                            <m:t>∇</m:t>
                          </m:r>
                        </m:e>
                        <m:sub>
                          <m:r>
                            <a:rPr lang="ar-AE">
                              <a:solidFill>
                                <a:srgbClr val="660874"/>
                              </a:solidFill>
                              <a:latin typeface="Cambria Math" panose="02040503050406030204" pitchFamily="18" charset="0"/>
                            </a:rPr>
                            <m:t>𝜖</m:t>
                          </m:r>
                        </m:sub>
                      </m:sSub>
                      <m:d>
                        <m:dPr>
                          <m:ctrlPr>
                            <a:rPr lang="ar-AE" i="1">
                              <a:solidFill>
                                <a:srgbClr val="660874"/>
                              </a:solidFill>
                              <a:latin typeface="Cambria Math" panose="02040503050406030204" pitchFamily="18" charset="0"/>
                            </a:rPr>
                          </m:ctrlPr>
                        </m:dPr>
                        <m:e>
                          <m:rad>
                            <m:radPr>
                              <m:degHide m:val="on"/>
                              <m:ctrlPr>
                                <a:rPr lang="ar-AE" i="1" smtClean="0">
                                  <a:solidFill>
                                    <a:srgbClr val="660874"/>
                                  </a:solidFill>
                                  <a:latin typeface="Cambria Math" panose="02040503050406030204" pitchFamily="18" charset="0"/>
                                </a:rPr>
                              </m:ctrlPr>
                            </m:radPr>
                            <m:deg/>
                            <m:e>
                              <m:r>
                                <a:rPr lang="ar-AE">
                                  <a:solidFill>
                                    <a:srgbClr val="660874"/>
                                  </a:solidFill>
                                  <a:latin typeface="Cambria Math" panose="02040503050406030204" pitchFamily="18" charset="0"/>
                                </a:rPr>
                                <m:t>1</m:t>
                              </m:r>
                              <m:r>
                                <a:rPr lang="ar-AE">
                                  <a:solidFill>
                                    <a:srgbClr val="660874"/>
                                  </a:solidFill>
                                  <a:latin typeface="Cambria Math" panose="02040503050406030204" pitchFamily="18" charset="0"/>
                                </a:rPr>
                                <m:t>−</m:t>
                              </m:r>
                              <m:acc>
                                <m:accPr>
                                  <m:chr m:val="̅"/>
                                  <m:ctrlPr>
                                    <a:rPr lang="ar-AE" i="1" smtClean="0">
                                      <a:solidFill>
                                        <a:srgbClr val="660874"/>
                                      </a:solidFill>
                                      <a:latin typeface="Cambria Math" panose="02040503050406030204" pitchFamily="18" charset="0"/>
                                    </a:rPr>
                                  </m:ctrlPr>
                                </m:accPr>
                                <m:e>
                                  <m:sSub>
                                    <m:sSubPr>
                                      <m:ctrlPr>
                                        <a:rPr lang="ar-AE" i="1" smtClean="0">
                                          <a:solidFill>
                                            <a:srgbClr val="660874"/>
                                          </a:solidFill>
                                          <a:latin typeface="Cambria Math" panose="02040503050406030204" pitchFamily="18" charset="0"/>
                                        </a:rPr>
                                      </m:ctrlPr>
                                    </m:sSubPr>
                                    <m:e>
                                      <m:r>
                                        <a:rPr lang="ar-AE">
                                          <a:solidFill>
                                            <a:srgbClr val="660874"/>
                                          </a:solidFill>
                                          <a:latin typeface="Cambria Math" panose="02040503050406030204" pitchFamily="18" charset="0"/>
                                        </a:rPr>
                                        <m:t>𝛼</m:t>
                                      </m:r>
                                    </m:e>
                                    <m:sub>
                                      <m:r>
                                        <a:rPr lang="ar-AE">
                                          <a:solidFill>
                                            <a:srgbClr val="660874"/>
                                          </a:solidFill>
                                          <a:latin typeface="Cambria Math" panose="02040503050406030204" pitchFamily="18" charset="0"/>
                                        </a:rPr>
                                        <m:t>𝑡</m:t>
                                      </m:r>
                                    </m:sub>
                                  </m:sSub>
                                </m:e>
                              </m:acc>
                            </m:e>
                          </m:rad>
                          <m:acc>
                            <m:accPr>
                              <m:chr m:val="̂"/>
                              <m:ctrlPr>
                                <a:rPr lang="el-GR" i="1">
                                  <a:solidFill>
                                    <a:srgbClr val="660874"/>
                                  </a:solidFill>
                                  <a:latin typeface="Cambria Math" panose="02040503050406030204" pitchFamily="18" charset="0"/>
                                </a:rPr>
                              </m:ctrlPr>
                            </m:accPr>
                            <m:e>
                              <m:sSub>
                                <m:sSubPr>
                                  <m:ctrlPr>
                                    <a:rPr lang="ar-AE" i="1">
                                      <a:solidFill>
                                        <a:srgbClr val="660874"/>
                                      </a:solidFill>
                                      <a:latin typeface="Cambria Math" panose="02040503050406030204" pitchFamily="18" charset="0"/>
                                    </a:rPr>
                                  </m:ctrlPr>
                                </m:sSubPr>
                                <m:e>
                                  <m:r>
                                    <a:rPr lang="ar-AE">
                                      <a:solidFill>
                                        <a:srgbClr val="660874"/>
                                      </a:solidFill>
                                      <a:latin typeface="Cambria Math" panose="02040503050406030204" pitchFamily="18" charset="0"/>
                                    </a:rPr>
                                    <m:t>𝑥</m:t>
                                  </m:r>
                                </m:e>
                                <m:sub>
                                  <m:r>
                                    <a:rPr lang="ar-AE">
                                      <a:solidFill>
                                        <a:srgbClr val="660874"/>
                                      </a:solidFill>
                                      <a:latin typeface="Cambria Math" panose="02040503050406030204" pitchFamily="18" charset="0"/>
                                    </a:rPr>
                                    <m:t>0</m:t>
                                  </m:r>
                                </m:sub>
                              </m:sSub>
                            </m:e>
                          </m:acc>
                          <m:r>
                            <a:rPr lang="ar-AE">
                              <a:solidFill>
                                <a:srgbClr val="660874"/>
                              </a:solidFill>
                              <a:latin typeface="Cambria Math" panose="02040503050406030204" pitchFamily="18" charset="0"/>
                            </a:rPr>
                            <m:t>⋅</m:t>
                          </m:r>
                          <m:r>
                            <m:rPr>
                              <m:sty m:val="p"/>
                            </m:rPr>
                            <a:rPr lang="el-GR">
                              <a:solidFill>
                                <a:srgbClr val="660874"/>
                              </a:solidFill>
                              <a:latin typeface="Cambria Math" panose="02040503050406030204" pitchFamily="18" charset="0"/>
                            </a:rPr>
                            <m:t>Δ</m:t>
                          </m:r>
                          <m:acc>
                            <m:accPr>
                              <m:chr m:val="̂"/>
                              <m:ctrlPr>
                                <a:rPr lang="el-GR" i="1">
                                  <a:solidFill>
                                    <a:srgbClr val="660874"/>
                                  </a:solidFill>
                                  <a:latin typeface="Cambria Math" panose="02040503050406030204" pitchFamily="18" charset="0"/>
                                </a:rPr>
                              </m:ctrlPr>
                            </m:accPr>
                            <m:e>
                              <m:sSub>
                                <m:sSubPr>
                                  <m:ctrlPr>
                                    <a:rPr lang="ar-AE" i="1">
                                      <a:solidFill>
                                        <a:srgbClr val="660874"/>
                                      </a:solidFill>
                                      <a:latin typeface="Cambria Math" panose="02040503050406030204" pitchFamily="18" charset="0"/>
                                    </a:rPr>
                                  </m:ctrlPr>
                                </m:sSubPr>
                                <m:e>
                                  <m:r>
                                    <a:rPr lang="ar-AE">
                                      <a:solidFill>
                                        <a:srgbClr val="660874"/>
                                      </a:solidFill>
                                      <a:latin typeface="Cambria Math" panose="02040503050406030204" pitchFamily="18" charset="0"/>
                                    </a:rPr>
                                    <m:t>𝑥</m:t>
                                  </m:r>
                                </m:e>
                                <m:sub>
                                  <m:r>
                                    <a:rPr lang="ar-AE">
                                      <a:solidFill>
                                        <a:srgbClr val="660874"/>
                                      </a:solidFill>
                                      <a:latin typeface="Cambria Math" panose="02040503050406030204" pitchFamily="18" charset="0"/>
                                    </a:rPr>
                                    <m:t>0</m:t>
                                  </m:r>
                                </m:sub>
                              </m:sSub>
                            </m:e>
                          </m:acc>
                        </m:e>
                      </m:d>
                      <m:sSub>
                        <m:sSubPr>
                          <m:ctrlPr>
                            <a:rPr lang="ar-AE" i="1">
                              <a:solidFill>
                                <a:srgbClr val="660874"/>
                              </a:solidFill>
                              <a:latin typeface="Cambria Math" panose="02040503050406030204" pitchFamily="18" charset="0"/>
                            </a:rPr>
                          </m:ctrlPr>
                        </m:sSubPr>
                        <m:e>
                          <m:r>
                            <a:rPr lang="ar-AE">
                              <a:solidFill>
                                <a:srgbClr val="660874"/>
                              </a:solidFill>
                              <a:latin typeface="Cambria Math" panose="02040503050406030204" pitchFamily="18" charset="0"/>
                            </a:rPr>
                            <m:t>∥</m:t>
                          </m:r>
                        </m:e>
                        <m:sub>
                          <m:r>
                            <a:rPr lang="ar-AE">
                              <a:solidFill>
                                <a:srgbClr val="660874"/>
                              </a:solidFill>
                              <a:latin typeface="Cambria Math" panose="02040503050406030204" pitchFamily="18" charset="0"/>
                            </a:rPr>
                            <m:t>2</m:t>
                          </m:r>
                        </m:sub>
                      </m:sSub>
                    </m:oMath>
                  </m:oMathPara>
                </a14:m>
                <a:endParaRPr lang="en-US" dirty="0"/>
              </a:p>
            </p:txBody>
          </p:sp>
        </mc:Choice>
        <mc:Fallback>
          <p:sp>
            <p:nvSpPr>
              <p:cNvPr id="28" name="TextBox 27">
                <a:extLst>
                  <a:ext uri="{FF2B5EF4-FFF2-40B4-BE49-F238E27FC236}">
                    <a16:creationId xmlns:a16="http://schemas.microsoft.com/office/drawing/2014/main" id="{F6188050-A342-D7B3-6FCC-9B100ED5E4CA}"/>
                  </a:ext>
                </a:extLst>
              </p:cNvPr>
              <p:cNvSpPr txBox="1">
                <a:spLocks noRot="1" noChangeAspect="1" noMove="1" noResize="1" noEditPoints="1" noAdjustHandles="1" noChangeArrowheads="1" noChangeShapeType="1" noTextEdit="1"/>
              </p:cNvSpPr>
              <p:nvPr/>
            </p:nvSpPr>
            <p:spPr>
              <a:xfrm>
                <a:off x="4348407" y="4300452"/>
                <a:ext cx="6096000" cy="427746"/>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0" name="TextBox 29">
                <a:extLst>
                  <a:ext uri="{FF2B5EF4-FFF2-40B4-BE49-F238E27FC236}">
                    <a16:creationId xmlns:a16="http://schemas.microsoft.com/office/drawing/2014/main" id="{69D23F6A-6466-96C7-90DB-D266A64D4DD5}"/>
                  </a:ext>
                </a:extLst>
              </p:cNvPr>
              <p:cNvSpPr txBox="1"/>
              <p:nvPr/>
            </p:nvSpPr>
            <p:spPr>
              <a:xfrm>
                <a:off x="5188402" y="5103219"/>
                <a:ext cx="6096000" cy="43595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ar-AE" i="1" smtClean="0">
                              <a:solidFill>
                                <a:srgbClr val="660874"/>
                              </a:solidFill>
                              <a:latin typeface="Cambria Math" panose="02040503050406030204" pitchFamily="18" charset="0"/>
                            </a:rPr>
                          </m:ctrlPr>
                        </m:sSubPr>
                        <m:e>
                          <m:r>
                            <a:rPr lang="ar-AE">
                              <a:solidFill>
                                <a:srgbClr val="660874"/>
                              </a:solidFill>
                              <a:latin typeface="Cambria Math" panose="02040503050406030204" pitchFamily="18" charset="0"/>
                            </a:rPr>
                            <m:t>𝔼</m:t>
                          </m:r>
                        </m:e>
                        <m:sub>
                          <m:r>
                            <m:rPr>
                              <m:sty m:val="p"/>
                            </m:rPr>
                            <a:rPr lang="el-GR">
                              <a:solidFill>
                                <a:srgbClr val="660874"/>
                              </a:solidFill>
                              <a:latin typeface="Cambria Math" panose="02040503050406030204" pitchFamily="18" charset="0"/>
                            </a:rPr>
                            <m:t>Δ</m:t>
                          </m:r>
                          <m:acc>
                            <m:accPr>
                              <m:chr m:val="̂"/>
                              <m:ctrlPr>
                                <a:rPr lang="el-GR" i="1" smtClean="0">
                                  <a:solidFill>
                                    <a:srgbClr val="660874"/>
                                  </a:solidFill>
                                  <a:latin typeface="Cambria Math" panose="02040503050406030204" pitchFamily="18" charset="0"/>
                                </a:rPr>
                              </m:ctrlPr>
                            </m:accPr>
                            <m:e>
                              <m:sSub>
                                <m:sSubPr>
                                  <m:ctrlPr>
                                    <a:rPr lang="ar-AE" i="1" smtClean="0">
                                      <a:solidFill>
                                        <a:srgbClr val="660874"/>
                                      </a:solidFill>
                                      <a:latin typeface="Cambria Math" panose="02040503050406030204" pitchFamily="18" charset="0"/>
                                    </a:rPr>
                                  </m:ctrlPr>
                                </m:sSubPr>
                                <m:e>
                                  <m:r>
                                    <a:rPr lang="ar-AE">
                                      <a:solidFill>
                                        <a:srgbClr val="660874"/>
                                      </a:solidFill>
                                      <a:latin typeface="Cambria Math" panose="02040503050406030204" pitchFamily="18" charset="0"/>
                                    </a:rPr>
                                    <m:t>𝑥</m:t>
                                  </m:r>
                                </m:e>
                                <m:sub>
                                  <m:r>
                                    <a:rPr lang="ar-AE">
                                      <a:solidFill>
                                        <a:srgbClr val="660874"/>
                                      </a:solidFill>
                                      <a:latin typeface="Cambria Math" panose="02040503050406030204" pitchFamily="18" charset="0"/>
                                    </a:rPr>
                                    <m:t>0</m:t>
                                  </m:r>
                                </m:sub>
                              </m:sSub>
                            </m:e>
                          </m:acc>
                          <m:r>
                            <a:rPr lang="ar-AE">
                              <a:solidFill>
                                <a:srgbClr val="660874"/>
                              </a:solidFill>
                              <a:latin typeface="Cambria Math" panose="02040503050406030204" pitchFamily="18" charset="0"/>
                            </a:rPr>
                            <m:t>,</m:t>
                          </m:r>
                          <m:r>
                            <a:rPr lang="ar-AE">
                              <a:solidFill>
                                <a:srgbClr val="660874"/>
                              </a:solidFill>
                              <a:latin typeface="Cambria Math" panose="02040503050406030204" pitchFamily="18" charset="0"/>
                            </a:rPr>
                            <m:t>𝜖</m:t>
                          </m:r>
                        </m:sub>
                      </m:sSub>
                      <m:r>
                        <a:rPr lang="ar-AE">
                          <a:solidFill>
                            <a:srgbClr val="660874"/>
                          </a:solidFill>
                          <a:latin typeface="Cambria Math" panose="02040503050406030204" pitchFamily="18" charset="0"/>
                        </a:rPr>
                        <m:t>[</m:t>
                      </m:r>
                      <m:rad>
                        <m:radPr>
                          <m:degHide m:val="on"/>
                          <m:ctrlPr>
                            <a:rPr lang="ar-AE" i="1">
                              <a:solidFill>
                                <a:srgbClr val="660874"/>
                              </a:solidFill>
                              <a:latin typeface="Cambria Math" panose="02040503050406030204" pitchFamily="18" charset="0"/>
                            </a:rPr>
                          </m:ctrlPr>
                        </m:radPr>
                        <m:deg/>
                        <m:e>
                          <m:r>
                            <a:rPr lang="ar-AE">
                              <a:solidFill>
                                <a:srgbClr val="660874"/>
                              </a:solidFill>
                              <a:latin typeface="Cambria Math" panose="02040503050406030204" pitchFamily="18" charset="0"/>
                            </a:rPr>
                            <m:t>1</m:t>
                          </m:r>
                          <m:r>
                            <a:rPr lang="ar-AE">
                              <a:solidFill>
                                <a:srgbClr val="660874"/>
                              </a:solidFill>
                              <a:latin typeface="Cambria Math" panose="02040503050406030204" pitchFamily="18" charset="0"/>
                            </a:rPr>
                            <m:t>−</m:t>
                          </m:r>
                          <m:acc>
                            <m:accPr>
                              <m:chr m:val="̅"/>
                              <m:ctrlPr>
                                <a:rPr lang="ar-AE" i="1" smtClean="0">
                                  <a:solidFill>
                                    <a:srgbClr val="660874"/>
                                  </a:solidFill>
                                  <a:latin typeface="Cambria Math" panose="02040503050406030204" pitchFamily="18" charset="0"/>
                                </a:rPr>
                              </m:ctrlPr>
                            </m:accPr>
                            <m:e>
                              <m:sSub>
                                <m:sSubPr>
                                  <m:ctrlPr>
                                    <a:rPr lang="ar-AE" i="1" smtClean="0">
                                      <a:solidFill>
                                        <a:srgbClr val="660874"/>
                                      </a:solidFill>
                                      <a:latin typeface="Cambria Math" panose="02040503050406030204" pitchFamily="18" charset="0"/>
                                    </a:rPr>
                                  </m:ctrlPr>
                                </m:sSubPr>
                                <m:e>
                                  <m:r>
                                    <a:rPr lang="ar-AE">
                                      <a:solidFill>
                                        <a:srgbClr val="660874"/>
                                      </a:solidFill>
                                      <a:latin typeface="Cambria Math" panose="02040503050406030204" pitchFamily="18" charset="0"/>
                                    </a:rPr>
                                    <m:t>𝛼</m:t>
                                  </m:r>
                                </m:e>
                                <m:sub>
                                  <m:r>
                                    <a:rPr lang="ar-AE">
                                      <a:solidFill>
                                        <a:srgbClr val="660874"/>
                                      </a:solidFill>
                                      <a:latin typeface="Cambria Math" panose="02040503050406030204" pitchFamily="18" charset="0"/>
                                    </a:rPr>
                                    <m:t>𝑡</m:t>
                                  </m:r>
                                </m:sub>
                              </m:sSub>
                            </m:e>
                          </m:acc>
                        </m:e>
                      </m:rad>
                      <m:r>
                        <m:rPr>
                          <m:nor/>
                        </m:rPr>
                        <a:rPr lang="ar-AE">
                          <a:solidFill>
                            <a:srgbClr val="660874"/>
                          </a:solidFill>
                        </a:rPr>
                        <m:t> </m:t>
                      </m:r>
                      <m:r>
                        <a:rPr lang="ar-AE">
                          <a:solidFill>
                            <a:srgbClr val="660874"/>
                          </a:solidFill>
                          <a:latin typeface="Cambria Math" panose="02040503050406030204" pitchFamily="18" charset="0"/>
                        </a:rPr>
                        <m:t>∥</m:t>
                      </m:r>
                      <m:sSubSup>
                        <m:sSubSupPr>
                          <m:ctrlPr>
                            <a:rPr lang="ar-AE" i="1">
                              <a:solidFill>
                                <a:srgbClr val="660874"/>
                              </a:solidFill>
                              <a:latin typeface="Cambria Math" panose="02040503050406030204" pitchFamily="18" charset="0"/>
                            </a:rPr>
                          </m:ctrlPr>
                        </m:sSubSupPr>
                        <m:e>
                          <m:r>
                            <a:rPr lang="ar-AE">
                              <a:solidFill>
                                <a:srgbClr val="660874"/>
                              </a:solidFill>
                              <a:latin typeface="Cambria Math" panose="02040503050406030204" pitchFamily="18" charset="0"/>
                            </a:rPr>
                            <m:t>𝐽</m:t>
                          </m:r>
                        </m:e>
                        <m:sub>
                          <m:r>
                            <a:rPr lang="ar-AE">
                              <a:solidFill>
                                <a:srgbClr val="660874"/>
                              </a:solidFill>
                              <a:latin typeface="Cambria Math" panose="02040503050406030204" pitchFamily="18" charset="0"/>
                            </a:rPr>
                            <m:t>𝜖</m:t>
                          </m:r>
                        </m:sub>
                        <m:sup>
                          <m:r>
                            <a:rPr lang="ar-AE">
                              <a:solidFill>
                                <a:srgbClr val="660874"/>
                              </a:solidFill>
                              <a:latin typeface="Cambria Math" panose="02040503050406030204" pitchFamily="18" charset="0"/>
                            </a:rPr>
                            <m:t>𝑇</m:t>
                          </m:r>
                        </m:sup>
                      </m:sSubSup>
                      <m:r>
                        <m:rPr>
                          <m:sty m:val="p"/>
                        </m:rPr>
                        <a:rPr lang="el-GR">
                          <a:solidFill>
                            <a:srgbClr val="660874"/>
                          </a:solidFill>
                          <a:latin typeface="Cambria Math" panose="02040503050406030204" pitchFamily="18" charset="0"/>
                        </a:rPr>
                        <m:t>Δ</m:t>
                      </m:r>
                      <m:acc>
                        <m:accPr>
                          <m:chr m:val="̂"/>
                          <m:ctrlPr>
                            <a:rPr lang="el-GR" i="1" smtClean="0">
                              <a:solidFill>
                                <a:srgbClr val="660874"/>
                              </a:solidFill>
                              <a:latin typeface="Cambria Math" panose="02040503050406030204" pitchFamily="18" charset="0"/>
                            </a:rPr>
                          </m:ctrlPr>
                        </m:accPr>
                        <m:e>
                          <m:sSub>
                            <m:sSubPr>
                              <m:ctrlPr>
                                <a:rPr lang="ar-AE" i="1" smtClean="0">
                                  <a:solidFill>
                                    <a:srgbClr val="660874"/>
                                  </a:solidFill>
                                  <a:latin typeface="Cambria Math" panose="02040503050406030204" pitchFamily="18" charset="0"/>
                                </a:rPr>
                              </m:ctrlPr>
                            </m:sSubPr>
                            <m:e>
                              <m:r>
                                <a:rPr lang="ar-AE">
                                  <a:solidFill>
                                    <a:srgbClr val="660874"/>
                                  </a:solidFill>
                                  <a:latin typeface="Cambria Math" panose="02040503050406030204" pitchFamily="18" charset="0"/>
                                </a:rPr>
                                <m:t>𝑥</m:t>
                              </m:r>
                            </m:e>
                            <m:sub>
                              <m:r>
                                <a:rPr lang="ar-AE">
                                  <a:solidFill>
                                    <a:srgbClr val="660874"/>
                                  </a:solidFill>
                                  <a:latin typeface="Cambria Math" panose="02040503050406030204" pitchFamily="18" charset="0"/>
                                </a:rPr>
                                <m:t>0</m:t>
                              </m:r>
                            </m:sub>
                          </m:sSub>
                        </m:e>
                      </m:acc>
                      <m:sSub>
                        <m:sSubPr>
                          <m:ctrlPr>
                            <a:rPr lang="ar-AE" i="1">
                              <a:solidFill>
                                <a:srgbClr val="660874"/>
                              </a:solidFill>
                              <a:latin typeface="Cambria Math" panose="02040503050406030204" pitchFamily="18" charset="0"/>
                            </a:rPr>
                          </m:ctrlPr>
                        </m:sSubPr>
                        <m:e>
                          <m:r>
                            <a:rPr lang="ar-AE">
                              <a:solidFill>
                                <a:srgbClr val="660874"/>
                              </a:solidFill>
                              <a:latin typeface="Cambria Math" panose="02040503050406030204" pitchFamily="18" charset="0"/>
                            </a:rPr>
                            <m:t>∥</m:t>
                          </m:r>
                        </m:e>
                        <m:sub>
                          <m:r>
                            <a:rPr lang="ar-AE">
                              <a:solidFill>
                                <a:srgbClr val="660874"/>
                              </a:solidFill>
                              <a:latin typeface="Cambria Math" panose="02040503050406030204" pitchFamily="18" charset="0"/>
                            </a:rPr>
                            <m:t>2</m:t>
                          </m:r>
                        </m:sub>
                      </m:sSub>
                      <m:r>
                        <a:rPr lang="ar-AE">
                          <a:solidFill>
                            <a:srgbClr val="660874"/>
                          </a:solidFill>
                          <a:latin typeface="Cambria Math" panose="02040503050406030204" pitchFamily="18" charset="0"/>
                        </a:rPr>
                        <m:t>−</m:t>
                      </m:r>
                      <m:r>
                        <a:rPr lang="en-US" b="0" i="0" smtClean="0">
                          <a:solidFill>
                            <a:srgbClr val="660874"/>
                          </a:solidFill>
                          <a:latin typeface="Cambria Math" panose="02040503050406030204" pitchFamily="18" charset="0"/>
                        </a:rPr>
                        <m:t> </m:t>
                      </m:r>
                      <m:r>
                        <a:rPr lang="ar-AE">
                          <a:solidFill>
                            <a:srgbClr val="660874"/>
                          </a:solidFill>
                          <a:latin typeface="Cambria Math" panose="02040503050406030204" pitchFamily="18" charset="0"/>
                        </a:rPr>
                        <m:t>𝑎</m:t>
                      </m:r>
                      <m:sSup>
                        <m:sSupPr>
                          <m:ctrlPr>
                            <a:rPr lang="ar-AE" i="1">
                              <a:solidFill>
                                <a:srgbClr val="660874"/>
                              </a:solidFill>
                              <a:latin typeface="Cambria Math" panose="02040503050406030204" pitchFamily="18" charset="0"/>
                            </a:rPr>
                          </m:ctrlPr>
                        </m:sSupPr>
                        <m:e>
                          <m:r>
                            <a:rPr lang="ar-AE">
                              <a:solidFill>
                                <a:srgbClr val="660874"/>
                              </a:solidFill>
                              <a:latin typeface="Cambria Math" panose="02040503050406030204" pitchFamily="18" charset="0"/>
                            </a:rPr>
                            <m:t>]</m:t>
                          </m:r>
                        </m:e>
                        <m:sup>
                          <m:r>
                            <a:rPr lang="ar-AE">
                              <a:solidFill>
                                <a:srgbClr val="660874"/>
                              </a:solidFill>
                              <a:latin typeface="Cambria Math" panose="02040503050406030204" pitchFamily="18" charset="0"/>
                            </a:rPr>
                            <m:t>2</m:t>
                          </m:r>
                        </m:sup>
                      </m:sSup>
                    </m:oMath>
                  </m:oMathPara>
                </a14:m>
                <a:endParaRPr lang="en-US" dirty="0"/>
              </a:p>
            </p:txBody>
          </p:sp>
        </mc:Choice>
        <mc:Fallback>
          <p:sp>
            <p:nvSpPr>
              <p:cNvPr id="30" name="TextBox 29">
                <a:extLst>
                  <a:ext uri="{FF2B5EF4-FFF2-40B4-BE49-F238E27FC236}">
                    <a16:creationId xmlns:a16="http://schemas.microsoft.com/office/drawing/2014/main" id="{69D23F6A-6466-96C7-90DB-D266A64D4DD5}"/>
                  </a:ext>
                </a:extLst>
              </p:cNvPr>
              <p:cNvSpPr txBox="1">
                <a:spLocks noRot="1" noChangeAspect="1" noMove="1" noResize="1" noEditPoints="1" noAdjustHandles="1" noChangeArrowheads="1" noChangeShapeType="1" noTextEdit="1"/>
              </p:cNvSpPr>
              <p:nvPr/>
            </p:nvSpPr>
            <p:spPr>
              <a:xfrm>
                <a:off x="5188402" y="5103219"/>
                <a:ext cx="6096000" cy="435953"/>
              </a:xfrm>
              <a:prstGeom prst="rect">
                <a:avLst/>
              </a:prstGeom>
              <a:blipFill>
                <a:blip r:embed="rId12"/>
                <a:stretch>
                  <a:fillRect b="-6944"/>
                </a:stretch>
              </a:blipFill>
            </p:spPr>
            <p:txBody>
              <a:bodyPr/>
              <a:lstStyle/>
              <a:p>
                <a:r>
                  <a:rPr lang="en-US">
                    <a:noFill/>
                  </a:rPr>
                  <a:t> </a:t>
                </a:r>
              </a:p>
            </p:txBody>
          </p:sp>
        </mc:Fallback>
      </mc:AlternateContent>
      <p:sp>
        <p:nvSpPr>
          <p:cNvPr id="31" name="TextBox 30">
            <a:extLst>
              <a:ext uri="{FF2B5EF4-FFF2-40B4-BE49-F238E27FC236}">
                <a16:creationId xmlns:a16="http://schemas.microsoft.com/office/drawing/2014/main" id="{6B8B5B67-EF2A-BDEA-4761-6223BD02982C}"/>
              </a:ext>
            </a:extLst>
          </p:cNvPr>
          <p:cNvSpPr txBox="1"/>
          <p:nvPr/>
        </p:nvSpPr>
        <p:spPr>
          <a:xfrm>
            <a:off x="1755721" y="2278051"/>
            <a:ext cx="6096000" cy="369332"/>
          </a:xfrm>
          <a:prstGeom prst="rect">
            <a:avLst/>
          </a:prstGeom>
          <a:noFill/>
        </p:spPr>
        <p:txBody>
          <a:bodyPr wrap="square">
            <a:spAutoFit/>
          </a:bodyPr>
          <a:lstStyle/>
          <a:p>
            <a:pPr algn="ctr"/>
            <a:r>
              <a:rPr lang="en-US" altLang="zh-CN" dirty="0">
                <a:solidFill>
                  <a:srgbClr val="660874"/>
                </a:solidFill>
              </a:rPr>
              <a:t>a</a:t>
            </a:r>
            <a:endParaRPr lang="en-US" dirty="0">
              <a:solidFill>
                <a:srgbClr val="660874"/>
              </a:solidFill>
            </a:endParaRPr>
          </a:p>
        </p:txBody>
      </p:sp>
      <p:sp>
        <p:nvSpPr>
          <p:cNvPr id="33" name="TextBox 32">
            <a:extLst>
              <a:ext uri="{FF2B5EF4-FFF2-40B4-BE49-F238E27FC236}">
                <a16:creationId xmlns:a16="http://schemas.microsoft.com/office/drawing/2014/main" id="{ED61C7E0-7F14-866B-11AF-8C79848AFF5B}"/>
              </a:ext>
            </a:extLst>
          </p:cNvPr>
          <p:cNvSpPr txBox="1"/>
          <p:nvPr/>
        </p:nvSpPr>
        <p:spPr>
          <a:xfrm>
            <a:off x="9344106" y="4042342"/>
            <a:ext cx="2704987" cy="1182375"/>
          </a:xfrm>
          <a:prstGeom prst="rect">
            <a:avLst/>
          </a:prstGeom>
          <a:noFill/>
        </p:spPr>
        <p:txBody>
          <a:bodyPr wrap="square">
            <a:spAutoFit/>
          </a:bodyPr>
          <a:lstStyle/>
          <a:p>
            <a:pPr algn="l" latinLnBrk="1">
              <a:lnSpc>
                <a:spcPts val="1650"/>
              </a:lnSpc>
              <a:buNone/>
            </a:pPr>
            <a:r>
              <a:rPr lang="en-US" sz="1400" dirty="0" err="1">
                <a:solidFill>
                  <a:srgbClr val="660874"/>
                </a:solidFill>
                <a:latin typeface="Menlo"/>
              </a:rPr>
              <a:t>n</a:t>
            </a:r>
            <a:r>
              <a:rPr lang="en-US" sz="1400" b="0" dirty="0" err="1">
                <a:solidFill>
                  <a:srgbClr val="660874"/>
                </a:solidFill>
                <a:effectLst/>
                <a:latin typeface="Menlo"/>
              </a:rPr>
              <a:t>ew_</a:t>
            </a:r>
            <a:r>
              <a:rPr lang="en-US" sz="1400" dirty="0" err="1">
                <a:solidFill>
                  <a:srgbClr val="660874"/>
                </a:solidFill>
                <a:latin typeface="Menlo"/>
              </a:rPr>
              <a:t>a</a:t>
            </a:r>
            <a:r>
              <a:rPr lang="en-US" sz="1400" b="0" dirty="0">
                <a:solidFill>
                  <a:srgbClr val="660874"/>
                </a:solidFill>
                <a:effectLst/>
                <a:latin typeface="Menlo"/>
              </a:rPr>
              <a:t> = </a:t>
            </a:r>
            <a:r>
              <a:rPr lang="en-US" sz="1400" b="0" dirty="0" err="1">
                <a:solidFill>
                  <a:srgbClr val="660874"/>
                </a:solidFill>
                <a:effectLst/>
                <a:latin typeface="Menlo"/>
              </a:rPr>
              <a:t>old_a</a:t>
            </a:r>
            <a:r>
              <a:rPr lang="en-US" sz="1400" b="0" dirty="0">
                <a:solidFill>
                  <a:srgbClr val="660874"/>
                </a:solidFill>
                <a:effectLst/>
                <a:latin typeface="Menlo"/>
              </a:rPr>
              <a:t> + </a:t>
            </a:r>
            <a:r>
              <a:rPr lang="en-US" sz="1400" b="0" dirty="0" err="1">
                <a:solidFill>
                  <a:srgbClr val="660874"/>
                </a:solidFill>
                <a:effectLst/>
                <a:latin typeface="Menlo"/>
              </a:rPr>
              <a:t>decay_rate</a:t>
            </a:r>
            <a:r>
              <a:rPr lang="en-US" sz="1400" b="0" dirty="0">
                <a:solidFill>
                  <a:srgbClr val="660874"/>
                </a:solidFill>
                <a:effectLst/>
                <a:latin typeface="Menlo"/>
              </a:rPr>
              <a:t> * (</a:t>
            </a:r>
            <a:r>
              <a:rPr lang="en-US" sz="1400" b="0" dirty="0" err="1">
                <a:solidFill>
                  <a:srgbClr val="660874"/>
                </a:solidFill>
                <a:effectLst/>
                <a:latin typeface="Menlo"/>
              </a:rPr>
              <a:t>new_</a:t>
            </a:r>
            <a:r>
              <a:rPr lang="en-US" sz="1400" dirty="0" err="1">
                <a:solidFill>
                  <a:srgbClr val="660874"/>
                </a:solidFill>
                <a:latin typeface="Menlo"/>
              </a:rPr>
              <a:t>value</a:t>
            </a:r>
            <a:r>
              <a:rPr lang="en-US" sz="1400" b="0" dirty="0">
                <a:solidFill>
                  <a:srgbClr val="660874"/>
                </a:solidFill>
                <a:effectLst/>
                <a:latin typeface="Menlo"/>
              </a:rPr>
              <a:t> - </a:t>
            </a:r>
            <a:r>
              <a:rPr lang="en-US" sz="1400" b="0" dirty="0" err="1">
                <a:solidFill>
                  <a:srgbClr val="660874"/>
                </a:solidFill>
                <a:effectLst/>
                <a:latin typeface="Menlo"/>
              </a:rPr>
              <a:t>old_a</a:t>
            </a:r>
            <a:r>
              <a:rPr lang="en-US" sz="1400" b="0" dirty="0">
                <a:solidFill>
                  <a:srgbClr val="660874"/>
                </a:solidFill>
                <a:effectLst/>
                <a:latin typeface="Menlo"/>
              </a:rPr>
              <a:t>), the d</a:t>
            </a:r>
            <a:r>
              <a:rPr lang="en-US" sz="1400" dirty="0">
                <a:solidFill>
                  <a:srgbClr val="660874"/>
                </a:solidFill>
                <a:latin typeface="Menlo"/>
              </a:rPr>
              <a:t>ecay rate is essentially how much we trust the new value</a:t>
            </a:r>
            <a:endParaRPr lang="en-US" sz="1400" b="0" dirty="0">
              <a:solidFill>
                <a:srgbClr val="660874"/>
              </a:solidFill>
              <a:effectLst/>
              <a:latin typeface="Menlo"/>
            </a:endParaRPr>
          </a:p>
          <a:p>
            <a:pPr algn="l" latinLnBrk="1">
              <a:lnSpc>
                <a:spcPts val="1650"/>
              </a:lnSpc>
              <a:buNone/>
            </a:pPr>
            <a:endParaRPr lang="en-US" sz="1600" b="0" dirty="0">
              <a:solidFill>
                <a:srgbClr val="0F1115"/>
              </a:solidFill>
              <a:effectLst/>
              <a:latin typeface="Menlo"/>
            </a:endParaRPr>
          </a:p>
        </p:txBody>
      </p:sp>
      <p:cxnSp>
        <p:nvCxnSpPr>
          <p:cNvPr id="35" name="Straight Arrow Connector 34">
            <a:extLst>
              <a:ext uri="{FF2B5EF4-FFF2-40B4-BE49-F238E27FC236}">
                <a16:creationId xmlns:a16="http://schemas.microsoft.com/office/drawing/2014/main" id="{F2136792-8AFE-E000-8D19-723FBB1DD030}"/>
              </a:ext>
            </a:extLst>
          </p:cNvPr>
          <p:cNvCxnSpPr>
            <a:cxnSpLocks/>
          </p:cNvCxnSpPr>
          <p:nvPr/>
        </p:nvCxnSpPr>
        <p:spPr>
          <a:xfrm flipV="1">
            <a:off x="8096531" y="4514325"/>
            <a:ext cx="1247575" cy="449463"/>
          </a:xfrm>
          <a:prstGeom prst="straightConnector1">
            <a:avLst/>
          </a:prstGeom>
          <a:ln w="19050">
            <a:solidFill>
              <a:srgbClr val="660874"/>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404239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9A35A5F5-7C4A-10A4-5C23-36930EF6B222}"/>
              </a:ext>
            </a:extLst>
          </p:cNvPr>
          <p:cNvPicPr>
            <a:picLocks noChangeAspect="1"/>
          </p:cNvPicPr>
          <p:nvPr/>
        </p:nvPicPr>
        <p:blipFill>
          <a:blip r:embed="rId2"/>
          <a:stretch>
            <a:fillRect/>
          </a:stretch>
        </p:blipFill>
        <p:spPr>
          <a:xfrm>
            <a:off x="3921774" y="1328756"/>
            <a:ext cx="4267505" cy="5529244"/>
          </a:xfrm>
          <a:prstGeom prst="rect">
            <a:avLst/>
          </a:prstGeom>
        </p:spPr>
      </p:pic>
      <p:sp>
        <p:nvSpPr>
          <p:cNvPr id="4" name="Arrow: Chevron 3">
            <a:extLst>
              <a:ext uri="{FF2B5EF4-FFF2-40B4-BE49-F238E27FC236}">
                <a16:creationId xmlns:a16="http://schemas.microsoft.com/office/drawing/2014/main" id="{D811B970-06F6-436A-13A7-D55317C14938}"/>
              </a:ext>
            </a:extLst>
          </p:cNvPr>
          <p:cNvSpPr/>
          <p:nvPr/>
        </p:nvSpPr>
        <p:spPr>
          <a:xfrm>
            <a:off x="892600" y="488935"/>
            <a:ext cx="6865945" cy="694742"/>
          </a:xfrm>
          <a:prstGeom prst="chevron">
            <a:avLst/>
          </a:prstGeom>
          <a:solidFill>
            <a:schemeClr val="bg1">
              <a:lumMod val="85000"/>
              <a:alpha val="67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 name="Arrow: Chevron 4">
            <a:extLst>
              <a:ext uri="{FF2B5EF4-FFF2-40B4-BE49-F238E27FC236}">
                <a16:creationId xmlns:a16="http://schemas.microsoft.com/office/drawing/2014/main" id="{8F7D40C2-3E37-7889-41C1-C9B01DE9D3F4}"/>
              </a:ext>
            </a:extLst>
          </p:cNvPr>
          <p:cNvSpPr/>
          <p:nvPr/>
        </p:nvSpPr>
        <p:spPr>
          <a:xfrm>
            <a:off x="393087" y="488936"/>
            <a:ext cx="817404" cy="694742"/>
          </a:xfrm>
          <a:prstGeom prst="chevron">
            <a:avLst/>
          </a:prstGeom>
          <a:gradFill>
            <a:gsLst>
              <a:gs pos="0">
                <a:srgbClr val="660874"/>
              </a:gs>
              <a:gs pos="50000">
                <a:srgbClr val="7030A0"/>
              </a:gs>
              <a:gs pos="100000">
                <a:srgbClr val="660874"/>
              </a:gs>
            </a:gsLst>
            <a:lin ang="5400000" scaled="0"/>
          </a:gra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 name="Title 1">
            <a:extLst>
              <a:ext uri="{FF2B5EF4-FFF2-40B4-BE49-F238E27FC236}">
                <a16:creationId xmlns:a16="http://schemas.microsoft.com/office/drawing/2014/main" id="{CD6A07C6-F379-430B-A2E6-CF98B99A2415}"/>
              </a:ext>
            </a:extLst>
          </p:cNvPr>
          <p:cNvSpPr txBox="1">
            <a:spLocks/>
          </p:cNvSpPr>
          <p:nvPr/>
        </p:nvSpPr>
        <p:spPr>
          <a:xfrm>
            <a:off x="1248477" y="190942"/>
            <a:ext cx="10515600" cy="1325563"/>
          </a:xfrm>
          <a:prstGeom prst="rect">
            <a:avLst/>
          </a:prstGeom>
          <a:effectLst/>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dirty="0">
                <a:solidFill>
                  <a:srgbClr val="660874"/>
                </a:solidFill>
              </a:rPr>
              <a:t>Draft of introduction and related works </a:t>
            </a:r>
            <a:endParaRPr lang="zh-CN" altLang="en-US" sz="2800" dirty="0">
              <a:solidFill>
                <a:srgbClr val="660874"/>
              </a:solidFill>
            </a:endParaRPr>
          </a:p>
        </p:txBody>
      </p:sp>
      <p:pic>
        <p:nvPicPr>
          <p:cNvPr id="13" name="Picture 12">
            <a:extLst>
              <a:ext uri="{FF2B5EF4-FFF2-40B4-BE49-F238E27FC236}">
                <a16:creationId xmlns:a16="http://schemas.microsoft.com/office/drawing/2014/main" id="{A5E94129-3319-914D-0BFF-300B0B5ACCF7}"/>
              </a:ext>
            </a:extLst>
          </p:cNvPr>
          <p:cNvPicPr>
            <a:picLocks noChangeAspect="1"/>
          </p:cNvPicPr>
          <p:nvPr/>
        </p:nvPicPr>
        <p:blipFill>
          <a:blip r:embed="rId3"/>
          <a:stretch>
            <a:fillRect/>
          </a:stretch>
        </p:blipFill>
        <p:spPr>
          <a:xfrm>
            <a:off x="214554" y="1325563"/>
            <a:ext cx="4111018" cy="5341495"/>
          </a:xfrm>
          <a:prstGeom prst="rect">
            <a:avLst/>
          </a:prstGeom>
        </p:spPr>
      </p:pic>
      <p:sp>
        <p:nvSpPr>
          <p:cNvPr id="15" name="TextBox 14">
            <a:extLst>
              <a:ext uri="{FF2B5EF4-FFF2-40B4-BE49-F238E27FC236}">
                <a16:creationId xmlns:a16="http://schemas.microsoft.com/office/drawing/2014/main" id="{83599506-5BFD-F2BD-EF98-873D42325297}"/>
              </a:ext>
            </a:extLst>
          </p:cNvPr>
          <p:cNvSpPr txBox="1"/>
          <p:nvPr/>
        </p:nvSpPr>
        <p:spPr>
          <a:xfrm>
            <a:off x="477981" y="1313587"/>
            <a:ext cx="6096000" cy="369332"/>
          </a:xfrm>
          <a:prstGeom prst="rect">
            <a:avLst/>
          </a:prstGeom>
          <a:noFill/>
        </p:spPr>
        <p:txBody>
          <a:bodyPr wrap="square">
            <a:spAutoFit/>
          </a:bodyPr>
          <a:lstStyle/>
          <a:p>
            <a:r>
              <a:rPr lang="en-US" dirty="0">
                <a:hlinkClick r:id="rId4"/>
              </a:rPr>
              <a:t>Independent Studies paper - Online LaTeX Editor Overleaf</a:t>
            </a:r>
            <a:endParaRPr lang="en-US" dirty="0"/>
          </a:p>
        </p:txBody>
      </p:sp>
      <p:pic>
        <p:nvPicPr>
          <p:cNvPr id="19" name="Picture 18">
            <a:extLst>
              <a:ext uri="{FF2B5EF4-FFF2-40B4-BE49-F238E27FC236}">
                <a16:creationId xmlns:a16="http://schemas.microsoft.com/office/drawing/2014/main" id="{F9DACA6A-2408-7B97-9FF7-D6CCE95C5E83}"/>
              </a:ext>
            </a:extLst>
          </p:cNvPr>
          <p:cNvPicPr>
            <a:picLocks noChangeAspect="1"/>
          </p:cNvPicPr>
          <p:nvPr/>
        </p:nvPicPr>
        <p:blipFill>
          <a:blip r:embed="rId5"/>
          <a:stretch>
            <a:fillRect/>
          </a:stretch>
        </p:blipFill>
        <p:spPr>
          <a:xfrm>
            <a:off x="7720963" y="1327159"/>
            <a:ext cx="4260220" cy="5532437"/>
          </a:xfrm>
          <a:prstGeom prst="rect">
            <a:avLst/>
          </a:prstGeom>
        </p:spPr>
      </p:pic>
    </p:spTree>
    <p:extLst>
      <p:ext uri="{BB962C8B-B14F-4D97-AF65-F5344CB8AC3E}">
        <p14:creationId xmlns:p14="http://schemas.microsoft.com/office/powerpoint/2010/main" val="15063645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rrow: Chevron 3">
            <a:extLst>
              <a:ext uri="{FF2B5EF4-FFF2-40B4-BE49-F238E27FC236}">
                <a16:creationId xmlns:a16="http://schemas.microsoft.com/office/drawing/2014/main" id="{CC86B560-BDFC-D74A-9885-5E9ACCD6ABDC}"/>
              </a:ext>
            </a:extLst>
          </p:cNvPr>
          <p:cNvSpPr/>
          <p:nvPr/>
        </p:nvSpPr>
        <p:spPr>
          <a:xfrm>
            <a:off x="892601" y="488935"/>
            <a:ext cx="2695726" cy="694742"/>
          </a:xfrm>
          <a:prstGeom prst="chevron">
            <a:avLst/>
          </a:prstGeom>
          <a:solidFill>
            <a:schemeClr val="bg1">
              <a:lumMod val="85000"/>
              <a:alpha val="67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 name="Arrow: Chevron 4">
            <a:extLst>
              <a:ext uri="{FF2B5EF4-FFF2-40B4-BE49-F238E27FC236}">
                <a16:creationId xmlns:a16="http://schemas.microsoft.com/office/drawing/2014/main" id="{0FCF87C8-A387-4155-1263-35DDCB739C1E}"/>
              </a:ext>
            </a:extLst>
          </p:cNvPr>
          <p:cNvSpPr/>
          <p:nvPr/>
        </p:nvSpPr>
        <p:spPr>
          <a:xfrm>
            <a:off x="393087" y="488936"/>
            <a:ext cx="817404" cy="694742"/>
          </a:xfrm>
          <a:prstGeom prst="chevron">
            <a:avLst/>
          </a:prstGeom>
          <a:gradFill>
            <a:gsLst>
              <a:gs pos="0">
                <a:srgbClr val="660874"/>
              </a:gs>
              <a:gs pos="50000">
                <a:srgbClr val="7030A0"/>
              </a:gs>
              <a:gs pos="100000">
                <a:srgbClr val="660874"/>
              </a:gs>
            </a:gsLst>
            <a:lin ang="5400000" scaled="0"/>
          </a:gra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 name="Title 1">
            <a:extLst>
              <a:ext uri="{FF2B5EF4-FFF2-40B4-BE49-F238E27FC236}">
                <a16:creationId xmlns:a16="http://schemas.microsoft.com/office/drawing/2014/main" id="{837D9CB4-9BD8-CCD5-10F4-E763E74E4C7F}"/>
              </a:ext>
            </a:extLst>
          </p:cNvPr>
          <p:cNvSpPr txBox="1">
            <a:spLocks/>
          </p:cNvSpPr>
          <p:nvPr/>
        </p:nvSpPr>
        <p:spPr>
          <a:xfrm>
            <a:off x="1248477" y="190942"/>
            <a:ext cx="10515600" cy="1325563"/>
          </a:xfrm>
          <a:prstGeom prst="rect">
            <a:avLst/>
          </a:prstGeom>
          <a:effectLst/>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dirty="0">
                <a:solidFill>
                  <a:srgbClr val="660874"/>
                </a:solidFill>
              </a:rPr>
              <a:t>Next Steps </a:t>
            </a:r>
            <a:endParaRPr lang="zh-CN" altLang="en-US" sz="2800" dirty="0">
              <a:solidFill>
                <a:srgbClr val="660874"/>
              </a:solidFill>
            </a:endParaRPr>
          </a:p>
        </p:txBody>
      </p:sp>
      <p:sp>
        <p:nvSpPr>
          <p:cNvPr id="7" name="TextBox 6">
            <a:extLst>
              <a:ext uri="{FF2B5EF4-FFF2-40B4-BE49-F238E27FC236}">
                <a16:creationId xmlns:a16="http://schemas.microsoft.com/office/drawing/2014/main" id="{B5901E1A-34F6-B4A1-9E82-470149F99BEC}"/>
              </a:ext>
            </a:extLst>
          </p:cNvPr>
          <p:cNvSpPr txBox="1"/>
          <p:nvPr/>
        </p:nvSpPr>
        <p:spPr>
          <a:xfrm>
            <a:off x="712619" y="1694570"/>
            <a:ext cx="9977054" cy="6878165"/>
          </a:xfrm>
          <a:prstGeom prst="rect">
            <a:avLst/>
          </a:prstGeom>
          <a:noFill/>
        </p:spPr>
        <p:txBody>
          <a:bodyPr wrap="square" rtlCol="0">
            <a:spAutoFit/>
          </a:bodyPr>
          <a:lstStyle/>
          <a:p>
            <a:pPr marL="285750" indent="-285750">
              <a:lnSpc>
                <a:spcPct val="200000"/>
              </a:lnSpc>
              <a:buFont typeface="Wingdings" panose="05000000000000000000" pitchFamily="2" charset="2"/>
              <a:buChar char="Ø"/>
            </a:pPr>
            <a:r>
              <a:rPr lang="en-US" b="1" dirty="0">
                <a:solidFill>
                  <a:srgbClr val="660874"/>
                </a:solidFill>
              </a:rPr>
              <a:t>Find new methods for experiment setup/downstream tasks </a:t>
            </a:r>
            <a:r>
              <a:rPr lang="en-US" dirty="0">
                <a:solidFill>
                  <a:srgbClr val="660874"/>
                </a:solidFill>
              </a:rPr>
              <a:t>(ex. Image interpolation can have another method apart from VAE-space interpolation and ANID)  </a:t>
            </a:r>
          </a:p>
          <a:p>
            <a:pPr marL="285750" indent="-285750">
              <a:lnSpc>
                <a:spcPct val="200000"/>
              </a:lnSpc>
              <a:buFont typeface="Wingdings" panose="05000000000000000000" pitchFamily="2" charset="2"/>
              <a:buChar char="Ø"/>
            </a:pPr>
            <a:r>
              <a:rPr lang="en-US" b="1" dirty="0">
                <a:solidFill>
                  <a:srgbClr val="660874"/>
                </a:solidFill>
              </a:rPr>
              <a:t>Come up with new metric for evaluating smoothness </a:t>
            </a:r>
            <a:r>
              <a:rPr lang="en-US" dirty="0">
                <a:solidFill>
                  <a:srgbClr val="660874"/>
                </a:solidFill>
              </a:rPr>
              <a:t>(this paper proposed the ISTD which could be improved in my opinion)</a:t>
            </a:r>
          </a:p>
          <a:p>
            <a:pPr marL="285750" indent="-285750">
              <a:lnSpc>
                <a:spcPct val="200000"/>
              </a:lnSpc>
              <a:buFont typeface="Wingdings" panose="05000000000000000000" pitchFamily="2" charset="2"/>
              <a:buChar char="Ø"/>
            </a:pPr>
            <a:r>
              <a:rPr lang="en-US" b="1" dirty="0">
                <a:solidFill>
                  <a:srgbClr val="660874"/>
                </a:solidFill>
              </a:rPr>
              <a:t>Run code and train original model to validate some examples from the paper</a:t>
            </a:r>
          </a:p>
          <a:p>
            <a:pPr marL="285750" indent="-285750">
              <a:lnSpc>
                <a:spcPct val="200000"/>
              </a:lnSpc>
              <a:buFont typeface="Wingdings" panose="05000000000000000000" pitchFamily="2" charset="2"/>
              <a:buChar char="Ø"/>
            </a:pPr>
            <a:r>
              <a:rPr lang="en-US" b="1" dirty="0">
                <a:solidFill>
                  <a:srgbClr val="660874"/>
                </a:solidFill>
              </a:rPr>
              <a:t>Multimodal work: </a:t>
            </a:r>
            <a:r>
              <a:rPr lang="en-US" dirty="0">
                <a:solidFill>
                  <a:srgbClr val="660874"/>
                </a:solidFill>
              </a:rPr>
              <a:t>“One Transformer Fits All Distributions in Multi-Modal Diffusion at Scale”</a:t>
            </a:r>
          </a:p>
          <a:p>
            <a:pPr marL="285750" indent="-285750">
              <a:lnSpc>
                <a:spcPct val="200000"/>
              </a:lnSpc>
              <a:buFont typeface="Wingdings" panose="05000000000000000000" pitchFamily="2" charset="2"/>
              <a:buChar char="Ø"/>
            </a:pPr>
            <a:endParaRPr lang="en-US" sz="1600" dirty="0">
              <a:solidFill>
                <a:srgbClr val="660874"/>
              </a:solidFill>
            </a:endParaRPr>
          </a:p>
          <a:p>
            <a:endParaRPr lang="en-US" dirty="0">
              <a:solidFill>
                <a:srgbClr val="660874"/>
              </a:solidFill>
            </a:endParaRPr>
          </a:p>
          <a:p>
            <a:pPr marL="285750" indent="-285750">
              <a:lnSpc>
                <a:spcPct val="200000"/>
              </a:lnSpc>
              <a:buFont typeface="Wingdings" panose="05000000000000000000" pitchFamily="2" charset="2"/>
              <a:buChar char="Ø"/>
            </a:pPr>
            <a:endParaRPr lang="en-US" b="1" dirty="0">
              <a:solidFill>
                <a:srgbClr val="660874"/>
              </a:solidFill>
            </a:endParaRPr>
          </a:p>
          <a:p>
            <a:pPr marL="285750" indent="-285750">
              <a:lnSpc>
                <a:spcPct val="200000"/>
              </a:lnSpc>
              <a:buFont typeface="Wingdings" panose="05000000000000000000" pitchFamily="2" charset="2"/>
              <a:buChar char="Ø"/>
            </a:pPr>
            <a:endParaRPr lang="en-US" b="1" dirty="0">
              <a:solidFill>
                <a:srgbClr val="660874"/>
              </a:solidFill>
            </a:endParaRPr>
          </a:p>
          <a:p>
            <a:pPr marL="285750" indent="-285750">
              <a:lnSpc>
                <a:spcPct val="200000"/>
              </a:lnSpc>
              <a:buFont typeface="Wingdings" panose="05000000000000000000" pitchFamily="2" charset="2"/>
              <a:buChar char="Ø"/>
            </a:pPr>
            <a:endParaRPr lang="en-US" b="1" dirty="0">
              <a:solidFill>
                <a:srgbClr val="660874"/>
              </a:solidFill>
            </a:endParaRPr>
          </a:p>
          <a:p>
            <a:pPr marL="285750" indent="-285750">
              <a:lnSpc>
                <a:spcPct val="200000"/>
              </a:lnSpc>
              <a:buFont typeface="Wingdings" panose="05000000000000000000" pitchFamily="2" charset="2"/>
              <a:buChar char="Ø"/>
            </a:pPr>
            <a:endParaRPr lang="en-US" b="1" dirty="0">
              <a:solidFill>
                <a:srgbClr val="660874"/>
              </a:solidFill>
            </a:endParaRPr>
          </a:p>
          <a:p>
            <a:pPr marL="285750" indent="-285750">
              <a:lnSpc>
                <a:spcPct val="200000"/>
              </a:lnSpc>
              <a:buFont typeface="Wingdings" panose="05000000000000000000" pitchFamily="2" charset="2"/>
              <a:buChar char="Ø"/>
            </a:pPr>
            <a:endParaRPr lang="en-US" b="1" dirty="0">
              <a:solidFill>
                <a:srgbClr val="660874"/>
              </a:solidFill>
            </a:endParaRPr>
          </a:p>
        </p:txBody>
      </p:sp>
    </p:spTree>
    <p:extLst>
      <p:ext uri="{BB962C8B-B14F-4D97-AF65-F5344CB8AC3E}">
        <p14:creationId xmlns:p14="http://schemas.microsoft.com/office/powerpoint/2010/main" val="4845953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AFB07EF-2FD5-8BAB-6E35-283B1D1F6597}"/>
              </a:ext>
            </a:extLst>
          </p:cNvPr>
          <p:cNvPicPr>
            <a:picLocks noChangeAspect="1"/>
          </p:cNvPicPr>
          <p:nvPr/>
        </p:nvPicPr>
        <p:blipFill>
          <a:blip r:embed="rId2"/>
          <a:stretch>
            <a:fillRect/>
          </a:stretch>
        </p:blipFill>
        <p:spPr>
          <a:xfrm>
            <a:off x="838540" y="2271156"/>
            <a:ext cx="10378101" cy="2050684"/>
          </a:xfrm>
          <a:prstGeom prst="rect">
            <a:avLst/>
          </a:prstGeom>
        </p:spPr>
      </p:pic>
      <p:sp>
        <p:nvSpPr>
          <p:cNvPr id="5" name="Title 1">
            <a:extLst>
              <a:ext uri="{FF2B5EF4-FFF2-40B4-BE49-F238E27FC236}">
                <a16:creationId xmlns:a16="http://schemas.microsoft.com/office/drawing/2014/main" id="{160AE369-7B4C-7E31-1D67-1785DEAF4CF9}"/>
              </a:ext>
            </a:extLst>
          </p:cNvPr>
          <p:cNvSpPr txBox="1">
            <a:spLocks/>
          </p:cNvSpPr>
          <p:nvPr/>
        </p:nvSpPr>
        <p:spPr>
          <a:xfrm>
            <a:off x="1423851" y="2977206"/>
            <a:ext cx="10515600" cy="1097280"/>
          </a:xfrm>
          <a:prstGeom prst="rect">
            <a:avLst/>
          </a:prstGeom>
          <a:noFill/>
          <a:effectLst/>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4000" b="1">
                <a:solidFill>
                  <a:srgbClr val="660874"/>
                </a:solidFill>
              </a:rPr>
              <a:t>Thank you for your attention!</a:t>
            </a:r>
            <a:br>
              <a:rPr lang="zh-CN" altLang="en-US" sz="4000" b="1">
                <a:solidFill>
                  <a:schemeClr val="bg1"/>
                </a:solidFill>
                <a:latin typeface="等线" panose="020F0502020204030204"/>
                <a:ea typeface="等线" panose="02010600030101010101" pitchFamily="2" charset="-122"/>
              </a:rPr>
            </a:br>
            <a:endParaRPr lang="zh-CN" altLang="en-US" sz="4000" b="1" dirty="0">
              <a:solidFill>
                <a:schemeClr val="bg1"/>
              </a:solidFill>
            </a:endParaRPr>
          </a:p>
        </p:txBody>
      </p:sp>
    </p:spTree>
    <p:extLst>
      <p:ext uri="{BB962C8B-B14F-4D97-AF65-F5344CB8AC3E}">
        <p14:creationId xmlns:p14="http://schemas.microsoft.com/office/powerpoint/2010/main" val="22800825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1091</TotalTime>
  <Words>1529</Words>
  <Application>Microsoft Office PowerPoint</Application>
  <PresentationFormat>Widescreen</PresentationFormat>
  <Paragraphs>172</Paragraphs>
  <Slides>16</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DengXian</vt:lpstr>
      <vt:lpstr>Menlo</vt:lpstr>
      <vt:lpstr>Arial</vt:lpstr>
      <vt:lpstr>Calibri</vt:lpstr>
      <vt:lpstr>Calibri Light</vt:lpstr>
      <vt:lpstr>Cambria Math</vt:lpstr>
      <vt:lpstr>Wingdings</vt:lpstr>
      <vt:lpstr>Office Theme</vt:lpstr>
      <vt:lpstr>PowerPoint Presentation</vt:lpstr>
      <vt:lpstr>Overview</vt:lpstr>
      <vt:lpstr>Smooth Diffusion (Guo et. al 2023)</vt:lpstr>
      <vt:lpstr>Smooth Diffusion (Guo et. al 2023)</vt:lpstr>
      <vt:lpstr>Smooth Diffusion (Guo et. al 2023)</vt:lpstr>
      <vt:lpstr>Smooth Diffusion (Guo et. al 2023)</vt:lpstr>
      <vt:lpstr>Smooth Diffusion (Guo et. al 2023)</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Xiuling GUAN</dc:creator>
  <cp:lastModifiedBy>Xiuling GUAN</cp:lastModifiedBy>
  <cp:revision>17</cp:revision>
  <dcterms:created xsi:type="dcterms:W3CDTF">2025-10-16T23:48:26Z</dcterms:created>
  <dcterms:modified xsi:type="dcterms:W3CDTF">2025-10-17T18:00:02Z</dcterms:modified>
</cp:coreProperties>
</file>